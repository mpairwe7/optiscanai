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30279975" cy="42806938"/>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
          <p:cNvSpPr/>
          <p:nvPr/>
        </p:nvSpPr>
        <p:spPr>
          <a:xfrm>
            <a:off x="0" y="0"/>
            <a:ext cx="6858000" cy="9144000"/>
          </a:xfrm>
          <a:prstGeom prst="rect">
            <a:avLst/>
          </a:prstGeom>
          <a:solidFill>
            <a:srgbClr val="ffffff"/>
          </a:solidFill>
          <a:ln w="0">
            <a:noFill/>
          </a:ln>
        </p:spPr>
      </p:sp>
      <p:sp>
        <p:nvSpPr>
          <p:cNvPr id="42"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a:tabLst>
                <a:tab algn="l" pos="0"/>
                <a:tab algn="l" pos="4175280"/>
                <a:tab algn="l" pos="8350200"/>
              </a:tabLst>
            </a:pPr>
            <a:endParaRPr b="0" lang="en-US" sz="1200" spc="-1" strike="noStrike">
              <a:solidFill>
                <a:srgbClr val="000000"/>
              </a:solidFill>
              <a:latin typeface="Arial"/>
            </a:endParaRPr>
          </a:p>
        </p:txBody>
      </p:sp>
      <p:sp>
        <p:nvSpPr>
          <p:cNvPr id="43" name="PlaceHolder 2"/>
          <p:cNvSpPr>
            <a:spLocks noGrp="1"/>
          </p:cNvSpPr>
          <p:nvPr>
            <p:ph type="dt" idx="4"/>
          </p:nvPr>
        </p:nvSpPr>
        <p:spPr>
          <a:xfrm>
            <a:off x="3884400" y="0"/>
            <a:ext cx="2971800" cy="457200"/>
          </a:xfrm>
          <a:prstGeom prst="rect">
            <a:avLst/>
          </a:prstGeom>
          <a:noFill/>
          <a:ln w="0">
            <a:noFill/>
          </a:ln>
        </p:spPr>
        <p:txBody>
          <a:bodyPr lIns="90000" rIns="90000" tIns="46800" bIns="46800" anchor="t">
            <a:noAutofit/>
          </a:bodyPr>
          <a:lstStyle>
            <a:lvl1pPr algn="r">
              <a:lnSpc>
                <a:spcPct val="100000"/>
              </a:lnSpc>
              <a:tabLst>
                <a:tab algn="l" pos="0"/>
                <a:tab algn="l" pos="4175280"/>
                <a:tab algn="l" pos="8350200"/>
              </a:tabLst>
              <a:defRPr b="0" lang="en-US" sz="1200" spc="-1" strike="noStrike">
                <a:solidFill>
                  <a:srgbClr val="000000"/>
                </a:solidFill>
                <a:latin typeface="Calibri"/>
              </a:defRPr>
            </a:lvl1pPr>
          </a:lstStyle>
          <a:p>
            <a:pPr algn="r">
              <a:lnSpc>
                <a:spcPct val="100000"/>
              </a:lnSpc>
              <a:tabLst>
                <a:tab algn="l" pos="0"/>
                <a:tab algn="l" pos="4175280"/>
                <a:tab algn="l" pos="8350200"/>
              </a:tabLst>
            </a:pPr>
            <a:r>
              <a:rPr b="0" lang="en-US" sz="1200" spc="-1" strike="noStrike">
                <a:solidFill>
                  <a:srgbClr val="000000"/>
                </a:solidFill>
                <a:latin typeface="Calibri"/>
              </a:rPr>
              <a:t>&lt;date/time&gt;</a:t>
            </a:r>
            <a:endParaRPr b="0" lang="en-US" sz="1200" spc="-1" strike="noStrike">
              <a:solidFill>
                <a:srgbClr val="000000"/>
              </a:solidFill>
              <a:latin typeface="Arial"/>
            </a:endParaRPr>
          </a:p>
        </p:txBody>
      </p:sp>
      <p:sp>
        <p:nvSpPr>
          <p:cNvPr id="44" name="PlaceHolder 3"/>
          <p:cNvSpPr>
            <a:spLocks noGrp="1"/>
          </p:cNvSpPr>
          <p:nvPr>
            <p:ph type="sldImg"/>
          </p:nvPr>
        </p:nvSpPr>
        <p:spPr>
          <a:xfrm>
            <a:off x="2216160" y="685440"/>
            <a:ext cx="2425680" cy="3429000"/>
          </a:xfrm>
          <a:prstGeom prst="rect">
            <a:avLst/>
          </a:prstGeom>
          <a:noFill/>
          <a:ln w="12600">
            <a:solidFill>
              <a:srgbClr val="000000"/>
            </a:solidFill>
            <a:miter/>
          </a:ln>
        </p:spPr>
        <p:txBody>
          <a:bodyPr lIns="90000" rIns="90000" tIns="46800" bIns="46800" anchor="ctr">
            <a:noAutofit/>
          </a:bodyPr>
          <a:p>
            <a:pPr algn="ctr">
              <a:buNone/>
              <a:tabLst>
                <a:tab algn="l" pos="0"/>
                <a:tab algn="l" pos="4175280"/>
                <a:tab algn="l" pos="8350200"/>
              </a:tabLst>
            </a:pPr>
            <a:r>
              <a:rPr b="0" lang="en-US" sz="20100" spc="-1" strike="noStrike">
                <a:solidFill>
                  <a:srgbClr val="000000"/>
                </a:solidFill>
                <a:latin typeface="Calibri"/>
              </a:rPr>
              <a:t>Click to move the slide</a:t>
            </a:r>
            <a:endParaRPr b="0" lang="en-US" sz="20100" spc="-1" strike="noStrike">
              <a:solidFill>
                <a:srgbClr val="000000"/>
              </a:solidFill>
              <a:latin typeface="Calibri"/>
            </a:endParaRPr>
          </a:p>
        </p:txBody>
      </p:sp>
      <p:sp>
        <p:nvSpPr>
          <p:cNvPr id="45"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46" name="PlaceHolder 5"/>
          <p:cNvSpPr>
            <a:spLocks noGrp="1"/>
          </p:cNvSpPr>
          <p:nvPr>
            <p:ph type="ftr" idx="5"/>
          </p:nvPr>
        </p:nvSpPr>
        <p:spPr>
          <a:xfrm>
            <a:off x="-360" y="8685360"/>
            <a:ext cx="2971800" cy="457200"/>
          </a:xfrm>
          <a:prstGeom prst="rect">
            <a:avLst/>
          </a:prstGeom>
          <a:noFill/>
          <a:ln w="0">
            <a:noFill/>
          </a:ln>
        </p:spPr>
        <p:txBody>
          <a:bodyPr lIns="90000" rIns="90000" tIns="46800" bIns="46800" anchor="b">
            <a:noAutofit/>
          </a:bodyPr>
          <a:lstStyle>
            <a:lvl1pPr>
              <a:tabLst>
                <a:tab algn="l" pos="0"/>
                <a:tab algn="l" pos="4175280"/>
                <a:tab algn="l" pos="8350200"/>
              </a:tabLst>
              <a:defRPr b="0" lang="en-US" sz="1200" spc="-1" strike="noStrike">
                <a:solidFill>
                  <a:srgbClr val="000000"/>
                </a:solidFill>
                <a:latin typeface="Calibri"/>
              </a:defRPr>
            </a:lvl1pPr>
          </a:lstStyle>
          <a:p>
            <a:pPr>
              <a:tabLst>
                <a:tab algn="l" pos="0"/>
                <a:tab algn="l" pos="4175280"/>
                <a:tab algn="l" pos="8350200"/>
              </a:tabLst>
            </a:pPr>
            <a:endParaRPr b="0" lang="en-US" sz="1200" spc="-1" strike="noStrike">
              <a:solidFill>
                <a:srgbClr val="000000"/>
              </a:solidFill>
              <a:latin typeface="Arial"/>
            </a:endParaRPr>
          </a:p>
        </p:txBody>
      </p:sp>
      <p:sp>
        <p:nvSpPr>
          <p:cNvPr id="47" name="PlaceHolder 6"/>
          <p:cNvSpPr>
            <a:spLocks noGrp="1"/>
          </p:cNvSpPr>
          <p:nvPr>
            <p:ph type="sldNum" idx="6"/>
          </p:nvPr>
        </p:nvSpPr>
        <p:spPr>
          <a:xfrm>
            <a:off x="3884400" y="8685360"/>
            <a:ext cx="2971800" cy="457200"/>
          </a:xfrm>
          <a:prstGeom prst="rect">
            <a:avLst/>
          </a:prstGeom>
          <a:noFill/>
          <a:ln w="0">
            <a:noFill/>
          </a:ln>
        </p:spPr>
        <p:txBody>
          <a:bodyPr lIns="90000" rIns="90000" tIns="46800" bIns="46800" anchor="b">
            <a:noAutofit/>
          </a:bodyPr>
          <a:lstStyle>
            <a:lvl1pPr algn="r">
              <a:lnSpc>
                <a:spcPct val="100000"/>
              </a:lnSpc>
              <a:tabLst>
                <a:tab algn="l" pos="0"/>
                <a:tab algn="l" pos="4175280"/>
                <a:tab algn="l" pos="8350200"/>
              </a:tabLst>
              <a:defRPr b="0" lang="en-US" sz="1200" spc="-1" strike="noStrike">
                <a:solidFill>
                  <a:srgbClr val="000000"/>
                </a:solidFill>
                <a:latin typeface="Calibri"/>
              </a:defRPr>
            </a:lvl1pPr>
          </a:lstStyle>
          <a:p>
            <a:pPr algn="r">
              <a:lnSpc>
                <a:spcPct val="100000"/>
              </a:lnSpc>
              <a:tabLst>
                <a:tab algn="l" pos="0"/>
                <a:tab algn="l" pos="4175280"/>
                <a:tab algn="l" pos="8350200"/>
              </a:tabLst>
            </a:pPr>
            <a:fld id="{B81B5D6E-6A2B-4093-A25F-10A07699F4B8}" type="slidenum">
              <a:rPr b="0" lang="en-US" sz="1200" spc="-1" strike="noStrike">
                <a:solidFill>
                  <a:srgbClr val="000000"/>
                </a:solidFill>
                <a:latin typeface="Calibri"/>
              </a:rPr>
              <a:t>&lt;number&gt;</a:t>
            </a:fld>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2216160" y="685800"/>
            <a:ext cx="2425680" cy="3429000"/>
          </a:xfrm>
          <a:prstGeom prst="rect">
            <a:avLst/>
          </a:prstGeom>
          <a:ln w="0">
            <a:noFill/>
          </a:ln>
        </p:spPr>
      </p:sp>
      <p:sp>
        <p:nvSpPr>
          <p:cNvPr id="8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endParaRPr b="0" lang="en-US" sz="1200" spc="-1" strike="noStrike">
              <a:solidFill>
                <a:srgbClr val="000000"/>
              </a:solidFill>
              <a:latin typeface="Calibri"/>
            </a:endParaRPr>
          </a:p>
        </p:txBody>
      </p:sp>
      <p:sp>
        <p:nvSpPr>
          <p:cNvPr id="86" name="Slide Number Placeholder 3"/>
          <p:cNvSpPr/>
          <p:nvPr/>
        </p:nvSpPr>
        <p:spPr>
          <a:xfrm>
            <a:off x="3884760" y="8685360"/>
            <a:ext cx="2971800" cy="4572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4175280"/>
                <a:tab algn="l" pos="8350200"/>
              </a:tabLst>
            </a:pPr>
            <a:fld id="{6556B916-5E70-4EFA-9B05-77574634BA4F}" type="slidenum">
              <a:rPr b="0" lang="en-US" sz="1200" spc="-1" strike="noStrike">
                <a:solidFill>
                  <a:srgbClr val="000000"/>
                </a:solidFill>
                <a:latin typeface="Calibri"/>
              </a:rPr>
              <a:t>&lt;number&gt;</a:t>
            </a:fld>
            <a:endParaRPr b="0" lang="en-US" sz="1200" spc="-1" strike="noStrike">
              <a:solidFill>
                <a:srgbClr val="000000"/>
              </a:solidFill>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E9A94F4-F139-4FAC-AA21-F7A3134E95A5}"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6" name="PlaceHolder 2"/>
          <p:cNvSpPr>
            <a:spLocks noGrp="1"/>
          </p:cNvSpPr>
          <p:nvPr>
            <p:ph type="subTitle"/>
          </p:nvPr>
        </p:nvSpPr>
        <p:spPr>
          <a:xfrm>
            <a:off x="1514160" y="9988200"/>
            <a:ext cx="27250920" cy="28251000"/>
          </a:xfrm>
          <a:prstGeom prst="rect">
            <a:avLst/>
          </a:prstGeom>
          <a:noFill/>
          <a:ln w="0">
            <a:noFill/>
          </a:ln>
        </p:spPr>
        <p:txBody>
          <a:bodyPr lIns="0" rIns="0" tIns="0" bIns="0" anchor="ctr">
            <a:noAutofit/>
          </a:bodyPr>
          <a:p>
            <a:pPr algn="ctr">
              <a:spcBef>
                <a:spcPts val="3651"/>
              </a:spcBef>
              <a:buNone/>
              <a:tabLst>
                <a:tab algn="l" pos="0"/>
                <a:tab algn="l" pos="4175280"/>
                <a:tab algn="l" pos="8350200"/>
              </a:tabLst>
            </a:pPr>
            <a:endParaRPr b="0" lang="en-US" sz="146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3CC4DC0-933B-4115-B4FF-46446AB88BE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8" name="PlaceHolder 2"/>
          <p:cNvSpPr>
            <a:spLocks noGrp="1"/>
          </p:cNvSpPr>
          <p:nvPr>
            <p:ph/>
          </p:nvPr>
        </p:nvSpPr>
        <p:spPr>
          <a:xfrm>
            <a:off x="1514160" y="9988200"/>
            <a:ext cx="27250920" cy="2825100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C2FBCDB-DA10-44F5-AA0E-72D66B756C5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10" name="PlaceHolder 2"/>
          <p:cNvSpPr>
            <a:spLocks noGrp="1"/>
          </p:cNvSpPr>
          <p:nvPr>
            <p:ph/>
          </p:nvPr>
        </p:nvSpPr>
        <p:spPr>
          <a:xfrm>
            <a:off x="1514160" y="9988200"/>
            <a:ext cx="13298400" cy="2825100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11" name="PlaceHolder 3"/>
          <p:cNvSpPr>
            <a:spLocks noGrp="1"/>
          </p:cNvSpPr>
          <p:nvPr>
            <p:ph/>
          </p:nvPr>
        </p:nvSpPr>
        <p:spPr>
          <a:xfrm>
            <a:off x="15477840" y="9988200"/>
            <a:ext cx="13298400" cy="2825100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4330E9E-1170-4E73-A6E4-9FE44EB68478}"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27AED82-271E-4C61-97B0-C20FCF4117D6}"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14160" y="1714320"/>
            <a:ext cx="27250920" cy="33070680"/>
          </a:xfrm>
          <a:prstGeom prst="rect">
            <a:avLst/>
          </a:prstGeom>
          <a:noFill/>
          <a:ln w="0">
            <a:noFill/>
          </a:ln>
        </p:spPr>
        <p:txBody>
          <a:bodyPr lIns="0" rIns="0" tIns="0" bIns="0" anchor="ctr">
            <a:noAutofit/>
          </a:bodyPr>
          <a:p>
            <a:pPr algn="ctr">
              <a:spcBef>
                <a:spcPts val="3651"/>
              </a:spcBef>
              <a:buNone/>
              <a:tabLst>
                <a:tab algn="l" pos="0"/>
                <a:tab algn="l" pos="4175280"/>
                <a:tab algn="l" pos="8350200"/>
              </a:tabLst>
            </a:pPr>
            <a:endParaRPr b="0" lang="en-US" sz="146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2AFB4DB-8F05-4918-86E8-C8D82F475054}"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15" name="PlaceHolder 2"/>
          <p:cNvSpPr>
            <a:spLocks noGrp="1"/>
          </p:cNvSpPr>
          <p:nvPr>
            <p:ph/>
          </p:nvPr>
        </p:nvSpPr>
        <p:spPr>
          <a:xfrm>
            <a:off x="151416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16" name="PlaceHolder 3"/>
          <p:cNvSpPr>
            <a:spLocks noGrp="1"/>
          </p:cNvSpPr>
          <p:nvPr>
            <p:ph/>
          </p:nvPr>
        </p:nvSpPr>
        <p:spPr>
          <a:xfrm>
            <a:off x="15477840" y="9988200"/>
            <a:ext cx="13298400" cy="2825100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17" name="PlaceHolder 4"/>
          <p:cNvSpPr>
            <a:spLocks noGrp="1"/>
          </p:cNvSpPr>
          <p:nvPr>
            <p:ph/>
          </p:nvPr>
        </p:nvSpPr>
        <p:spPr>
          <a:xfrm>
            <a:off x="1514160" y="2474424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1478036-92CA-427C-9579-3E6642412DC1}"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19" name="PlaceHolder 2"/>
          <p:cNvSpPr>
            <a:spLocks noGrp="1"/>
          </p:cNvSpPr>
          <p:nvPr>
            <p:ph/>
          </p:nvPr>
        </p:nvSpPr>
        <p:spPr>
          <a:xfrm>
            <a:off x="1514160" y="9988200"/>
            <a:ext cx="13298400" cy="2825100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20" name="PlaceHolder 3"/>
          <p:cNvSpPr>
            <a:spLocks noGrp="1"/>
          </p:cNvSpPr>
          <p:nvPr>
            <p:ph/>
          </p:nvPr>
        </p:nvSpPr>
        <p:spPr>
          <a:xfrm>
            <a:off x="1547784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21" name="PlaceHolder 4"/>
          <p:cNvSpPr>
            <a:spLocks noGrp="1"/>
          </p:cNvSpPr>
          <p:nvPr>
            <p:ph/>
          </p:nvPr>
        </p:nvSpPr>
        <p:spPr>
          <a:xfrm>
            <a:off x="15477840" y="2474424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8B83436-9B99-4B05-92C9-15F1FEDDFC03}"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23" name="PlaceHolder 2"/>
          <p:cNvSpPr>
            <a:spLocks noGrp="1"/>
          </p:cNvSpPr>
          <p:nvPr>
            <p:ph/>
          </p:nvPr>
        </p:nvSpPr>
        <p:spPr>
          <a:xfrm>
            <a:off x="151416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24" name="PlaceHolder 3"/>
          <p:cNvSpPr>
            <a:spLocks noGrp="1"/>
          </p:cNvSpPr>
          <p:nvPr>
            <p:ph/>
          </p:nvPr>
        </p:nvSpPr>
        <p:spPr>
          <a:xfrm>
            <a:off x="1547784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25" name="PlaceHolder 4"/>
          <p:cNvSpPr>
            <a:spLocks noGrp="1"/>
          </p:cNvSpPr>
          <p:nvPr>
            <p:ph/>
          </p:nvPr>
        </p:nvSpPr>
        <p:spPr>
          <a:xfrm>
            <a:off x="1514160" y="24744240"/>
            <a:ext cx="2725092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8B59951-9E1C-43A7-8B08-E53323C39673}"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27" name="PlaceHolder 2"/>
          <p:cNvSpPr>
            <a:spLocks noGrp="1"/>
          </p:cNvSpPr>
          <p:nvPr>
            <p:ph/>
          </p:nvPr>
        </p:nvSpPr>
        <p:spPr>
          <a:xfrm>
            <a:off x="1514160" y="9988200"/>
            <a:ext cx="2725092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28" name="PlaceHolder 3"/>
          <p:cNvSpPr>
            <a:spLocks noGrp="1"/>
          </p:cNvSpPr>
          <p:nvPr>
            <p:ph/>
          </p:nvPr>
        </p:nvSpPr>
        <p:spPr>
          <a:xfrm>
            <a:off x="1514160" y="24744240"/>
            <a:ext cx="2725092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C007AD25-B645-4F3D-BBFE-F1EC1417DA1A}"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30" name="PlaceHolder 2"/>
          <p:cNvSpPr>
            <a:spLocks noGrp="1"/>
          </p:cNvSpPr>
          <p:nvPr>
            <p:ph/>
          </p:nvPr>
        </p:nvSpPr>
        <p:spPr>
          <a:xfrm>
            <a:off x="151416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1" name="PlaceHolder 3"/>
          <p:cNvSpPr>
            <a:spLocks noGrp="1"/>
          </p:cNvSpPr>
          <p:nvPr>
            <p:ph/>
          </p:nvPr>
        </p:nvSpPr>
        <p:spPr>
          <a:xfrm>
            <a:off x="15477840" y="998820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2" name="PlaceHolder 4"/>
          <p:cNvSpPr>
            <a:spLocks noGrp="1"/>
          </p:cNvSpPr>
          <p:nvPr>
            <p:ph/>
          </p:nvPr>
        </p:nvSpPr>
        <p:spPr>
          <a:xfrm>
            <a:off x="1514160" y="2474424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3" name="PlaceHolder 5"/>
          <p:cNvSpPr>
            <a:spLocks noGrp="1"/>
          </p:cNvSpPr>
          <p:nvPr>
            <p:ph/>
          </p:nvPr>
        </p:nvSpPr>
        <p:spPr>
          <a:xfrm>
            <a:off x="15477840" y="24744240"/>
            <a:ext cx="1329840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C096DDA9-1ACD-4D43-A3E4-E3CF0EFD0043}"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endParaRPr b="0" lang="en-US" sz="20100" spc="-1" strike="noStrike">
              <a:solidFill>
                <a:srgbClr val="000000"/>
              </a:solidFill>
              <a:latin typeface="Calibri"/>
            </a:endParaRPr>
          </a:p>
        </p:txBody>
      </p:sp>
      <p:sp>
        <p:nvSpPr>
          <p:cNvPr id="35" name="PlaceHolder 2"/>
          <p:cNvSpPr>
            <a:spLocks noGrp="1"/>
          </p:cNvSpPr>
          <p:nvPr>
            <p:ph/>
          </p:nvPr>
        </p:nvSpPr>
        <p:spPr>
          <a:xfrm>
            <a:off x="1514160" y="998820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6" name="PlaceHolder 3"/>
          <p:cNvSpPr>
            <a:spLocks noGrp="1"/>
          </p:cNvSpPr>
          <p:nvPr>
            <p:ph/>
          </p:nvPr>
        </p:nvSpPr>
        <p:spPr>
          <a:xfrm>
            <a:off x="10728000" y="998820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7" name="PlaceHolder 4"/>
          <p:cNvSpPr>
            <a:spLocks noGrp="1"/>
          </p:cNvSpPr>
          <p:nvPr>
            <p:ph/>
          </p:nvPr>
        </p:nvSpPr>
        <p:spPr>
          <a:xfrm>
            <a:off x="19941840" y="998820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8" name="PlaceHolder 5"/>
          <p:cNvSpPr>
            <a:spLocks noGrp="1"/>
          </p:cNvSpPr>
          <p:nvPr>
            <p:ph/>
          </p:nvPr>
        </p:nvSpPr>
        <p:spPr>
          <a:xfrm>
            <a:off x="1514160" y="2474424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39" name="PlaceHolder 6"/>
          <p:cNvSpPr>
            <a:spLocks noGrp="1"/>
          </p:cNvSpPr>
          <p:nvPr>
            <p:ph/>
          </p:nvPr>
        </p:nvSpPr>
        <p:spPr>
          <a:xfrm>
            <a:off x="10728000" y="2474424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40" name="PlaceHolder 7"/>
          <p:cNvSpPr>
            <a:spLocks noGrp="1"/>
          </p:cNvSpPr>
          <p:nvPr>
            <p:ph/>
          </p:nvPr>
        </p:nvSpPr>
        <p:spPr>
          <a:xfrm>
            <a:off x="19941840" y="24744240"/>
            <a:ext cx="8774640" cy="13475520"/>
          </a:xfrm>
          <a:prstGeom prst="rect">
            <a:avLst/>
          </a:prstGeom>
          <a:noFill/>
          <a:ln w="0">
            <a:noFill/>
          </a:ln>
        </p:spPr>
        <p:txBody>
          <a:bodyPr lIns="417600" rIns="417600" tIns="208800" bIns="208800" anchor="t">
            <a:normAutofit/>
          </a:bodyPr>
          <a:p>
            <a:endParaRPr b="0" lang="en-US" sz="146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1767D666-0B62-4C21-A308-B6552D762328}"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14160" y="1714320"/>
            <a:ext cx="27250920" cy="7134120"/>
          </a:xfrm>
          <a:prstGeom prst="rect">
            <a:avLst/>
          </a:prstGeom>
          <a:noFill/>
          <a:ln w="0">
            <a:noFill/>
          </a:ln>
        </p:spPr>
        <p:txBody>
          <a:bodyPr lIns="417600" rIns="417600" tIns="208800" bIns="208800" anchor="ctr">
            <a:noAutofit/>
          </a:bodyPr>
          <a:p>
            <a:pPr algn="ctr">
              <a:buNone/>
              <a:tabLst>
                <a:tab algn="l" pos="0"/>
                <a:tab algn="l" pos="4175280"/>
                <a:tab algn="l" pos="8350200"/>
              </a:tabLst>
            </a:pPr>
            <a:r>
              <a:rPr b="0" lang="en-US" sz="20100" spc="-1" strike="noStrike">
                <a:solidFill>
                  <a:srgbClr val="000000"/>
                </a:solidFill>
                <a:latin typeface="Calibri"/>
              </a:rPr>
              <a:t>Click to edit the title text format</a:t>
            </a:r>
            <a:endParaRPr b="0" lang="en-US" sz="20100" spc="-1" strike="noStrike">
              <a:solidFill>
                <a:srgbClr val="000000"/>
              </a:solidFill>
              <a:latin typeface="Calibri"/>
            </a:endParaRPr>
          </a:p>
        </p:txBody>
      </p:sp>
      <p:sp>
        <p:nvSpPr>
          <p:cNvPr id="1" name="PlaceHolder 2"/>
          <p:cNvSpPr>
            <a:spLocks noGrp="1"/>
          </p:cNvSpPr>
          <p:nvPr>
            <p:ph type="body"/>
          </p:nvPr>
        </p:nvSpPr>
        <p:spPr>
          <a:xfrm>
            <a:off x="1514160" y="9988200"/>
            <a:ext cx="27250920" cy="28251000"/>
          </a:xfrm>
          <a:prstGeom prst="rect">
            <a:avLst/>
          </a:prstGeom>
          <a:noFill/>
          <a:ln w="0">
            <a:noFill/>
          </a:ln>
        </p:spPr>
        <p:txBody>
          <a:bodyPr lIns="417600" rIns="417600" tIns="208800" bIns="208800" anchor="t">
            <a:normAutofit/>
          </a:bodyPr>
          <a:p>
            <a:pPr marL="1565280" indent="-156528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Click to edit the outline text format</a:t>
            </a:r>
            <a:endParaRPr b="0" lang="en-US" sz="14600" spc="-1" strike="noStrike">
              <a:solidFill>
                <a:srgbClr val="000000"/>
              </a:solidFill>
              <a:latin typeface="Calibri"/>
            </a:endParaRPr>
          </a:p>
          <a:p>
            <a:pPr lvl="1" marL="3392640" indent="-130500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Second Outline Level</a:t>
            </a:r>
            <a:endParaRPr b="0" lang="en-US" sz="14600" spc="-1" strike="noStrike">
              <a:solidFill>
                <a:srgbClr val="000000"/>
              </a:solidFill>
              <a:latin typeface="Calibri"/>
            </a:endParaRPr>
          </a:p>
          <a:p>
            <a:pPr lvl="2" marL="5219640" indent="-104292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Third Outline Level</a:t>
            </a:r>
            <a:endParaRPr b="0" lang="en-US" sz="14600" spc="-1" strike="noStrike">
              <a:solidFill>
                <a:srgbClr val="000000"/>
              </a:solidFill>
              <a:latin typeface="Calibri"/>
            </a:endParaRPr>
          </a:p>
          <a:p>
            <a:pPr lvl="3" marL="7307280" indent="-104292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Fourth Outline Level</a:t>
            </a:r>
            <a:endParaRPr b="0" lang="en-US" sz="14600" spc="-1" strike="noStrike">
              <a:solidFill>
                <a:srgbClr val="000000"/>
              </a:solidFill>
              <a:latin typeface="Calibri"/>
            </a:endParaRPr>
          </a:p>
          <a:p>
            <a:pPr lvl="4" marL="9396360" indent="-104292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Fifth Outline Level</a:t>
            </a:r>
            <a:endParaRPr b="0" lang="en-US" sz="14600" spc="-1" strike="noStrike">
              <a:solidFill>
                <a:srgbClr val="000000"/>
              </a:solidFill>
              <a:latin typeface="Calibri"/>
            </a:endParaRPr>
          </a:p>
          <a:p>
            <a:pPr lvl="5" marL="9396360" indent="-104292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Sixth Outline Level</a:t>
            </a:r>
            <a:endParaRPr b="0" lang="en-US" sz="14600" spc="-1" strike="noStrike">
              <a:solidFill>
                <a:srgbClr val="000000"/>
              </a:solidFill>
              <a:latin typeface="Calibri"/>
            </a:endParaRPr>
          </a:p>
          <a:p>
            <a:pPr lvl="6" marL="9396360" indent="-1042920">
              <a:spcBef>
                <a:spcPts val="3651"/>
              </a:spcBef>
              <a:buClr>
                <a:srgbClr val="000000"/>
              </a:buClr>
              <a:buFont typeface="Arial"/>
              <a:buChar char="»"/>
              <a:tabLst>
                <a:tab algn="l" pos="4175280"/>
                <a:tab algn="l" pos="8350200"/>
              </a:tabLst>
            </a:pPr>
            <a:r>
              <a:rPr b="0" lang="en-US" sz="14600" spc="-1" strike="noStrike">
                <a:solidFill>
                  <a:srgbClr val="000000"/>
                </a:solidFill>
                <a:latin typeface="Calibri"/>
              </a:rPr>
              <a:t>Seventh Outline Level</a:t>
            </a:r>
            <a:endParaRPr b="0" lang="en-US" sz="14600" spc="-1" strike="noStrike">
              <a:solidFill>
                <a:srgbClr val="000000"/>
              </a:solidFill>
              <a:latin typeface="Calibri"/>
            </a:endParaRPr>
          </a:p>
        </p:txBody>
      </p:sp>
      <p:sp>
        <p:nvSpPr>
          <p:cNvPr id="2" name="PlaceHolder 3"/>
          <p:cNvSpPr>
            <a:spLocks noGrp="1"/>
          </p:cNvSpPr>
          <p:nvPr>
            <p:ph type="dt" idx="1"/>
          </p:nvPr>
        </p:nvSpPr>
        <p:spPr>
          <a:xfrm>
            <a:off x="1514160" y="39675960"/>
            <a:ext cx="7064280" cy="2279880"/>
          </a:xfrm>
          <a:prstGeom prst="rect">
            <a:avLst/>
          </a:prstGeom>
          <a:noFill/>
          <a:ln w="0">
            <a:noFill/>
          </a:ln>
        </p:spPr>
        <p:txBody>
          <a:bodyPr lIns="417600" rIns="417600" tIns="208800" bIns="208800" anchor="ctr">
            <a:noAutofit/>
          </a:bodyPr>
          <a:lstStyle>
            <a:lvl1pPr>
              <a:lnSpc>
                <a:spcPct val="100000"/>
              </a:lnSpc>
              <a:tabLst>
                <a:tab algn="l" pos="0"/>
                <a:tab algn="l" pos="4175280"/>
                <a:tab algn="l" pos="8350200"/>
              </a:tabLst>
              <a:defRPr b="0" lang="hu-HU" sz="5500" spc="-1" strike="noStrike">
                <a:solidFill>
                  <a:srgbClr val="898989"/>
                </a:solidFill>
                <a:latin typeface="Calibri"/>
              </a:defRPr>
            </a:lvl1pPr>
          </a:lstStyle>
          <a:p>
            <a:pPr>
              <a:lnSpc>
                <a:spcPct val="100000"/>
              </a:lnSpc>
              <a:tabLst>
                <a:tab algn="l" pos="0"/>
                <a:tab algn="l" pos="4175280"/>
                <a:tab algn="l" pos="8350200"/>
              </a:tabLst>
            </a:pPr>
            <a:r>
              <a:rPr b="0" lang="hu-HU" sz="5500" spc="-1" strike="noStrike">
                <a:solidFill>
                  <a:srgbClr val="898989"/>
                </a:solidFill>
                <a:latin typeface="Calibri"/>
              </a:rPr>
              <a:t>&lt;date/time&gt;</a:t>
            </a:r>
            <a:endParaRPr b="0" lang="en-US" sz="5500" spc="-1" strike="noStrike">
              <a:solidFill>
                <a:srgbClr val="000000"/>
              </a:solidFill>
              <a:latin typeface="Arial"/>
            </a:endParaRPr>
          </a:p>
        </p:txBody>
      </p:sp>
      <p:sp>
        <p:nvSpPr>
          <p:cNvPr id="3" name="PlaceHolder 4"/>
          <p:cNvSpPr>
            <a:spLocks noGrp="1"/>
          </p:cNvSpPr>
          <p:nvPr>
            <p:ph type="ftr" idx="2"/>
          </p:nvPr>
        </p:nvSpPr>
        <p:spPr>
          <a:xfrm>
            <a:off x="10345320" y="39675960"/>
            <a:ext cx="9588600" cy="2279880"/>
          </a:xfrm>
          <a:prstGeom prst="rect">
            <a:avLst/>
          </a:prstGeom>
          <a:noFill/>
          <a:ln w="0">
            <a:noFill/>
          </a:ln>
        </p:spPr>
        <p:txBody>
          <a:bodyPr lIns="417600" rIns="417600" tIns="208800" bIns="208800" anchor="ctr">
            <a:noAutofit/>
          </a:bodyPr>
          <a:lstStyle>
            <a:lvl1pPr>
              <a:tabLst>
                <a:tab algn="l" pos="0"/>
                <a:tab algn="l" pos="4175280"/>
                <a:tab algn="l" pos="8350200"/>
              </a:tabLst>
              <a:defRPr b="0" lang="hu-HU" sz="5500" spc="-1" strike="noStrike">
                <a:solidFill>
                  <a:srgbClr val="898989"/>
                </a:solidFill>
                <a:latin typeface="Calibri"/>
              </a:defRPr>
            </a:lvl1pPr>
          </a:lstStyle>
          <a:p>
            <a:pPr>
              <a:tabLst>
                <a:tab algn="l" pos="0"/>
                <a:tab algn="l" pos="4175280"/>
                <a:tab algn="l" pos="8350200"/>
              </a:tabLst>
            </a:pPr>
            <a:endParaRPr b="0" lang="en-US" sz="5500" spc="-1" strike="noStrike">
              <a:solidFill>
                <a:srgbClr val="000000"/>
              </a:solidFill>
              <a:latin typeface="Arial"/>
            </a:endParaRPr>
          </a:p>
        </p:txBody>
      </p:sp>
      <p:sp>
        <p:nvSpPr>
          <p:cNvPr id="4" name="PlaceHolder 5"/>
          <p:cNvSpPr>
            <a:spLocks noGrp="1"/>
          </p:cNvSpPr>
          <p:nvPr>
            <p:ph type="sldNum" idx="3"/>
          </p:nvPr>
        </p:nvSpPr>
        <p:spPr>
          <a:xfrm>
            <a:off x="21700800" y="39675960"/>
            <a:ext cx="7064280" cy="2279880"/>
          </a:xfrm>
          <a:prstGeom prst="rect">
            <a:avLst/>
          </a:prstGeom>
          <a:noFill/>
          <a:ln w="0">
            <a:noFill/>
          </a:ln>
        </p:spPr>
        <p:txBody>
          <a:bodyPr lIns="417600" rIns="417600" tIns="208800" bIns="208800" anchor="ctr">
            <a:noAutofit/>
          </a:bodyPr>
          <a:lstStyle>
            <a:lvl1pPr algn="r">
              <a:lnSpc>
                <a:spcPct val="100000"/>
              </a:lnSpc>
              <a:tabLst>
                <a:tab algn="l" pos="0"/>
                <a:tab algn="l" pos="4175280"/>
                <a:tab algn="l" pos="8350200"/>
              </a:tabLst>
              <a:defRPr b="0" lang="hu-HU" sz="5500" spc="-1" strike="noStrike">
                <a:solidFill>
                  <a:srgbClr val="898989"/>
                </a:solidFill>
                <a:latin typeface="Calibri"/>
              </a:defRPr>
            </a:lvl1pPr>
          </a:lstStyle>
          <a:p>
            <a:pPr algn="r">
              <a:lnSpc>
                <a:spcPct val="100000"/>
              </a:lnSpc>
              <a:tabLst>
                <a:tab algn="l" pos="0"/>
                <a:tab algn="l" pos="4175280"/>
                <a:tab algn="l" pos="8350200"/>
              </a:tabLst>
            </a:pPr>
            <a:fld id="{7863329F-9810-481A-A0E7-8FC854DE78A4}" type="slidenum">
              <a:rPr b="0" lang="hu-HU" sz="5500" spc="-1" strike="noStrike">
                <a:solidFill>
                  <a:srgbClr val="898989"/>
                </a:solidFill>
                <a:latin typeface="Calibri"/>
              </a:rPr>
              <a:t>&lt;number&gt;</a:t>
            </a:fld>
            <a:endParaRPr b="0" lang="en-US" sz="55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jpeg"/><Relationship Id="rId8" Type="http://schemas.openxmlformats.org/officeDocument/2006/relationships/image" Target="../media/image8.jpeg"/><Relationship Id="rId9" Type="http://schemas.openxmlformats.org/officeDocument/2006/relationships/image" Target="../media/image9.png"/><Relationship Id="rId10" Type="http://schemas.openxmlformats.org/officeDocument/2006/relationships/image" Target="../media/image10.jpeg"/><Relationship Id="rId11" Type="http://schemas.openxmlformats.org/officeDocument/2006/relationships/slideLayout" Target="../slideLayouts/slideLayout1.xml"/><Relationship Id="rId12" Type="http://schemas.openxmlformats.org/officeDocument/2006/relationships/notesSlide" Target="../notesSlides/notesSlide1.xml"/><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ounded Rectangle 83"/>
          <p:cNvSpPr/>
          <p:nvPr/>
        </p:nvSpPr>
        <p:spPr>
          <a:xfrm>
            <a:off x="164592" y="164592"/>
            <a:ext cx="29946600" cy="42473880"/>
          </a:xfrm>
          <a:prstGeom prst="roundRect">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36" descr=""/>
          <p:cNvPicPr/>
          <p:nvPr/>
        </p:nvPicPr>
        <p:blipFill>
          <a:blip r:embed="rId8"/>
          <a:stretch/>
        </p:blipFill>
        <p:spPr>
          <a:xfrm>
            <a:off x="2035080" y="666720"/>
            <a:ext cx="4197600" cy="3002040"/>
          </a:xfrm>
          <a:prstGeom prst="rect">
            <a:avLst/>
          </a:prstGeom>
          <a:ln w="0">
            <a:noFill/>
          </a:ln>
        </p:spPr>
      </p:pic>
      <p:pic>
        <p:nvPicPr>
          <p:cNvPr id="82" name="Picture 37" descr="C:\Users\emugume\AppData\Local\Microsoft\Windows\INetCache\Content.MSO\1B424346.tmp"/>
          <p:cNvPicPr/>
          <p:nvPr/>
        </p:nvPicPr>
        <p:blipFill>
          <a:blip r:embed="rId9"/>
          <a:stretch/>
        </p:blipFill>
        <p:spPr>
          <a:xfrm>
            <a:off x="23285520" y="851040"/>
            <a:ext cx="6256440" cy="2619360"/>
          </a:xfrm>
          <a:prstGeom prst="rect">
            <a:avLst/>
          </a:prstGeom>
          <a:ln w="0">
            <a:noFill/>
          </a:ln>
        </p:spPr>
      </p:pic>
      <p:pic>
        <p:nvPicPr>
          <p:cNvPr id="83" name="Picture 39" descr="NCC logo"/>
          <p:cNvPicPr/>
          <p:nvPr/>
        </p:nvPicPr>
        <p:blipFill>
          <a:blip r:embed="rId10"/>
          <a:stretch/>
        </p:blipFill>
        <p:spPr>
          <a:xfrm>
            <a:off x="12661920" y="306360"/>
            <a:ext cx="5286240" cy="2967120"/>
          </a:xfrm>
          <a:prstGeom prst="rect">
            <a:avLst/>
          </a:prstGeom>
          <a:ln w="0">
            <a:noFill/>
          </a:ln>
        </p:spPr>
      </p:pic>
      <p:sp>
        <p:nvSpPr>
          <p:cNvPr id="85" name="TextBox 84"/>
          <p:cNvSpPr txBox="1"/>
          <p:nvPr/>
        </p:nvSpPr>
        <p:spPr>
          <a:xfrm>
            <a:off x="1828800" y="3310128"/>
            <a:ext cx="26618184" cy="1371600"/>
          </a:xfrm>
          <a:prstGeom prst="rect">
            <a:avLst/>
          </a:prstGeom>
          <a:noFill/>
        </p:spPr>
        <p:txBody>
          <a:bodyPr wrap="square" tIns="0">
            <a:spAutoFit/>
          </a:bodyPr>
          <a:lstStyle/>
          <a:p>
            <a:pPr algn="ctr">
              <a:defRPr sz="5000" b="1">
                <a:solidFill>
                  <a:srgbClr val="0070C0"/>
                </a:solidFill>
                <a:latin typeface="Calibri"/>
              </a:defRPr>
            </a:pPr>
            <a:r>
              <a:t>National Conference on Communications (NCC)</a:t>
            </a:r>
          </a:p>
          <a:p>
            <a:pPr algn="ctr">
              <a:defRPr sz="4200" b="1">
                <a:solidFill>
                  <a:srgbClr val="0070C0"/>
                </a:solidFill>
                <a:latin typeface="Calibri"/>
              </a:defRPr>
            </a:pPr>
            <a:r>
              <a:t>CEDAT, Makerere University</a:t>
            </a:r>
          </a:p>
        </p:txBody>
      </p:sp>
      <p:sp>
        <p:nvSpPr>
          <p:cNvPr id="86" name="TextBox 85"/>
          <p:cNvSpPr txBox="1"/>
          <p:nvPr/>
        </p:nvSpPr>
        <p:spPr>
          <a:xfrm>
            <a:off x="914400" y="4800600"/>
            <a:ext cx="28446984" cy="2880360"/>
          </a:xfrm>
          <a:prstGeom prst="rect">
            <a:avLst/>
          </a:prstGeom>
          <a:noFill/>
        </p:spPr>
        <p:txBody>
          <a:bodyPr wrap="square" tIns="0">
            <a:spAutoFit/>
          </a:bodyPr>
          <a:lstStyle/>
          <a:p>
            <a:pPr algn="ctr">
              <a:defRPr sz="4800" b="1">
                <a:solidFill>
                  <a:srgbClr val="0070C0"/>
                </a:solidFill>
                <a:latin typeface="Calibri"/>
              </a:defRPr>
            </a:pPr>
            <a:r>
              <a:t>OptiscanAI: Large Vision Models for Multi-Disease Retinal Screening</a:t>
            </a:r>
          </a:p>
          <a:p>
            <a:pPr algn="ctr">
              <a:defRPr sz="3400" b="1">
                <a:solidFill>
                  <a:srgbClr val="0070C0"/>
                </a:solidFill>
                <a:latin typeface="Calibri"/>
              </a:defRPr>
            </a:pPr>
            <a:r>
              <a:t>in Ugandan Healthcare — A Benchmark and Deployment Study (Paper 83)</a:t>
            </a:r>
          </a:p>
          <a:p>
            <a:pPr algn="ctr">
              <a:spcBef>
                <a:spcPts val="800"/>
              </a:spcBef>
              <a:defRPr sz="2800" b="1">
                <a:solidFill>
                  <a:srgbClr val="000000"/>
                </a:solidFill>
                <a:latin typeface="Calibri"/>
              </a:defRPr>
            </a:pPr>
            <a:r>
              <a:t>Lauben Mpairwe¹        Shadia Nankya¹        Rebecca Yapyeko¹        Marvin Ggaliwango²</a:t>
            </a:r>
          </a:p>
          <a:p>
            <a:pPr algn="ctr">
              <a:defRPr sz="1900">
                <a:solidFill>
                  <a:srgbClr val="333333"/>
                </a:solidFill>
                <a:latin typeface="Calibri"/>
              </a:defRPr>
            </a:pPr>
            <a:r>
              <a:t>¹ Department of Networks, ² Department of Computer Science, College of Computing and Information Sciences (CoCIS), Makerere University, Kampala, Uganda</a:t>
            </a:r>
          </a:p>
          <a:p>
            <a:pPr algn="ctr">
              <a:defRPr sz="1700" b="1">
                <a:solidFill>
                  <a:srgbClr val="0070C0"/>
                </a:solidFill>
                <a:latin typeface="Calibri"/>
              </a:defRPr>
            </a:pPr>
            <a:r>
              <a:t>Correspondence: {mpairwe_lauben, nankya.shadia, yapyeko.rebecca}@students.mak.ac.ug, ggaliwango.marvin@cit.ac.ug  —  Interactive System: https://landwind22-retinal-screening.hf.space</a:t>
            </a:r>
          </a:p>
        </p:txBody>
      </p:sp>
      <p:sp>
        <p:nvSpPr>
          <p:cNvPr id="87" name="Rounded Rectangle 86"/>
          <p:cNvSpPr/>
          <p:nvPr/>
        </p:nvSpPr>
        <p:spPr>
          <a:xfrm>
            <a:off x="4142232" y="781812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Abstract</a:t>
            </a:r>
          </a:p>
        </p:txBody>
      </p:sp>
      <p:sp>
        <p:nvSpPr>
          <p:cNvPr id="88" name="TextBox 87"/>
          <p:cNvSpPr txBox="1"/>
          <p:nvPr/>
        </p:nvSpPr>
        <p:spPr>
          <a:xfrm>
            <a:off x="868680" y="8412480"/>
            <a:ext cx="13862304" cy="3017520"/>
          </a:xfrm>
          <a:prstGeom prst="rect">
            <a:avLst/>
          </a:prstGeom>
          <a:noFill/>
        </p:spPr>
        <p:txBody>
          <a:bodyPr wrap="square" tIns="0" lIns="0" rIns="0">
            <a:spAutoFit/>
          </a:bodyPr>
          <a:lstStyle/>
          <a:p>
            <a:pPr>
              <a:lnSpc>
                <a:spcPct val="115000"/>
              </a:lnSpc>
              <a:spcAft>
                <a:spcPts val="600"/>
              </a:spcAft>
            </a:pPr>
            <a:r>
              <a:rPr sz="1900">
                <a:solidFill>
                  <a:srgbClr val="000000"/>
                </a:solidFill>
                <a:latin typeface="Calibri"/>
              </a:rPr>
              <a:t>Preventable blindness from vitreoretinal and optic nerve pathologies presents a critical global burden, exacerbated by the acute shortage of specialist ophthalmologists across sub-Saharan Africa. In Uganda, non-specialist primary healthcare workers serve as initial gatekeepers for ocular screening without specialist grading support.</a:t>
            </a:r>
          </a:p>
          <a:p>
            <a:pPr>
              <a:lnSpc>
                <a:spcPct val="115000"/>
              </a:lnSpc>
            </a:pPr>
            <a:r>
              <a:rPr sz="1900">
                <a:solidFill>
                  <a:srgbClr val="000000"/>
                </a:solidFill>
                <a:latin typeface="Calibri"/>
              </a:rPr>
              <a:t>OptiscanAI adapts a domain-specific foundation model (RETFound ViT-L/16) via Low-Rank Adaptation (LoRA), evaluated strictly on the official held-out test partition (640 images) of the Retinal Fundus Multi-Disease Image Dataset (RFMiD). We report 0.872 macro AUC across 24 conditions, diagnose an uncalibrated overconfidence defect (ECE 0.209) mitigated to 0.003 via isotonic Platt scaling, achieve 0.952 referral triage AUC, and evaluate an offline edge student running in 102 ms at 5.4 MB for rural primary care.</a:t>
            </a:r>
          </a:p>
        </p:txBody>
      </p:sp>
      <p:sp>
        <p:nvSpPr>
          <p:cNvPr id="89" name="Rounded Rectangle 88"/>
          <p:cNvSpPr/>
          <p:nvPr/>
        </p:nvSpPr>
        <p:spPr>
          <a:xfrm>
            <a:off x="4142232" y="1175004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Problem Statement</a:t>
            </a:r>
          </a:p>
        </p:txBody>
      </p:sp>
      <p:sp>
        <p:nvSpPr>
          <p:cNvPr id="90" name="TextBox 89"/>
          <p:cNvSpPr txBox="1"/>
          <p:nvPr/>
        </p:nvSpPr>
        <p:spPr>
          <a:xfrm>
            <a:off x="868680" y="12344400"/>
            <a:ext cx="13862304" cy="3931920"/>
          </a:xfrm>
          <a:prstGeom prst="rect">
            <a:avLst/>
          </a:prstGeom>
          <a:noFill/>
        </p:spPr>
        <p:txBody>
          <a:bodyPr wrap="square" tIns="0" lIns="0" rIns="0">
            <a:spAutoFit/>
          </a:bodyPr>
          <a:lstStyle/>
          <a:p>
            <a:pPr>
              <a:lnSpc>
                <a:spcPct val="115000"/>
              </a:lnSpc>
              <a:spcAft>
                <a:spcPts val="500"/>
              </a:spcAft>
            </a:pPr>
            <a:r>
              <a:rPr sz="1850" b="1">
                <a:solidFill>
                  <a:srgbClr val="004880"/>
                </a:solidFill>
                <a:latin typeface="Calibri"/>
              </a:rPr>
              <a:t>• Avoidable Blindness in Uganda: </a:t>
            </a:r>
            <a:r>
              <a:rPr sz="1850">
                <a:solidFill>
                  <a:srgbClr val="000000"/>
                </a:solidFill>
                <a:latin typeface="Calibri"/>
              </a:rPr>
              <a:t>Over 2.2 billion individuals suffer vision impairment globally. In Uganda, ophthalmologists are concentrated in urban tertiary hospitals, leaving frontline primary health workers as gatekeepers without expert grading support.</a:t>
            </a:r>
          </a:p>
          <a:p>
            <a:pPr>
              <a:lnSpc>
                <a:spcPct val="115000"/>
              </a:lnSpc>
              <a:spcAft>
                <a:spcPts val="500"/>
              </a:spcAft>
            </a:pPr>
            <a:r>
              <a:rPr sz="1850" b="1">
                <a:solidFill>
                  <a:srgbClr val="004880"/>
                </a:solidFill>
                <a:latin typeface="Calibri"/>
              </a:rPr>
              <a:t>• Frontline Screening Bottlenecks: </a:t>
            </a:r>
            <a:r>
              <a:rPr sz="1850">
                <a:solidFill>
                  <a:srgbClr val="000000"/>
                </a:solidFill>
                <a:latin typeface="Calibri"/>
              </a:rPr>
              <a:t>Non-mydriatic cameras in rural clinics face variable illumination, focus blur, and dust artifacts, while manual grading by distant specialists is economically and logistically inaccessible.</a:t>
            </a:r>
          </a:p>
          <a:p>
            <a:pPr>
              <a:lnSpc>
                <a:spcPct val="115000"/>
              </a:lnSpc>
              <a:spcAft>
                <a:spcPts val="500"/>
              </a:spcAft>
            </a:pPr>
            <a:r>
              <a:rPr sz="1850" b="1">
                <a:solidFill>
                  <a:srgbClr val="004880"/>
                </a:solidFill>
                <a:latin typeface="Calibri"/>
              </a:rPr>
              <a:t>• Multi-Disease Co-morbidities: </a:t>
            </a:r>
            <a:r>
              <a:rPr sz="1850">
                <a:solidFill>
                  <a:srgbClr val="000000"/>
                </a:solidFill>
                <a:latin typeface="Calibri"/>
              </a:rPr>
              <a:t>Patients present overlapping pathologies across 24 conditions (diabetic retinopathy, glaucoma cupping, ARMD, vein occlusions), rendering single-disease screening tools inadequate.</a:t>
            </a:r>
          </a:p>
          <a:p>
            <a:pPr>
              <a:lnSpc>
                <a:spcPct val="115000"/>
              </a:lnSpc>
              <a:spcAft>
                <a:spcPts val="500"/>
              </a:spcAft>
            </a:pPr>
            <a:r>
              <a:rPr sz="1850" b="1">
                <a:solidFill>
                  <a:srgbClr val="004880"/>
                </a:solidFill>
                <a:latin typeface="Calibri"/>
              </a:rPr>
              <a:t>• Silent Channels &amp; Prevalence Shift: </a:t>
            </a:r>
            <a:r>
              <a:rPr sz="1850">
                <a:solidFill>
                  <a:srgbClr val="000000"/>
                </a:solidFill>
                <a:latin typeface="Calibri"/>
              </a:rPr>
              <a:t>Uncalibrated foundation model outputs exhibit severe overconfidence, causing static decision thresholds to silence rare disease channels. Furthermore, high benchmark PPV collapses in low-prevalence rural screening.</a:t>
            </a:r>
          </a:p>
          <a:p>
            <a:pPr>
              <a:lnSpc>
                <a:spcPct val="115000"/>
              </a:lnSpc>
              <a:spcAft>
                <a:spcPts val="0"/>
              </a:spcAft>
            </a:pPr>
            <a:r>
              <a:rPr sz="1850" b="1">
                <a:solidFill>
                  <a:srgbClr val="004880"/>
                </a:solidFill>
                <a:latin typeface="Calibri"/>
              </a:rPr>
              <a:t>• Core Objective: </a:t>
            </a:r>
            <a:r>
              <a:rPr sz="1850">
                <a:solidFill>
                  <a:srgbClr val="000000"/>
                </a:solidFill>
                <a:latin typeface="Calibri"/>
              </a:rPr>
              <a:t>Adapt a domain-specific foundation model for multi-disease retinal screening, eliminate calibration failures, and distill a 5.4 MB offline-first edge student for rural primary care.</a:t>
            </a:r>
          </a:p>
        </p:txBody>
      </p:sp>
      <p:sp>
        <p:nvSpPr>
          <p:cNvPr id="91" name="Rounded Rectangle 90"/>
          <p:cNvSpPr/>
          <p:nvPr/>
        </p:nvSpPr>
        <p:spPr>
          <a:xfrm>
            <a:off x="4142232" y="1687068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System Architecture</a:t>
            </a:r>
          </a:p>
        </p:txBody>
      </p:sp>
      <p:sp>
        <p:nvSpPr>
          <p:cNvPr id="92" name="TextBox 91"/>
          <p:cNvSpPr txBox="1"/>
          <p:nvPr/>
        </p:nvSpPr>
        <p:spPr>
          <a:xfrm>
            <a:off x="868680" y="17465040"/>
            <a:ext cx="13862304" cy="2651760"/>
          </a:xfrm>
          <a:prstGeom prst="rect">
            <a:avLst/>
          </a:prstGeom>
          <a:noFill/>
        </p:spPr>
        <p:txBody>
          <a:bodyPr wrap="square" tIns="0" lIns="0" rIns="0">
            <a:spAutoFit/>
          </a:bodyPr>
          <a:lstStyle/>
          <a:p>
            <a:pPr>
              <a:lnSpc>
                <a:spcPct val="115000"/>
              </a:lnSpc>
              <a:spcAft>
                <a:spcPts val="400"/>
              </a:spcAft>
            </a:pPr>
            <a:r>
              <a:rPr sz="1800" b="1">
                <a:solidFill>
                  <a:srgbClr val="004880"/>
                </a:solidFill>
                <a:latin typeface="Calibri"/>
              </a:rPr>
              <a:t>• Cascaded 4-Tier Intake Gate: </a:t>
            </a:r>
            <a:r>
              <a:rPr sz="1800">
                <a:solidFill>
                  <a:srgbClr val="000000"/>
                </a:solidFill>
                <a:latin typeface="Calibri"/>
              </a:rPr>
              <a:t>Verifies resolution (≥1536×1024), focus sharpness (Laplacian variance), illumination uniformity, and MobileNet usability scoring (≥0.70) with real-time recapture guidance.</a:t>
            </a:r>
          </a:p>
          <a:p>
            <a:pPr>
              <a:lnSpc>
                <a:spcPct val="115000"/>
              </a:lnSpc>
              <a:spcAft>
                <a:spcPts val="400"/>
              </a:spcAft>
            </a:pPr>
            <a:r>
              <a:rPr sz="1800" b="1">
                <a:solidFill>
                  <a:srgbClr val="004880"/>
                </a:solidFill>
                <a:latin typeface="Calibri"/>
              </a:rPr>
              <a:t>• RETFound ViT-L/16 + LoRA Adapters: </a:t>
            </a:r>
            <a:r>
              <a:rPr sz="1800">
                <a:solidFill>
                  <a:srgbClr val="000000"/>
                </a:solidFill>
                <a:latin typeface="Calibri"/>
              </a:rPr>
              <a:t>Foundation model (1.6M retinal pretraining) fine-tuned via LoRA (r=16, α=32) updating only 2.44M of 305.7M parameters (0.8%). Top-32 patch attention feeds a 512→128→24 bottleneck head.</a:t>
            </a:r>
          </a:p>
          <a:p>
            <a:pPr>
              <a:lnSpc>
                <a:spcPct val="115000"/>
              </a:lnSpc>
              <a:spcAft>
                <a:spcPts val="400"/>
              </a:spcAft>
            </a:pPr>
            <a:r>
              <a:rPr sz="1800" b="1">
                <a:solidFill>
                  <a:srgbClr val="004880"/>
                </a:solidFill>
                <a:latin typeface="Calibri"/>
              </a:rPr>
              <a:t>• Symbolic Clinical Knowledge Graph: </a:t>
            </a:r>
            <a:r>
              <a:rPr sz="1800">
                <a:solidFill>
                  <a:srgbClr val="000000"/>
                </a:solidFill>
                <a:latin typeface="Calibri"/>
              </a:rPr>
              <a:t>24 disease nodes and 54 typed edges curated from AAO and Uganda MOH guidelines inject epidemiological co-occurrence priors into referral triage.</a:t>
            </a:r>
          </a:p>
          <a:p>
            <a:pPr>
              <a:lnSpc>
                <a:spcPct val="115000"/>
              </a:lnSpc>
              <a:spcAft>
                <a:spcPts val="0"/>
              </a:spcAft>
            </a:pPr>
            <a:r>
              <a:rPr sz="1800" b="1">
                <a:solidFill>
                  <a:srgbClr val="004880"/>
                </a:solidFill>
                <a:latin typeface="Calibri"/>
              </a:rPr>
              <a:t>• Distilled Offline Edge Student: </a:t>
            </a:r>
            <a:r>
              <a:rPr sz="1800">
                <a:solidFill>
                  <a:srgbClr val="000000"/>
                </a:solidFill>
                <a:latin typeface="Calibri"/>
              </a:rPr>
              <a:t>5.2M MobileNetV3 student distilled to INT8 ONNX (5.4 MB) executes locally in 102 ms per image on low-cost edge laptops without telecommunications.</a:t>
            </a:r>
          </a:p>
        </p:txBody>
      </p:sp>
      <p:pic>
        <p:nvPicPr>
          <p:cNvPr id="93" name="Picture 92" descr="fig1_poster.png"/>
          <p:cNvPicPr>
            <a:picLocks noChangeAspect="1"/>
          </p:cNvPicPr>
          <p:nvPr/>
        </p:nvPicPr>
        <p:blipFill>
          <a:blip r:embed="rId13"/>
          <a:stretch>
            <a:fillRect/>
          </a:stretch>
        </p:blipFill>
        <p:spPr>
          <a:xfrm>
            <a:off x="1051560" y="20619720"/>
            <a:ext cx="13496544" cy="4251960"/>
          </a:xfrm>
          <a:prstGeom prst="rect">
            <a:avLst/>
          </a:prstGeom>
        </p:spPr>
      </p:pic>
      <p:sp>
        <p:nvSpPr>
          <p:cNvPr id="94" name="TextBox 93"/>
          <p:cNvSpPr txBox="1"/>
          <p:nvPr/>
        </p:nvSpPr>
        <p:spPr>
          <a:xfrm>
            <a:off x="868680" y="24963120"/>
            <a:ext cx="13862304" cy="320040"/>
          </a:xfrm>
          <a:prstGeom prst="rect">
            <a:avLst/>
          </a:prstGeom>
          <a:noFill/>
        </p:spPr>
        <p:txBody>
          <a:bodyPr wrap="square" tIns="0">
            <a:spAutoFit/>
          </a:bodyPr>
          <a:lstStyle/>
          <a:p>
            <a:pPr algn="ctr">
              <a:defRPr sz="1700" b="1">
                <a:solidFill>
                  <a:srgbClr val="004880"/>
                </a:solidFill>
                <a:latin typeface="Calibri"/>
              </a:defRPr>
            </a:pPr>
            <a:r>
              <a:t>Fig. 1: Modular OptiscanAI pipeline: Server foundation pathway (1–7) and distilled offline edge student (8).</a:t>
            </a:r>
          </a:p>
        </p:txBody>
      </p:sp>
      <p:sp>
        <p:nvSpPr>
          <p:cNvPr id="95" name="Rounded Rectangle 94"/>
          <p:cNvSpPr/>
          <p:nvPr/>
        </p:nvSpPr>
        <p:spPr>
          <a:xfrm>
            <a:off x="4142232" y="2555748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Model Adaptation &amp; Ablation</a:t>
            </a:r>
          </a:p>
        </p:txBody>
      </p:sp>
      <p:graphicFrame>
        <p:nvGraphicFramePr>
          <p:cNvPr id="96" name="Table 95"/>
          <p:cNvGraphicFramePr>
            <a:graphicFrameLocks noGrp="1"/>
          </p:cNvGraphicFramePr>
          <p:nvPr/>
        </p:nvGraphicFramePr>
        <p:xfrm>
          <a:off x="1051560" y="26106120"/>
          <a:ext cx="13496544" cy="3108960"/>
        </p:xfrm>
        <a:graphic>
          <a:graphicData uri="http://schemas.openxmlformats.org/drawingml/2006/table">
            <a:tbl>
              <a:tblPr firstRow="1" bandRow="1">
                <a:tableStyleId>{5C22544A-7EE6-4342-B048-85BDC9FD1C3A}</a:tableStyleId>
              </a:tblPr>
              <a:tblGrid>
                <a:gridCol w="5449824"/>
                <a:gridCol w="2011680"/>
                <a:gridCol w="2011680"/>
                <a:gridCol w="2011680"/>
                <a:gridCol w="2011680"/>
              </a:tblGrid>
              <a:tr h="345440">
                <a:tc>
                  <a:txBody>
                    <a:bodyPr/>
                    <a:lstStyle/>
                    <a:p>
                      <a:pPr algn="l">
                        <a:defRPr sz="1500" b="1">
                          <a:solidFill>
                            <a:srgbClr val="FFFFFF"/>
                          </a:solidFill>
                          <a:latin typeface="Calibri"/>
                        </a:defRPr>
                      </a:pPr>
                      <a:r>
                        <a:t>Arm / Model Component</a:t>
                      </a:r>
                    </a:p>
                  </a:txBody>
                  <a:tcPr marL="73152" marR="73152" marT="27432" marB="27432" anchor="ctr">
                    <a:solidFill>
                      <a:srgbClr val="0070C0"/>
                    </a:solidFill>
                  </a:tcPr>
                </a:tc>
                <a:tc>
                  <a:txBody>
                    <a:bodyPr/>
                    <a:lstStyle/>
                    <a:p>
                      <a:pPr algn="ctr">
                        <a:defRPr sz="1500" b="1">
                          <a:solidFill>
                            <a:srgbClr val="FFFFFF"/>
                          </a:solidFill>
                          <a:latin typeface="Calibri"/>
                        </a:defRPr>
                      </a:pPr>
                      <a:r>
                        <a:t>Total (M)</a:t>
                      </a:r>
                    </a:p>
                  </a:txBody>
                  <a:tcPr marL="73152" marR="73152" marT="27432" marB="27432" anchor="ctr">
                    <a:solidFill>
                      <a:srgbClr val="0070C0"/>
                    </a:solidFill>
                  </a:tcPr>
                </a:tc>
                <a:tc>
                  <a:txBody>
                    <a:bodyPr/>
                    <a:lstStyle/>
                    <a:p>
                      <a:pPr algn="ctr">
                        <a:defRPr sz="1500" b="1">
                          <a:solidFill>
                            <a:srgbClr val="FFFFFF"/>
                          </a:solidFill>
                          <a:latin typeface="Calibri"/>
                        </a:defRPr>
                      </a:pPr>
                      <a:r>
                        <a:t>Train. %</a:t>
                      </a:r>
                    </a:p>
                  </a:txBody>
                  <a:tcPr marL="73152" marR="73152" marT="27432" marB="27432" anchor="ctr">
                    <a:solidFill>
                      <a:srgbClr val="0070C0"/>
                    </a:solidFill>
                  </a:tcPr>
                </a:tc>
                <a:tc>
                  <a:txBody>
                    <a:bodyPr/>
                    <a:lstStyle/>
                    <a:p>
                      <a:pPr algn="ctr">
                        <a:defRPr sz="1500" b="1">
                          <a:solidFill>
                            <a:srgbClr val="FFFFFF"/>
                          </a:solidFill>
                          <a:latin typeface="Calibri"/>
                        </a:defRPr>
                      </a:pPr>
                      <a:r>
                        <a:t>AUC-ROC</a:t>
                      </a:r>
                    </a:p>
                  </a:txBody>
                  <a:tcPr marL="73152" marR="73152" marT="27432" marB="27432" anchor="ctr">
                    <a:solidFill>
                      <a:srgbClr val="0070C0"/>
                    </a:solidFill>
                  </a:tcPr>
                </a:tc>
                <a:tc>
                  <a:txBody>
                    <a:bodyPr/>
                    <a:lstStyle/>
                    <a:p>
                      <a:pPr algn="ctr">
                        <a:defRPr sz="1500" b="1">
                          <a:solidFill>
                            <a:srgbClr val="FFFFFF"/>
                          </a:solidFill>
                          <a:latin typeface="Calibri"/>
                        </a:defRPr>
                      </a:pPr>
                      <a:r>
                        <a:t>AUPRC</a:t>
                      </a:r>
                    </a:p>
                  </a:txBody>
                  <a:tcPr marL="73152" marR="73152" marT="27432" marB="27432" anchor="ctr">
                    <a:solidFill>
                      <a:srgbClr val="0070C0"/>
                    </a:solidFill>
                  </a:tcPr>
                </a:tc>
              </a:tr>
              <a:tr h="345440">
                <a:tc>
                  <a:txBody>
                    <a:bodyPr/>
                    <a:lstStyle/>
                    <a:p>
                      <a:pPr algn="l">
                        <a:defRPr sz="1350" b="1">
                          <a:solidFill>
                            <a:srgbClr val="000000"/>
                          </a:solidFill>
                          <a:latin typeface="Calibri"/>
                        </a:defRPr>
                      </a:pPr>
                      <a:r>
                        <a:t>ResNet-50 (ImageNet full FT)</a:t>
                      </a:r>
                    </a:p>
                  </a:txBody>
                  <a:tcPr marL="73152" marR="73152" marT="27432" marB="27432" anchor="ctr">
                    <a:solidFill>
                      <a:srgbClr val="FFFFFF"/>
                    </a:solidFill>
                  </a:tcPr>
                </a:tc>
                <a:tc>
                  <a:txBody>
                    <a:bodyPr/>
                    <a:lstStyle/>
                    <a:p>
                      <a:pPr algn="ctr">
                        <a:defRPr sz="1350" b="0">
                          <a:solidFill>
                            <a:srgbClr val="000000"/>
                          </a:solidFill>
                          <a:latin typeface="Calibri"/>
                        </a:defRPr>
                      </a:pPr>
                      <a:r>
                        <a:t>23.56</a:t>
                      </a:r>
                    </a:p>
                  </a:txBody>
                  <a:tcPr marL="73152" marR="73152" marT="27432" marB="27432" anchor="ctr">
                    <a:solidFill>
                      <a:srgbClr val="FFFFFF"/>
                    </a:solidFill>
                  </a:tcPr>
                </a:tc>
                <a:tc>
                  <a:txBody>
                    <a:bodyPr/>
                    <a:lstStyle/>
                    <a:p>
                      <a:pPr algn="ctr">
                        <a:defRPr sz="1350" b="0">
                          <a:solidFill>
                            <a:srgbClr val="000000"/>
                          </a:solidFill>
                          <a:latin typeface="Calibri"/>
                        </a:defRPr>
                      </a:pPr>
                      <a:r>
                        <a:t>100.0 %</a:t>
                      </a:r>
                    </a:p>
                  </a:txBody>
                  <a:tcPr marL="73152" marR="73152" marT="27432" marB="27432" anchor="ctr">
                    <a:solidFill>
                      <a:srgbClr val="FFFFFF"/>
                    </a:solidFill>
                  </a:tcPr>
                </a:tc>
                <a:tc>
                  <a:txBody>
                    <a:bodyPr/>
                    <a:lstStyle/>
                    <a:p>
                      <a:pPr algn="ctr">
                        <a:defRPr sz="1350" b="0">
                          <a:solidFill>
                            <a:srgbClr val="000000"/>
                          </a:solidFill>
                          <a:latin typeface="Calibri"/>
                        </a:defRPr>
                      </a:pPr>
                      <a:r>
                        <a:t>0.867</a:t>
                      </a:r>
                    </a:p>
                  </a:txBody>
                  <a:tcPr marL="73152" marR="73152" marT="27432" marB="27432" anchor="ctr">
                    <a:solidFill>
                      <a:srgbClr val="FFFFFF"/>
                    </a:solidFill>
                  </a:tcPr>
                </a:tc>
                <a:tc>
                  <a:txBody>
                    <a:bodyPr/>
                    <a:lstStyle/>
                    <a:p>
                      <a:pPr algn="ctr">
                        <a:defRPr sz="1350" b="0">
                          <a:solidFill>
                            <a:srgbClr val="000000"/>
                          </a:solidFill>
                          <a:latin typeface="Calibri"/>
                        </a:defRPr>
                      </a:pPr>
                      <a:r>
                        <a:t>0.336</a:t>
                      </a:r>
                    </a:p>
                  </a:txBody>
                  <a:tcPr marL="73152" marR="73152" marT="27432" marB="27432" anchor="ctr">
                    <a:solidFill>
                      <a:srgbClr val="FFFFFF"/>
                    </a:solidFill>
                  </a:tcPr>
                </a:tc>
              </a:tr>
              <a:tr h="345440">
                <a:tc>
                  <a:txBody>
                    <a:bodyPr/>
                    <a:lstStyle/>
                    <a:p>
                      <a:pPr algn="l">
                        <a:defRPr sz="1350" b="1">
                          <a:solidFill>
                            <a:srgbClr val="000000"/>
                          </a:solidFill>
                          <a:latin typeface="Calibri"/>
                        </a:defRPr>
                      </a:pPr>
                      <a:r>
                        <a:t>EfficientNet-B3 (ImageNet FT)</a:t>
                      </a:r>
                    </a:p>
                  </a:txBody>
                  <a:tcPr marL="73152" marR="73152" marT="27432" marB="27432" anchor="ctr">
                    <a:solidFill>
                      <a:srgbClr val="EEF4FA"/>
                    </a:solidFill>
                  </a:tcPr>
                </a:tc>
                <a:tc>
                  <a:txBody>
                    <a:bodyPr/>
                    <a:lstStyle/>
                    <a:p>
                      <a:pPr algn="ctr">
                        <a:defRPr sz="1350" b="0">
                          <a:solidFill>
                            <a:srgbClr val="000000"/>
                          </a:solidFill>
                          <a:latin typeface="Calibri"/>
                        </a:defRPr>
                      </a:pPr>
                      <a:r>
                        <a:t>10.73</a:t>
                      </a:r>
                    </a:p>
                  </a:txBody>
                  <a:tcPr marL="73152" marR="73152" marT="27432" marB="27432" anchor="ctr">
                    <a:solidFill>
                      <a:srgbClr val="EEF4FA"/>
                    </a:solidFill>
                  </a:tcPr>
                </a:tc>
                <a:tc>
                  <a:txBody>
                    <a:bodyPr/>
                    <a:lstStyle/>
                    <a:p>
                      <a:pPr algn="ctr">
                        <a:defRPr sz="1350" b="0">
                          <a:solidFill>
                            <a:srgbClr val="000000"/>
                          </a:solidFill>
                          <a:latin typeface="Calibri"/>
                        </a:defRPr>
                      </a:pPr>
                      <a:r>
                        <a:t>100.0 %</a:t>
                      </a:r>
                    </a:p>
                  </a:txBody>
                  <a:tcPr marL="73152" marR="73152" marT="27432" marB="27432" anchor="ctr">
                    <a:solidFill>
                      <a:srgbClr val="EEF4FA"/>
                    </a:solidFill>
                  </a:tcPr>
                </a:tc>
                <a:tc>
                  <a:txBody>
                    <a:bodyPr/>
                    <a:lstStyle/>
                    <a:p>
                      <a:pPr algn="ctr">
                        <a:defRPr sz="1350" b="0">
                          <a:solidFill>
                            <a:srgbClr val="000000"/>
                          </a:solidFill>
                          <a:latin typeface="Calibri"/>
                        </a:defRPr>
                      </a:pPr>
                      <a:r>
                        <a:t>0.819</a:t>
                      </a:r>
                    </a:p>
                  </a:txBody>
                  <a:tcPr marL="73152" marR="73152" marT="27432" marB="27432" anchor="ctr">
                    <a:solidFill>
                      <a:srgbClr val="EEF4FA"/>
                    </a:solidFill>
                  </a:tcPr>
                </a:tc>
                <a:tc>
                  <a:txBody>
                    <a:bodyPr/>
                    <a:lstStyle/>
                    <a:p>
                      <a:pPr algn="ctr">
                        <a:defRPr sz="1350" b="0">
                          <a:solidFill>
                            <a:srgbClr val="000000"/>
                          </a:solidFill>
                          <a:latin typeface="Calibri"/>
                        </a:defRPr>
                      </a:pPr>
                      <a:r>
                        <a:t>0.377</a:t>
                      </a:r>
                    </a:p>
                  </a:txBody>
                  <a:tcPr marL="73152" marR="73152" marT="27432" marB="27432" anchor="ctr">
                    <a:solidFill>
                      <a:srgbClr val="EEF4FA"/>
                    </a:solidFill>
                  </a:tcPr>
                </a:tc>
              </a:tr>
              <a:tr h="345440">
                <a:tc>
                  <a:txBody>
                    <a:bodyPr/>
                    <a:lstStyle/>
                    <a:p>
                      <a:pPr algn="l">
                        <a:defRPr sz="1350" b="1">
                          <a:solidFill>
                            <a:srgbClr val="000000"/>
                          </a:solidFill>
                          <a:latin typeface="Calibri"/>
                        </a:defRPr>
                      </a:pPr>
                      <a:r>
                        <a:t>ViT-B/16 (ImageNet full FT)</a:t>
                      </a:r>
                    </a:p>
                  </a:txBody>
                  <a:tcPr marL="73152" marR="73152" marT="27432" marB="27432" anchor="ctr">
                    <a:solidFill>
                      <a:srgbClr val="FFFFFF"/>
                    </a:solidFill>
                  </a:tcPr>
                </a:tc>
                <a:tc>
                  <a:txBody>
                    <a:bodyPr/>
                    <a:lstStyle/>
                    <a:p>
                      <a:pPr algn="ctr">
                        <a:defRPr sz="1350" b="0">
                          <a:solidFill>
                            <a:srgbClr val="000000"/>
                          </a:solidFill>
                          <a:latin typeface="Calibri"/>
                        </a:defRPr>
                      </a:pPr>
                      <a:r>
                        <a:t>85.82</a:t>
                      </a:r>
                    </a:p>
                  </a:txBody>
                  <a:tcPr marL="73152" marR="73152" marT="27432" marB="27432" anchor="ctr">
                    <a:solidFill>
                      <a:srgbClr val="FFFFFF"/>
                    </a:solidFill>
                  </a:tcPr>
                </a:tc>
                <a:tc>
                  <a:txBody>
                    <a:bodyPr/>
                    <a:lstStyle/>
                    <a:p>
                      <a:pPr algn="ctr">
                        <a:defRPr sz="1350" b="0">
                          <a:solidFill>
                            <a:srgbClr val="000000"/>
                          </a:solidFill>
                          <a:latin typeface="Calibri"/>
                        </a:defRPr>
                      </a:pPr>
                      <a:r>
                        <a:t>100.0 %</a:t>
                      </a:r>
                    </a:p>
                  </a:txBody>
                  <a:tcPr marL="73152" marR="73152" marT="27432" marB="27432" anchor="ctr">
                    <a:solidFill>
                      <a:srgbClr val="FFFFFF"/>
                    </a:solidFill>
                  </a:tcPr>
                </a:tc>
                <a:tc>
                  <a:txBody>
                    <a:bodyPr/>
                    <a:lstStyle/>
                    <a:p>
                      <a:pPr algn="ctr">
                        <a:defRPr sz="1350" b="0">
                          <a:solidFill>
                            <a:srgbClr val="000000"/>
                          </a:solidFill>
                          <a:latin typeface="Calibri"/>
                        </a:defRPr>
                      </a:pPr>
                      <a:r>
                        <a:t>0.871</a:t>
                      </a:r>
                    </a:p>
                  </a:txBody>
                  <a:tcPr marL="73152" marR="73152" marT="27432" marB="27432" anchor="ctr">
                    <a:solidFill>
                      <a:srgbClr val="FFFFFF"/>
                    </a:solidFill>
                  </a:tcPr>
                </a:tc>
                <a:tc>
                  <a:txBody>
                    <a:bodyPr/>
                    <a:lstStyle/>
                    <a:p>
                      <a:pPr algn="ctr">
                        <a:defRPr sz="1350" b="0">
                          <a:solidFill>
                            <a:srgbClr val="000000"/>
                          </a:solidFill>
                          <a:latin typeface="Calibri"/>
                        </a:defRPr>
                      </a:pPr>
                      <a:r>
                        <a:t>0.472</a:t>
                      </a:r>
                    </a:p>
                  </a:txBody>
                  <a:tcPr marL="73152" marR="73152" marT="27432" marB="27432" anchor="ctr">
                    <a:solidFill>
                      <a:srgbClr val="FFFFFF"/>
                    </a:solidFill>
                  </a:tcPr>
                </a:tc>
              </a:tr>
              <a:tr h="345440">
                <a:tc>
                  <a:txBody>
                    <a:bodyPr/>
                    <a:lstStyle/>
                    <a:p>
                      <a:pPr algn="l">
                        <a:defRPr sz="1350" b="1">
                          <a:solidFill>
                            <a:srgbClr val="000000"/>
                          </a:solidFill>
                          <a:latin typeface="Calibri"/>
                        </a:defRPr>
                      </a:pPr>
                      <a:r>
                        <a:t>RETFound ViT-L (head only)</a:t>
                      </a:r>
                    </a:p>
                  </a:txBody>
                  <a:tcPr marL="73152" marR="73152" marT="27432" marB="27432" anchor="ctr">
                    <a:solidFill>
                      <a:srgbClr val="EEF4FA"/>
                    </a:solidFill>
                  </a:tcPr>
                </a:tc>
                <a:tc>
                  <a:txBody>
                    <a:bodyPr/>
                    <a:lstStyle/>
                    <a:p>
                      <a:pPr algn="ctr">
                        <a:defRPr sz="1350" b="0">
                          <a:solidFill>
                            <a:srgbClr val="000000"/>
                          </a:solidFill>
                          <a:latin typeface="Calibri"/>
                        </a:defRPr>
                      </a:pPr>
                      <a:r>
                        <a:t>2.44</a:t>
                      </a:r>
                    </a:p>
                  </a:txBody>
                  <a:tcPr marL="73152" marR="73152" marT="27432" marB="27432" anchor="ctr">
                    <a:solidFill>
                      <a:srgbClr val="EEF4FA"/>
                    </a:solidFill>
                  </a:tcPr>
                </a:tc>
                <a:tc>
                  <a:txBody>
                    <a:bodyPr/>
                    <a:lstStyle/>
                    <a:p>
                      <a:pPr algn="ctr">
                        <a:defRPr sz="1350" b="0">
                          <a:solidFill>
                            <a:srgbClr val="000000"/>
                          </a:solidFill>
                          <a:latin typeface="Calibri"/>
                        </a:defRPr>
                      </a:pPr>
                      <a:r>
                        <a:t>0.8 %</a:t>
                      </a:r>
                    </a:p>
                  </a:txBody>
                  <a:tcPr marL="73152" marR="73152" marT="27432" marB="27432" anchor="ctr">
                    <a:solidFill>
                      <a:srgbClr val="EEF4FA"/>
                    </a:solidFill>
                  </a:tcPr>
                </a:tc>
                <a:tc>
                  <a:txBody>
                    <a:bodyPr/>
                    <a:lstStyle/>
                    <a:p>
                      <a:pPr algn="ctr">
                        <a:defRPr sz="1350" b="0">
                          <a:solidFill>
                            <a:srgbClr val="000000"/>
                          </a:solidFill>
                          <a:latin typeface="Calibri"/>
                        </a:defRPr>
                      </a:pPr>
                      <a:r>
                        <a:t>0.877</a:t>
                      </a:r>
                    </a:p>
                  </a:txBody>
                  <a:tcPr marL="73152" marR="73152" marT="27432" marB="27432" anchor="ctr">
                    <a:solidFill>
                      <a:srgbClr val="EEF4FA"/>
                    </a:solidFill>
                  </a:tcPr>
                </a:tc>
                <a:tc>
                  <a:txBody>
                    <a:bodyPr/>
                    <a:lstStyle/>
                    <a:p>
                      <a:pPr algn="ctr">
                        <a:defRPr sz="1350" b="0">
                          <a:solidFill>
                            <a:srgbClr val="000000"/>
                          </a:solidFill>
                          <a:latin typeface="Calibri"/>
                        </a:defRPr>
                      </a:pPr>
                      <a:r>
                        <a:t>0.360</a:t>
                      </a:r>
                    </a:p>
                  </a:txBody>
                  <a:tcPr marL="73152" marR="73152" marT="27432" marB="27432" anchor="ctr">
                    <a:solidFill>
                      <a:srgbClr val="EEF4FA"/>
                    </a:solidFill>
                  </a:tcPr>
                </a:tc>
              </a:tr>
              <a:tr h="345440">
                <a:tc>
                  <a:txBody>
                    <a:bodyPr/>
                    <a:lstStyle/>
                    <a:p>
                      <a:pPr algn="l">
                        <a:defRPr sz="1350" b="1">
                          <a:solidFill>
                            <a:srgbClr val="000000"/>
                          </a:solidFill>
                          <a:latin typeface="Calibri"/>
                        </a:defRPr>
                      </a:pPr>
                      <a:r>
                        <a:t>RETFound ViT-L + LoRA (r=16)</a:t>
                      </a:r>
                    </a:p>
                  </a:txBody>
                  <a:tcPr marL="73152" marR="73152" marT="27432" marB="27432" anchor="ctr">
                    <a:solidFill>
                      <a:srgbClr val="FFFFFF"/>
                    </a:solidFill>
                  </a:tcPr>
                </a:tc>
                <a:tc>
                  <a:txBody>
                    <a:bodyPr/>
                    <a:lstStyle/>
                    <a:p>
                      <a:pPr algn="ctr">
                        <a:defRPr sz="1350" b="0">
                          <a:solidFill>
                            <a:srgbClr val="000000"/>
                          </a:solidFill>
                          <a:latin typeface="Calibri"/>
                        </a:defRPr>
                      </a:pPr>
                      <a:r>
                        <a:t>4.01</a:t>
                      </a:r>
                    </a:p>
                  </a:txBody>
                  <a:tcPr marL="73152" marR="73152" marT="27432" marB="27432" anchor="ctr">
                    <a:solidFill>
                      <a:srgbClr val="FFFFFF"/>
                    </a:solidFill>
                  </a:tcPr>
                </a:tc>
                <a:tc>
                  <a:txBody>
                    <a:bodyPr/>
                    <a:lstStyle/>
                    <a:p>
                      <a:pPr algn="ctr">
                        <a:defRPr sz="1350" b="0">
                          <a:solidFill>
                            <a:srgbClr val="000000"/>
                          </a:solidFill>
                          <a:latin typeface="Calibri"/>
                        </a:defRPr>
                      </a:pPr>
                      <a:r>
                        <a:t>1.3 %</a:t>
                      </a:r>
                    </a:p>
                  </a:txBody>
                  <a:tcPr marL="73152" marR="73152" marT="27432" marB="27432" anchor="ctr">
                    <a:solidFill>
                      <a:srgbClr val="FFFFFF"/>
                    </a:solidFill>
                  </a:tcPr>
                </a:tc>
                <a:tc>
                  <a:txBody>
                    <a:bodyPr/>
                    <a:lstStyle/>
                    <a:p>
                      <a:pPr algn="ctr">
                        <a:defRPr sz="1350" b="0">
                          <a:solidFill>
                            <a:srgbClr val="000000"/>
                          </a:solidFill>
                          <a:latin typeface="Calibri"/>
                        </a:defRPr>
                      </a:pPr>
                      <a:r>
                        <a:t>0.882</a:t>
                      </a:r>
                    </a:p>
                  </a:txBody>
                  <a:tcPr marL="73152" marR="73152" marT="27432" marB="27432" anchor="ctr">
                    <a:solidFill>
                      <a:srgbClr val="FFFFFF"/>
                    </a:solidFill>
                  </a:tcPr>
                </a:tc>
                <a:tc>
                  <a:txBody>
                    <a:bodyPr/>
                    <a:lstStyle/>
                    <a:p>
                      <a:pPr algn="ctr">
                        <a:defRPr sz="1350" b="0">
                          <a:solidFill>
                            <a:srgbClr val="000000"/>
                          </a:solidFill>
                          <a:latin typeface="Calibri"/>
                        </a:defRPr>
                      </a:pPr>
                      <a:r>
                        <a:t>0.392</a:t>
                      </a:r>
                    </a:p>
                  </a:txBody>
                  <a:tcPr marL="73152" marR="73152" marT="27432" marB="27432" anchor="ctr">
                    <a:solidFill>
                      <a:srgbClr val="FFFFFF"/>
                    </a:solidFill>
                  </a:tcPr>
                </a:tc>
              </a:tr>
              <a:tr h="345440">
                <a:tc>
                  <a:txBody>
                    <a:bodyPr/>
                    <a:lstStyle/>
                    <a:p>
                      <a:pPr algn="l">
                        <a:defRPr sz="1350" b="1">
                          <a:solidFill>
                            <a:srgbClr val="000000"/>
                          </a:solidFill>
                          <a:latin typeface="Calibri"/>
                        </a:defRPr>
                      </a:pPr>
                      <a:r>
                        <a:t>RETFound + LoRA (Dataset Norm)</a:t>
                      </a:r>
                    </a:p>
                  </a:txBody>
                  <a:tcPr marL="73152" marR="73152" marT="27432" marB="27432" anchor="ctr">
                    <a:solidFill>
                      <a:srgbClr val="EEF4FA"/>
                    </a:solidFill>
                  </a:tcPr>
                </a:tc>
                <a:tc>
                  <a:txBody>
                    <a:bodyPr/>
                    <a:lstStyle/>
                    <a:p>
                      <a:pPr algn="ctr">
                        <a:defRPr sz="1350" b="0">
                          <a:solidFill>
                            <a:srgbClr val="000000"/>
                          </a:solidFill>
                          <a:latin typeface="Calibri"/>
                        </a:defRPr>
                      </a:pPr>
                      <a:r>
                        <a:t>4.01</a:t>
                      </a:r>
                    </a:p>
                  </a:txBody>
                  <a:tcPr marL="73152" marR="73152" marT="27432" marB="27432" anchor="ctr">
                    <a:solidFill>
                      <a:srgbClr val="EEF4FA"/>
                    </a:solidFill>
                  </a:tcPr>
                </a:tc>
                <a:tc>
                  <a:txBody>
                    <a:bodyPr/>
                    <a:lstStyle/>
                    <a:p>
                      <a:pPr algn="ctr">
                        <a:defRPr sz="1350" b="0">
                          <a:solidFill>
                            <a:srgbClr val="000000"/>
                          </a:solidFill>
                          <a:latin typeface="Calibri"/>
                        </a:defRPr>
                      </a:pPr>
                      <a:r>
                        <a:t>1.3 %</a:t>
                      </a:r>
                    </a:p>
                  </a:txBody>
                  <a:tcPr marL="73152" marR="73152" marT="27432" marB="27432" anchor="ctr">
                    <a:solidFill>
                      <a:srgbClr val="EEF4FA"/>
                    </a:solidFill>
                  </a:tcPr>
                </a:tc>
                <a:tc>
                  <a:txBody>
                    <a:bodyPr/>
                    <a:lstStyle/>
                    <a:p>
                      <a:pPr algn="ctr">
                        <a:defRPr sz="1350" b="0">
                          <a:solidFill>
                            <a:srgbClr val="000000"/>
                          </a:solidFill>
                          <a:latin typeface="Calibri"/>
                        </a:defRPr>
                      </a:pPr>
                      <a:r>
                        <a:t>0.827</a:t>
                      </a:r>
                    </a:p>
                  </a:txBody>
                  <a:tcPr marL="73152" marR="73152" marT="27432" marB="27432" anchor="ctr">
                    <a:solidFill>
                      <a:srgbClr val="EEF4FA"/>
                    </a:solidFill>
                  </a:tcPr>
                </a:tc>
                <a:tc>
                  <a:txBody>
                    <a:bodyPr/>
                    <a:lstStyle/>
                    <a:p>
                      <a:pPr algn="ctr">
                        <a:defRPr sz="1350" b="0">
                          <a:solidFill>
                            <a:srgbClr val="000000"/>
                          </a:solidFill>
                          <a:latin typeface="Calibri"/>
                        </a:defRPr>
                      </a:pPr>
                      <a:r>
                        <a:t>0.285</a:t>
                      </a:r>
                    </a:p>
                  </a:txBody>
                  <a:tcPr marL="73152" marR="73152" marT="27432" marB="27432" anchor="ctr">
                    <a:solidFill>
                      <a:srgbClr val="EEF4FA"/>
                    </a:solidFill>
                  </a:tcPr>
                </a:tc>
              </a:tr>
              <a:tr h="345440">
                <a:tc>
                  <a:txBody>
                    <a:bodyPr/>
                    <a:lstStyle/>
                    <a:p>
                      <a:pPr algn="l">
                        <a:defRPr sz="1350" b="1">
                          <a:solidFill>
                            <a:srgbClr val="000000"/>
                          </a:solidFill>
                          <a:latin typeface="Calibri"/>
                        </a:defRPr>
                      </a:pPr>
                      <a:r>
                        <a:t>ImageNet Norm + CLAHE</a:t>
                      </a:r>
                    </a:p>
                  </a:txBody>
                  <a:tcPr marL="73152" marR="73152" marT="27432" marB="27432" anchor="ctr">
                    <a:solidFill>
                      <a:srgbClr val="FFFFFF"/>
                    </a:solidFill>
                  </a:tcPr>
                </a:tc>
                <a:tc>
                  <a:txBody>
                    <a:bodyPr/>
                    <a:lstStyle/>
                    <a:p>
                      <a:pPr algn="ctr">
                        <a:defRPr sz="1350" b="0">
                          <a:solidFill>
                            <a:srgbClr val="000000"/>
                          </a:solidFill>
                          <a:latin typeface="Calibri"/>
                        </a:defRPr>
                      </a:pPr>
                      <a:r>
                        <a:t>4.01</a:t>
                      </a:r>
                    </a:p>
                  </a:txBody>
                  <a:tcPr marL="73152" marR="73152" marT="27432" marB="27432" anchor="ctr">
                    <a:solidFill>
                      <a:srgbClr val="FFFFFF"/>
                    </a:solidFill>
                  </a:tcPr>
                </a:tc>
                <a:tc>
                  <a:txBody>
                    <a:bodyPr/>
                    <a:lstStyle/>
                    <a:p>
                      <a:pPr algn="ctr">
                        <a:defRPr sz="1350" b="0">
                          <a:solidFill>
                            <a:srgbClr val="000000"/>
                          </a:solidFill>
                          <a:latin typeface="Calibri"/>
                        </a:defRPr>
                      </a:pPr>
                      <a:r>
                        <a:t>1.3 %</a:t>
                      </a:r>
                    </a:p>
                  </a:txBody>
                  <a:tcPr marL="73152" marR="73152" marT="27432" marB="27432" anchor="ctr">
                    <a:solidFill>
                      <a:srgbClr val="FFFFFF"/>
                    </a:solidFill>
                  </a:tcPr>
                </a:tc>
                <a:tc>
                  <a:txBody>
                    <a:bodyPr/>
                    <a:lstStyle/>
                    <a:p>
                      <a:pPr algn="ctr">
                        <a:defRPr sz="1350" b="0">
                          <a:solidFill>
                            <a:srgbClr val="000000"/>
                          </a:solidFill>
                          <a:latin typeface="Calibri"/>
                        </a:defRPr>
                      </a:pPr>
                      <a:r>
                        <a:t>0.866</a:t>
                      </a:r>
                    </a:p>
                  </a:txBody>
                  <a:tcPr marL="73152" marR="73152" marT="27432" marB="27432" anchor="ctr">
                    <a:solidFill>
                      <a:srgbClr val="FFFFFF"/>
                    </a:solidFill>
                  </a:tcPr>
                </a:tc>
                <a:tc>
                  <a:txBody>
                    <a:bodyPr/>
                    <a:lstStyle/>
                    <a:p>
                      <a:pPr algn="ctr">
                        <a:defRPr sz="1350" b="0">
                          <a:solidFill>
                            <a:srgbClr val="000000"/>
                          </a:solidFill>
                          <a:latin typeface="Calibri"/>
                        </a:defRPr>
                      </a:pPr>
                      <a:r>
                        <a:t>0.341</a:t>
                      </a:r>
                    </a:p>
                  </a:txBody>
                  <a:tcPr marL="73152" marR="73152" marT="27432" marB="27432" anchor="ctr">
                    <a:solidFill>
                      <a:srgbClr val="FFFFFF"/>
                    </a:solidFill>
                  </a:tcPr>
                </a:tc>
              </a:tr>
              <a:tr h="345440">
                <a:tc>
                  <a:txBody>
                    <a:bodyPr/>
                    <a:lstStyle/>
                    <a:p>
                      <a:pPr algn="l">
                        <a:defRPr sz="1350" b="1">
                          <a:solidFill>
                            <a:srgbClr val="004880"/>
                          </a:solidFill>
                          <a:latin typeface="Calibri"/>
                        </a:defRPr>
                      </a:pPr>
                      <a:r>
                        <a:t>OptiscanAI Deployed Checkpoint†</a:t>
                      </a:r>
                    </a:p>
                  </a:txBody>
                  <a:tcPr marL="73152" marR="73152" marT="27432" marB="27432" anchor="ctr">
                    <a:solidFill>
                      <a:srgbClr val="D9E8F5"/>
                    </a:solidFill>
                  </a:tcPr>
                </a:tc>
                <a:tc>
                  <a:txBody>
                    <a:bodyPr/>
                    <a:lstStyle/>
                    <a:p>
                      <a:pPr algn="ctr">
                        <a:defRPr sz="1350" b="1">
                          <a:solidFill>
                            <a:srgbClr val="004880"/>
                          </a:solidFill>
                          <a:latin typeface="Calibri"/>
                        </a:defRPr>
                      </a:pPr>
                      <a:r>
                        <a:t>2.44</a:t>
                      </a:r>
                    </a:p>
                  </a:txBody>
                  <a:tcPr marL="73152" marR="73152" marT="27432" marB="27432" anchor="ctr">
                    <a:solidFill>
                      <a:srgbClr val="D9E8F5"/>
                    </a:solidFill>
                  </a:tcPr>
                </a:tc>
                <a:tc>
                  <a:txBody>
                    <a:bodyPr/>
                    <a:lstStyle/>
                    <a:p>
                      <a:pPr algn="ctr">
                        <a:defRPr sz="1350" b="1">
                          <a:solidFill>
                            <a:srgbClr val="004880"/>
                          </a:solidFill>
                          <a:latin typeface="Calibri"/>
                        </a:defRPr>
                      </a:pPr>
                      <a:r>
                        <a:t>0.8 %</a:t>
                      </a:r>
                    </a:p>
                  </a:txBody>
                  <a:tcPr marL="73152" marR="73152" marT="27432" marB="27432" anchor="ctr">
                    <a:solidFill>
                      <a:srgbClr val="D9E8F5"/>
                    </a:solidFill>
                  </a:tcPr>
                </a:tc>
                <a:tc>
                  <a:txBody>
                    <a:bodyPr/>
                    <a:lstStyle/>
                    <a:p>
                      <a:pPr algn="ctr">
                        <a:defRPr sz="1350" b="1">
                          <a:solidFill>
                            <a:srgbClr val="004880"/>
                          </a:solidFill>
                          <a:latin typeface="Calibri"/>
                        </a:defRPr>
                      </a:pPr>
                      <a:r>
                        <a:t>0.872</a:t>
                      </a:r>
                    </a:p>
                  </a:txBody>
                  <a:tcPr marL="73152" marR="73152" marT="27432" marB="27432" anchor="ctr">
                    <a:solidFill>
                      <a:srgbClr val="D9E8F5"/>
                    </a:solidFill>
                  </a:tcPr>
                </a:tc>
                <a:tc>
                  <a:txBody>
                    <a:bodyPr/>
                    <a:lstStyle/>
                    <a:p>
                      <a:pPr algn="ctr">
                        <a:defRPr sz="1350" b="1">
                          <a:solidFill>
                            <a:srgbClr val="004880"/>
                          </a:solidFill>
                          <a:latin typeface="Calibri"/>
                        </a:defRPr>
                      </a:pPr>
                      <a:r>
                        <a:t>0.357</a:t>
                      </a:r>
                    </a:p>
                  </a:txBody>
                  <a:tcPr marL="73152" marR="73152" marT="27432" marB="27432" anchor="ctr">
                    <a:solidFill>
                      <a:srgbClr val="D9E8F5"/>
                    </a:solidFill>
                  </a:tcPr>
                </a:tc>
              </a:tr>
            </a:tbl>
          </a:graphicData>
        </a:graphic>
      </p:graphicFrame>
      <p:sp>
        <p:nvSpPr>
          <p:cNvPr id="97" name="TextBox 96"/>
          <p:cNvSpPr txBox="1"/>
          <p:nvPr/>
        </p:nvSpPr>
        <p:spPr>
          <a:xfrm>
            <a:off x="868680" y="29306519"/>
            <a:ext cx="13862304" cy="292608"/>
          </a:xfrm>
          <a:prstGeom prst="rect">
            <a:avLst/>
          </a:prstGeom>
          <a:noFill/>
        </p:spPr>
        <p:txBody>
          <a:bodyPr wrap="square" tIns="0">
            <a:spAutoFit/>
          </a:bodyPr>
          <a:lstStyle/>
          <a:p>
            <a:pPr algn="ctr">
              <a:defRPr sz="1650" b="1">
                <a:solidFill>
                  <a:srgbClr val="004880"/>
                </a:solidFill>
                <a:latin typeface="Calibri"/>
              </a:defRPr>
            </a:pPr>
            <a:r>
              <a:t>Table 1: Controlled component ablation on official RFMiD test split (shared 15-epoch training recipe).</a:t>
            </a:r>
          </a:p>
        </p:txBody>
      </p:sp>
      <p:sp>
        <p:nvSpPr>
          <p:cNvPr id="98" name="TextBox 97"/>
          <p:cNvSpPr txBox="1"/>
          <p:nvPr/>
        </p:nvSpPr>
        <p:spPr>
          <a:xfrm>
            <a:off x="868680" y="29690568"/>
            <a:ext cx="13862304" cy="3474720"/>
          </a:xfrm>
          <a:prstGeom prst="rect">
            <a:avLst/>
          </a:prstGeom>
          <a:noFill/>
        </p:spPr>
        <p:txBody>
          <a:bodyPr wrap="square" tIns="0" lIns="0" rIns="0">
            <a:spAutoFit/>
          </a:bodyPr>
          <a:lstStyle/>
          <a:p>
            <a:pPr>
              <a:lnSpc>
                <a:spcPct val="115000"/>
              </a:lnSpc>
              <a:spcAft>
                <a:spcPts val="400"/>
              </a:spcAft>
            </a:pPr>
            <a:r>
              <a:rPr sz="1800" b="1">
                <a:solidFill>
                  <a:srgbClr val="004880"/>
                </a:solidFill>
                <a:latin typeface="Calibri"/>
              </a:rPr>
              <a:t>• Pretraining Efficiency vs Full Fine-Tuning: </a:t>
            </a:r>
            <a:r>
              <a:rPr sz="1800">
                <a:solidFill>
                  <a:srgbClr val="000000"/>
                </a:solidFill>
                <a:latin typeface="Calibri"/>
              </a:rPr>
              <a:t>RETFound frozen head-only (0.8% trainable params) achieves 0.877 AUC, outperforming fully fine-tuned ImageNet ResNet-50 (0.867) and EfficientNet-B3 (0.819). Adding LoRA (r=16) gains +0.005 AUC and +0.032 AUPRC for only 1.6M additional parameters.</a:t>
            </a:r>
          </a:p>
          <a:p>
            <a:pPr>
              <a:lnSpc>
                <a:spcPct val="115000"/>
              </a:lnSpc>
              <a:spcAft>
                <a:spcPts val="400"/>
              </a:spcAft>
            </a:pPr>
            <a:r>
              <a:rPr sz="1800" b="1">
                <a:solidFill>
                  <a:srgbClr val="004880"/>
                </a:solidFill>
                <a:latin typeface="Calibri"/>
              </a:rPr>
              <a:t>• Rare Positives Trade-off: </a:t>
            </a:r>
            <a:r>
              <a:rPr sz="1800">
                <a:solidFill>
                  <a:srgbClr val="000000"/>
                </a:solidFill>
                <a:latin typeface="Calibri"/>
              </a:rPr>
              <a:t>Full fine-tuning of ViT-B/16 on ImageNet reaches higher AUPRC (0.472 vs 0.392) by updating all 85.8M weights. Foundation models excel at ranking efficiency on constrained institutional GPU budgets, while full tuning retrieves rare positives better.</a:t>
            </a:r>
          </a:p>
          <a:p>
            <a:pPr>
              <a:lnSpc>
                <a:spcPct val="115000"/>
              </a:lnSpc>
              <a:spcAft>
                <a:spcPts val="0"/>
              </a:spcAft>
            </a:pPr>
            <a:r>
              <a:rPr sz="1800" b="1">
                <a:solidFill>
                  <a:srgbClr val="004880"/>
                </a:solidFill>
                <a:latin typeface="Calibri"/>
              </a:rPr>
              <a:t>• Distribution Alignment &amp; CLAHE Penalty: </a:t>
            </a:r>
            <a:r>
              <a:rPr sz="1800">
                <a:solidFill>
                  <a:srgbClr val="000000"/>
                </a:solidFill>
                <a:latin typeface="Calibri"/>
              </a:rPr>
              <a:t>Replacing ImageNet normalization with dataset-specific channel statistics collapses AUC by 0.054 and AUPRC by 0.107. CLAHE contrast equalisation reduces AUC by 0.016 by stripping subtle vascular diagnostic cues.</a:t>
            </a:r>
          </a:p>
        </p:txBody>
      </p:sp>
      <p:sp>
        <p:nvSpPr>
          <p:cNvPr id="99" name="Rounded Rectangle 98"/>
          <p:cNvSpPr/>
          <p:nvPr/>
        </p:nvSpPr>
        <p:spPr>
          <a:xfrm>
            <a:off x="4142232" y="3291840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Clinical Knowledge Graph &amp; Gating</a:t>
            </a:r>
          </a:p>
        </p:txBody>
      </p:sp>
      <p:sp>
        <p:nvSpPr>
          <p:cNvPr id="100" name="TextBox 99"/>
          <p:cNvSpPr txBox="1"/>
          <p:nvPr/>
        </p:nvSpPr>
        <p:spPr>
          <a:xfrm>
            <a:off x="868680" y="33512760"/>
            <a:ext cx="13862304" cy="7315200"/>
          </a:xfrm>
          <a:prstGeom prst="rect">
            <a:avLst/>
          </a:prstGeom>
          <a:noFill/>
        </p:spPr>
        <p:txBody>
          <a:bodyPr wrap="square" tIns="0" lIns="0" rIns="0">
            <a:spAutoFit/>
          </a:bodyPr>
          <a:lstStyle/>
          <a:p>
            <a:pPr>
              <a:lnSpc>
                <a:spcPct val="115000"/>
              </a:lnSpc>
              <a:spcAft>
                <a:spcPts val="500"/>
              </a:spcAft>
            </a:pPr>
            <a:r>
              <a:rPr sz="1850" b="1">
                <a:solidFill>
                  <a:srgbClr val="004880"/>
                </a:solidFill>
                <a:latin typeface="Calibri"/>
              </a:rPr>
              <a:t>• Evidence-Based Clinical Ontology: </a:t>
            </a:r>
            <a:r>
              <a:rPr sz="1850">
                <a:solidFill>
                  <a:srgbClr val="000000"/>
                </a:solidFill>
                <a:latin typeface="Calibri"/>
              </a:rPr>
              <a:t>24 disease nodes and 54 typed edges curated from American Academy of Ophthalmology (AAO) Preferred Practice Patterns, AREDS-39, and Uganda Ministry of Health Guidelines (2024). Spans vascular, degenerative, glaucomatous, and inflammatory taxonomy.</a:t>
            </a:r>
          </a:p>
          <a:p>
            <a:pPr>
              <a:lnSpc>
                <a:spcPct val="115000"/>
              </a:lnSpc>
              <a:spcAft>
                <a:spcPts val="500"/>
              </a:spcAft>
            </a:pPr>
            <a:r>
              <a:rPr sz="1850" b="1">
                <a:solidFill>
                  <a:srgbClr val="004880"/>
                </a:solidFill>
                <a:latin typeface="Calibri"/>
              </a:rPr>
              <a:t>• Uganda-Specific Epidemiological Weighting: </a:t>
            </a:r>
            <a:r>
              <a:rPr sz="1850">
                <a:solidFill>
                  <a:srgbClr val="000000"/>
                </a:solidFill>
                <a:latin typeface="Calibri"/>
              </a:rPr>
              <a:t>Attaches localized clinical prevalence factors for 6 priority conditions (diabetic retinopathy, optic disc cupping/glaucoma, retinal vein occlusions, macular scars) reflecting East African disease burdens.</a:t>
            </a:r>
          </a:p>
          <a:p>
            <a:pPr>
              <a:lnSpc>
                <a:spcPct val="115000"/>
              </a:lnSpc>
              <a:spcAft>
                <a:spcPts val="500"/>
              </a:spcAft>
            </a:pPr>
            <a:r>
              <a:rPr sz="1850" b="1">
                <a:solidFill>
                  <a:srgbClr val="004880"/>
                </a:solidFill>
                <a:latin typeface="Calibri"/>
              </a:rPr>
              <a:t>• Monotonic Risk Stratification: </a:t>
            </a:r>
            <a:r>
              <a:rPr sz="1850">
                <a:solidFill>
                  <a:srgbClr val="000000"/>
                </a:solidFill>
                <a:latin typeface="Calibri"/>
              </a:rPr>
              <a:t>Under calibrated sensitivity-targeted thresholds, the symbolic graph cleanly stratifies referral priority: 84.5% routed to Urgent (86.9% confirmed true pathology), 10.8% to Routine (47.8%), and 4.7% to Follow-up (10.0%).</a:t>
            </a:r>
          </a:p>
          <a:p>
            <a:pPr>
              <a:lnSpc>
                <a:spcPct val="115000"/>
              </a:lnSpc>
              <a:spcAft>
                <a:spcPts val="500"/>
              </a:spcAft>
            </a:pPr>
            <a:r>
              <a:rPr sz="1850" b="1">
                <a:solidFill>
                  <a:srgbClr val="004880"/>
                </a:solidFill>
                <a:latin typeface="Calibri"/>
              </a:rPr>
              <a:t>• Transparent Synergistic Scope: </a:t>
            </a:r>
            <a:r>
              <a:rPr sz="1850">
                <a:solidFill>
                  <a:srgbClr val="000000"/>
                </a:solidFill>
                <a:latin typeface="Calibri"/>
              </a:rPr>
              <a:t>Co-occurrence rules alter only 12.7% of predictions because 21 rare partner classes were dropped from RFMiD for having &lt;10 training positives. OptiscanAI explicitly bounds claims rather than asserting unverified global synergy.</a:t>
            </a:r>
          </a:p>
          <a:p>
            <a:pPr>
              <a:lnSpc>
                <a:spcPct val="115000"/>
              </a:lnSpc>
              <a:spcAft>
                <a:spcPts val="500"/>
              </a:spcAft>
            </a:pPr>
            <a:r>
              <a:rPr sz="1850" b="1">
                <a:solidFill>
                  <a:srgbClr val="004880"/>
                </a:solidFill>
                <a:latin typeface="Calibri"/>
              </a:rPr>
              <a:t>• Frontline Usability &amp; Recapture Guidance: </a:t>
            </a:r>
            <a:r>
              <a:rPr sz="1850">
                <a:solidFill>
                  <a:srgbClr val="000000"/>
                </a:solidFill>
                <a:latin typeface="Calibri"/>
              </a:rPr>
              <a:t>The cascaded quality filter provides explicit failure codes (low focus sharpness, improper pupil centering, underexposure) enabling community health extension workers to recapture diagnostic-grade fundus photos immediately.</a:t>
            </a:r>
          </a:p>
          <a:p>
            <a:pPr>
              <a:lnSpc>
                <a:spcPct val="115000"/>
              </a:lnSpc>
              <a:spcAft>
                <a:spcPts val="0"/>
              </a:spcAft>
            </a:pPr>
            <a:r>
              <a:rPr sz="1850" b="1">
                <a:solidFill>
                  <a:srgbClr val="004880"/>
                </a:solidFill>
                <a:latin typeface="Calibri"/>
              </a:rPr>
              <a:t>• Human-in-the-Loop Clinical Safeguards: </a:t>
            </a:r>
            <a:r>
              <a:rPr sz="1850">
                <a:solidFill>
                  <a:srgbClr val="000000"/>
                </a:solidFill>
                <a:latin typeface="Calibri"/>
              </a:rPr>
              <a:t>All AI triage outputs include calibrated confidence scores and attribution maps, requiring final sign-off by a visiting ophthalmic clinical officer (OCO) rather than making automated autonomous clinical judgments.</a:t>
            </a:r>
          </a:p>
        </p:txBody>
      </p:sp>
      <p:sp>
        <p:nvSpPr>
          <p:cNvPr id="101" name="Rounded Rectangle 100"/>
          <p:cNvSpPr/>
          <p:nvPr/>
        </p:nvSpPr>
        <p:spPr>
          <a:xfrm>
            <a:off x="18918935" y="781812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Results &amp; Clinical Validation</a:t>
            </a:r>
          </a:p>
        </p:txBody>
      </p:sp>
      <p:sp>
        <p:nvSpPr>
          <p:cNvPr id="102" name="TextBox 101"/>
          <p:cNvSpPr txBox="1"/>
          <p:nvPr/>
        </p:nvSpPr>
        <p:spPr>
          <a:xfrm>
            <a:off x="15645384" y="8412480"/>
            <a:ext cx="13862304" cy="2834640"/>
          </a:xfrm>
          <a:prstGeom prst="rect">
            <a:avLst/>
          </a:prstGeom>
          <a:noFill/>
        </p:spPr>
        <p:txBody>
          <a:bodyPr wrap="square" tIns="0" lIns="0" rIns="0">
            <a:spAutoFit/>
          </a:bodyPr>
          <a:lstStyle/>
          <a:p>
            <a:pPr>
              <a:lnSpc>
                <a:spcPct val="115000"/>
              </a:lnSpc>
              <a:spcAft>
                <a:spcPts val="400"/>
              </a:spcAft>
            </a:pPr>
            <a:r>
              <a:rPr sz="1800" b="1">
                <a:solidFill>
                  <a:srgbClr val="004880"/>
                </a:solidFill>
                <a:latin typeface="Calibri"/>
              </a:rPr>
              <a:t>• Macro Discrimination (24 Diseases): </a:t>
            </a:r>
            <a:r>
              <a:rPr sz="1800">
                <a:solidFill>
                  <a:srgbClr val="000000"/>
                </a:solidFill>
                <a:latin typeface="Calibri"/>
              </a:rPr>
              <a:t>Evaluated strictly on the held-out 640-image RFMiD test partition, OptiscanAI achieves 0.872 macro AUC-ROC (95% CI: 0.846–0.896) and 0.357 macro AUPRC across all 24 held-out diagnostic conditions.</a:t>
            </a:r>
          </a:p>
          <a:p>
            <a:pPr>
              <a:lnSpc>
                <a:spcPct val="115000"/>
              </a:lnSpc>
              <a:spcAft>
                <a:spcPts val="400"/>
              </a:spcAft>
            </a:pPr>
            <a:r>
              <a:rPr sz="1800" b="1">
                <a:solidFill>
                  <a:srgbClr val="004880"/>
                </a:solidFill>
                <a:latin typeface="Calibri"/>
              </a:rPr>
              <a:t>• High-Prevalence Accuracy: </a:t>
            </a:r>
            <a:r>
              <a:rPr sz="1800">
                <a:solidFill>
                  <a:srgbClr val="000000"/>
                </a:solidFill>
                <a:latin typeface="Calibri"/>
              </a:rPr>
              <a:t>Outstanding diagnostic accuracy on major preventable conditions: Myopia (AUC 0.996), Media Haze (0.974), Macular Degeneration (0.972), and Diabetic Retinopathy (0.967, AUPRC 0.873).</a:t>
            </a:r>
          </a:p>
          <a:p>
            <a:pPr>
              <a:lnSpc>
                <a:spcPct val="115000"/>
              </a:lnSpc>
              <a:spcAft>
                <a:spcPts val="400"/>
              </a:spcAft>
            </a:pPr>
            <a:r>
              <a:rPr sz="1800" b="1">
                <a:solidFill>
                  <a:srgbClr val="004880"/>
                </a:solidFill>
                <a:latin typeface="Calibri"/>
              </a:rPr>
              <a:t>• Power Bounds on Rare Classes: </a:t>
            </a:r>
            <a:r>
              <a:rPr sz="1800">
                <a:solidFill>
                  <a:srgbClr val="000000"/>
                </a:solidFill>
                <a:latin typeface="Calibri"/>
              </a:rPr>
              <a:t>Diagnostic accuracy tracks positive training sample count (Fig. 2b); rare conditions (&lt;20 test positives) exhibit wider bootstrap confidence intervals and require prospective validation.</a:t>
            </a:r>
          </a:p>
          <a:p>
            <a:pPr>
              <a:lnSpc>
                <a:spcPct val="115000"/>
              </a:lnSpc>
              <a:spcAft>
                <a:spcPts val="0"/>
              </a:spcAft>
            </a:pPr>
            <a:r>
              <a:rPr sz="1800" b="1">
                <a:solidFill>
                  <a:srgbClr val="004880"/>
                </a:solidFill>
                <a:latin typeface="Calibri"/>
              </a:rPr>
              <a:t>• Binary Referral Triage: </a:t>
            </a:r>
            <a:r>
              <a:rPr sz="1800">
                <a:solidFill>
                  <a:srgbClr val="000000"/>
                </a:solidFill>
                <a:latin typeface="Calibri"/>
              </a:rPr>
              <a:t>High discriminative power for referral screening (AUC 0.952; Sensitivity 95.5%, Specificity 73.1%), safely sorting urgent specialist cases from routine checks.</a:t>
            </a:r>
          </a:p>
        </p:txBody>
      </p:sp>
      <p:pic>
        <p:nvPicPr>
          <p:cNvPr id="103" name="Picture 102" descr="fig2_poster.png"/>
          <p:cNvPicPr>
            <a:picLocks noChangeAspect="1"/>
          </p:cNvPicPr>
          <p:nvPr/>
        </p:nvPicPr>
        <p:blipFill>
          <a:blip r:embed="rId14"/>
          <a:stretch>
            <a:fillRect/>
          </a:stretch>
        </p:blipFill>
        <p:spPr>
          <a:xfrm>
            <a:off x="15828263" y="11521440"/>
            <a:ext cx="13496544" cy="3566160"/>
          </a:xfrm>
          <a:prstGeom prst="rect">
            <a:avLst/>
          </a:prstGeom>
        </p:spPr>
      </p:pic>
      <p:sp>
        <p:nvSpPr>
          <p:cNvPr id="104" name="TextBox 103"/>
          <p:cNvSpPr txBox="1"/>
          <p:nvPr/>
        </p:nvSpPr>
        <p:spPr>
          <a:xfrm>
            <a:off x="15645384" y="15179040"/>
            <a:ext cx="13862304" cy="320040"/>
          </a:xfrm>
          <a:prstGeom prst="rect">
            <a:avLst/>
          </a:prstGeom>
          <a:noFill/>
        </p:spPr>
        <p:txBody>
          <a:bodyPr wrap="square" tIns="0">
            <a:spAutoFit/>
          </a:bodyPr>
          <a:lstStyle/>
          <a:p>
            <a:pPr algn="ctr">
              <a:defRPr sz="1650" b="1">
                <a:solidFill>
                  <a:srgbClr val="004880"/>
                </a:solidFill>
                <a:latin typeface="Calibri"/>
              </a:defRPr>
            </a:pPr>
            <a:r>
              <a:t>Fig. 2: Empirical test evidence: (a) Calibration reliability; (b) AUC vs prevalence; (c) Binary referral ROC (AUC 0.952).</a:t>
            </a:r>
          </a:p>
        </p:txBody>
      </p:sp>
      <p:pic>
        <p:nvPicPr>
          <p:cNvPr id="105" name="Picture 104" descr="fig3_cases.png"/>
          <p:cNvPicPr>
            <a:picLocks noChangeAspect="1"/>
          </p:cNvPicPr>
          <p:nvPr/>
        </p:nvPicPr>
        <p:blipFill>
          <a:blip r:embed="rId15"/>
          <a:stretch>
            <a:fillRect/>
          </a:stretch>
        </p:blipFill>
        <p:spPr>
          <a:xfrm>
            <a:off x="15828263" y="15745967"/>
            <a:ext cx="13496544" cy="3017520"/>
          </a:xfrm>
          <a:prstGeom prst="rect">
            <a:avLst/>
          </a:prstGeom>
        </p:spPr>
      </p:pic>
      <p:sp>
        <p:nvSpPr>
          <p:cNvPr id="106" name="TextBox 105"/>
          <p:cNvSpPr txBox="1"/>
          <p:nvPr/>
        </p:nvSpPr>
        <p:spPr>
          <a:xfrm>
            <a:off x="15645384" y="18836640"/>
            <a:ext cx="13862304" cy="438912"/>
          </a:xfrm>
          <a:prstGeom prst="rect">
            <a:avLst/>
          </a:prstGeom>
          <a:noFill/>
        </p:spPr>
        <p:txBody>
          <a:bodyPr wrap="square" tIns="0">
            <a:spAutoFit/>
          </a:bodyPr>
          <a:lstStyle/>
          <a:p>
            <a:pPr algn="ctr">
              <a:defRPr sz="1650" b="1">
                <a:solidFill>
                  <a:srgbClr val="004880"/>
                </a:solidFill>
                <a:latin typeface="Calibri"/>
              </a:defRPr>
            </a:pPr>
            <a:r>
              <a:t>Fig. 3: Representative held-out fundus screening cases with automated triage referral actions (Green: Routine; Red/Amber: Urgent Referral).</a:t>
            </a:r>
          </a:p>
        </p:txBody>
      </p:sp>
      <p:sp>
        <p:nvSpPr>
          <p:cNvPr id="107" name="Rounded Rectangle 106"/>
          <p:cNvSpPr/>
          <p:nvPr/>
        </p:nvSpPr>
        <p:spPr>
          <a:xfrm>
            <a:off x="18918935" y="1956816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Quantitative Outcomes</a:t>
            </a:r>
          </a:p>
        </p:txBody>
      </p:sp>
      <p:sp>
        <p:nvSpPr>
          <p:cNvPr id="108" name="TextBox 107"/>
          <p:cNvSpPr txBox="1"/>
          <p:nvPr/>
        </p:nvSpPr>
        <p:spPr>
          <a:xfrm>
            <a:off x="15645384" y="20162520"/>
            <a:ext cx="13862304" cy="2651760"/>
          </a:xfrm>
          <a:prstGeom prst="rect">
            <a:avLst/>
          </a:prstGeom>
          <a:noFill/>
        </p:spPr>
        <p:txBody>
          <a:bodyPr wrap="square" tIns="0" lIns="0" rIns="0">
            <a:spAutoFit/>
          </a:bodyPr>
          <a:lstStyle/>
          <a:p>
            <a:pPr>
              <a:lnSpc>
                <a:spcPct val="115000"/>
              </a:lnSpc>
              <a:spcAft>
                <a:spcPts val="400"/>
              </a:spcAft>
            </a:pPr>
            <a:r>
              <a:rPr sz="1800" b="1">
                <a:solidFill>
                  <a:srgbClr val="004880"/>
                </a:solidFill>
                <a:latin typeface="Calibri"/>
              </a:rPr>
              <a:t>• Probability Calibration Fix: </a:t>
            </a:r>
            <a:r>
              <a:rPr sz="1800">
                <a:solidFill>
                  <a:srgbClr val="000000"/>
                </a:solidFill>
                <a:latin typeface="Calibri"/>
              </a:rPr>
              <a:t>Raw model probabilities suffer severe over-confidence (mean 0.251 vs 0.042 empirical rate; ECE 0.209), causing precision-floor thresholds to silence 5 disease channels. Monotone Platt scaling resolves ECE to 0.003 while strictly preserving ROC ranking.</a:t>
            </a:r>
          </a:p>
          <a:p>
            <a:pPr>
              <a:lnSpc>
                <a:spcPct val="115000"/>
              </a:lnSpc>
              <a:spcAft>
                <a:spcPts val="400"/>
              </a:spcAft>
            </a:pPr>
            <a:r>
              <a:rPr sz="1800" b="1">
                <a:solidFill>
                  <a:srgbClr val="004880"/>
                </a:solidFill>
                <a:latin typeface="Calibri"/>
              </a:rPr>
              <a:t>• Operating Policy Optimization: </a:t>
            </a:r>
            <a:r>
              <a:rPr sz="1800">
                <a:solidFill>
                  <a:srgbClr val="000000"/>
                </a:solidFill>
                <a:latin typeface="Calibri"/>
              </a:rPr>
              <a:t>Sensitivity target ≥ 0.90 restores detection across all 24 diseases (0 silent channels vs 6 uniform, 5 precision floor) with 81.1% sensitivity.</a:t>
            </a:r>
          </a:p>
          <a:p>
            <a:pPr>
              <a:lnSpc>
                <a:spcPct val="115000"/>
              </a:lnSpc>
              <a:spcAft>
                <a:spcPts val="0"/>
              </a:spcAft>
            </a:pPr>
            <a:r>
              <a:rPr sz="1800" b="1">
                <a:solidFill>
                  <a:srgbClr val="004880"/>
                </a:solidFill>
                <a:latin typeface="Calibri"/>
              </a:rPr>
              <a:t>• INT8 Dynamic Quantization: </a:t>
            </a:r>
            <a:r>
              <a:rPr sz="1800">
                <a:solidFill>
                  <a:srgbClr val="000000"/>
                </a:solidFill>
                <a:latin typeface="Calibri"/>
              </a:rPr>
              <a:t>Compresses model footprint by 74.7% (1224 MB → 310 MB) while preserving AUC (0.872 → 0.873). Distilled MobileNetV3 student operates at 5.4 MB ONNX and 102 ms median latency with 99.6% decision concordance.</a:t>
            </a:r>
          </a:p>
        </p:txBody>
      </p:sp>
      <p:graphicFrame>
        <p:nvGraphicFramePr>
          <p:cNvPr id="109" name="Table 108"/>
          <p:cNvGraphicFramePr>
            <a:graphicFrameLocks noGrp="1"/>
          </p:cNvGraphicFramePr>
          <p:nvPr/>
        </p:nvGraphicFramePr>
        <p:xfrm>
          <a:off x="15828263" y="22631400"/>
          <a:ext cx="13496544" cy="2194560"/>
        </p:xfrm>
        <a:graphic>
          <a:graphicData uri="http://schemas.openxmlformats.org/drawingml/2006/table">
            <a:tbl>
              <a:tblPr firstRow="1" bandRow="1">
                <a:tableStyleId>{5C22544A-7EE6-4342-B048-85BDC9FD1C3A}</a:tableStyleId>
              </a:tblPr>
              <a:tblGrid>
                <a:gridCol w="5449824"/>
                <a:gridCol w="2011680"/>
                <a:gridCol w="2011680"/>
                <a:gridCol w="2011680"/>
                <a:gridCol w="2011680"/>
              </a:tblGrid>
              <a:tr h="365760">
                <a:tc>
                  <a:txBody>
                    <a:bodyPr/>
                    <a:lstStyle/>
                    <a:p>
                      <a:pPr algn="l">
                        <a:defRPr sz="1500" b="1">
                          <a:solidFill>
                            <a:srgbClr val="FFFFFF"/>
                          </a:solidFill>
                          <a:latin typeface="Calibri"/>
                        </a:defRPr>
                      </a:pPr>
                      <a:r>
                        <a:t>Screening Caseload Population</a:t>
                      </a:r>
                    </a:p>
                  </a:txBody>
                  <a:tcPr marL="73152" marR="73152" marT="27432" marB="27432" anchor="ctr">
                    <a:solidFill>
                      <a:srgbClr val="0070C0"/>
                    </a:solidFill>
                  </a:tcPr>
                </a:tc>
                <a:tc>
                  <a:txBody>
                    <a:bodyPr/>
                    <a:lstStyle/>
                    <a:p>
                      <a:pPr algn="ctr">
                        <a:defRPr sz="1500" b="1">
                          <a:solidFill>
                            <a:srgbClr val="FFFFFF"/>
                          </a:solidFill>
                          <a:latin typeface="Calibri"/>
                        </a:defRPr>
                      </a:pPr>
                      <a:r>
                        <a:t>Prevalence</a:t>
                      </a:r>
                    </a:p>
                  </a:txBody>
                  <a:tcPr marL="73152" marR="73152" marT="27432" marB="27432" anchor="ctr">
                    <a:solidFill>
                      <a:srgbClr val="0070C0"/>
                    </a:solidFill>
                  </a:tcPr>
                </a:tc>
                <a:tc>
                  <a:txBody>
                    <a:bodyPr/>
                    <a:lstStyle/>
                    <a:p>
                      <a:pPr algn="ctr">
                        <a:defRPr sz="1500" b="1">
                          <a:solidFill>
                            <a:srgbClr val="FFFFFF"/>
                          </a:solidFill>
                          <a:latin typeface="Calibri"/>
                        </a:defRPr>
                      </a:pPr>
                      <a:r>
                        <a:t>PPV</a:t>
                      </a:r>
                    </a:p>
                  </a:txBody>
                  <a:tcPr marL="73152" marR="73152" marT="27432" marB="27432" anchor="ctr">
                    <a:solidFill>
                      <a:srgbClr val="0070C0"/>
                    </a:solidFill>
                  </a:tcPr>
                </a:tc>
                <a:tc>
                  <a:txBody>
                    <a:bodyPr/>
                    <a:lstStyle/>
                    <a:p>
                      <a:pPr algn="ctr">
                        <a:defRPr sz="1500" b="1">
                          <a:solidFill>
                            <a:srgbClr val="FFFFFF"/>
                          </a:solidFill>
                          <a:latin typeface="Calibri"/>
                        </a:defRPr>
                      </a:pPr>
                      <a:r>
                        <a:t>NPV</a:t>
                      </a:r>
                    </a:p>
                  </a:txBody>
                  <a:tcPr marL="73152" marR="73152" marT="27432" marB="27432" anchor="ctr">
                    <a:solidFill>
                      <a:srgbClr val="0070C0"/>
                    </a:solidFill>
                  </a:tcPr>
                </a:tc>
                <a:tc>
                  <a:txBody>
                    <a:bodyPr/>
                    <a:lstStyle/>
                    <a:p>
                      <a:pPr algn="ctr">
                        <a:defRPr sz="1500" b="1">
                          <a:solidFill>
                            <a:srgbClr val="FFFFFF"/>
                          </a:solidFill>
                          <a:latin typeface="Calibri"/>
                        </a:defRPr>
                      </a:pPr>
                      <a:r>
                        <a:t>Referral %</a:t>
                      </a:r>
                    </a:p>
                  </a:txBody>
                  <a:tcPr marL="73152" marR="73152" marT="27432" marB="27432" anchor="ctr">
                    <a:solidFill>
                      <a:srgbClr val="0070C0"/>
                    </a:solidFill>
                  </a:tcPr>
                </a:tc>
              </a:tr>
              <a:tr h="365760">
                <a:tc>
                  <a:txBody>
                    <a:bodyPr/>
                    <a:lstStyle/>
                    <a:p>
                      <a:pPr algn="l">
                        <a:defRPr sz="1350" b="1">
                          <a:solidFill>
                            <a:srgbClr val="004880"/>
                          </a:solidFill>
                          <a:latin typeface="Calibri"/>
                        </a:defRPr>
                      </a:pPr>
                      <a:r>
                        <a:t>RFMiD Held-Out Test (Benchmark)</a:t>
                      </a:r>
                    </a:p>
                  </a:txBody>
                  <a:tcPr marL="73152" marR="73152" marT="27432" marB="27432" anchor="ctr">
                    <a:solidFill>
                      <a:srgbClr val="D9E8F5"/>
                    </a:solidFill>
                  </a:tcPr>
                </a:tc>
                <a:tc>
                  <a:txBody>
                    <a:bodyPr/>
                    <a:lstStyle/>
                    <a:p>
                      <a:pPr algn="ctr">
                        <a:defRPr sz="1350" b="1">
                          <a:solidFill>
                            <a:srgbClr val="004880"/>
                          </a:solidFill>
                          <a:latin typeface="Calibri"/>
                        </a:defRPr>
                      </a:pPr>
                      <a:r>
                        <a:t>79.0 %</a:t>
                      </a:r>
                    </a:p>
                  </a:txBody>
                  <a:tcPr marL="73152" marR="73152" marT="27432" marB="27432" anchor="ctr">
                    <a:solidFill>
                      <a:srgbClr val="D9E8F5"/>
                    </a:solidFill>
                  </a:tcPr>
                </a:tc>
                <a:tc>
                  <a:txBody>
                    <a:bodyPr/>
                    <a:lstStyle/>
                    <a:p>
                      <a:pPr algn="ctr">
                        <a:defRPr sz="1350" b="1">
                          <a:solidFill>
                            <a:srgbClr val="004880"/>
                          </a:solidFill>
                          <a:latin typeface="Calibri"/>
                        </a:defRPr>
                      </a:pPr>
                      <a:r>
                        <a:t>0.931</a:t>
                      </a:r>
                    </a:p>
                  </a:txBody>
                  <a:tcPr marL="73152" marR="73152" marT="27432" marB="27432" anchor="ctr">
                    <a:solidFill>
                      <a:srgbClr val="D9E8F5"/>
                    </a:solidFill>
                  </a:tcPr>
                </a:tc>
                <a:tc>
                  <a:txBody>
                    <a:bodyPr/>
                    <a:lstStyle/>
                    <a:p>
                      <a:pPr algn="ctr">
                        <a:defRPr sz="1350" b="1">
                          <a:solidFill>
                            <a:srgbClr val="004880"/>
                          </a:solidFill>
                          <a:latin typeface="Calibri"/>
                        </a:defRPr>
                      </a:pPr>
                      <a:r>
                        <a:t>0.810</a:t>
                      </a:r>
                    </a:p>
                  </a:txBody>
                  <a:tcPr marL="73152" marR="73152" marT="27432" marB="27432" anchor="ctr">
                    <a:solidFill>
                      <a:srgbClr val="D9E8F5"/>
                    </a:solidFill>
                  </a:tcPr>
                </a:tc>
                <a:tc>
                  <a:txBody>
                    <a:bodyPr/>
                    <a:lstStyle/>
                    <a:p>
                      <a:pPr algn="ctr">
                        <a:defRPr sz="1350" b="1">
                          <a:solidFill>
                            <a:srgbClr val="004880"/>
                          </a:solidFill>
                          <a:latin typeface="Calibri"/>
                        </a:defRPr>
                      </a:pPr>
                      <a:r>
                        <a:t>81.0 %</a:t>
                      </a:r>
                    </a:p>
                  </a:txBody>
                  <a:tcPr marL="73152" marR="73152" marT="27432" marB="27432" anchor="ctr">
                    <a:solidFill>
                      <a:srgbClr val="D9E8F5"/>
                    </a:solidFill>
                  </a:tcPr>
                </a:tc>
              </a:tr>
              <a:tr h="365760">
                <a:tc>
                  <a:txBody>
                    <a:bodyPr/>
                    <a:lstStyle/>
                    <a:p>
                      <a:pPr algn="l">
                        <a:defRPr sz="1350" b="1">
                          <a:solidFill>
                            <a:srgbClr val="000000"/>
                          </a:solidFill>
                          <a:latin typeface="Calibri"/>
                        </a:defRPr>
                      </a:pPr>
                      <a:r>
                        <a:t>Specialized Eye Clinic (Projected)</a:t>
                      </a:r>
                    </a:p>
                  </a:txBody>
                  <a:tcPr marL="73152" marR="73152" marT="27432" marB="27432" anchor="ctr">
                    <a:solidFill>
                      <a:srgbClr val="EEF4FA"/>
                    </a:solidFill>
                  </a:tcPr>
                </a:tc>
                <a:tc>
                  <a:txBody>
                    <a:bodyPr/>
                    <a:lstStyle/>
                    <a:p>
                      <a:pPr algn="ctr">
                        <a:defRPr sz="1350" b="0">
                          <a:solidFill>
                            <a:srgbClr val="000000"/>
                          </a:solidFill>
                          <a:latin typeface="Calibri"/>
                        </a:defRPr>
                      </a:pPr>
                      <a:r>
                        <a:t>30.0 %</a:t>
                      </a:r>
                    </a:p>
                  </a:txBody>
                  <a:tcPr marL="73152" marR="73152" marT="27432" marB="27432" anchor="ctr">
                    <a:solidFill>
                      <a:srgbClr val="EEF4FA"/>
                    </a:solidFill>
                  </a:tcPr>
                </a:tc>
                <a:tc>
                  <a:txBody>
                    <a:bodyPr/>
                    <a:lstStyle/>
                    <a:p>
                      <a:pPr algn="ctr">
                        <a:defRPr sz="1350" b="0">
                          <a:solidFill>
                            <a:srgbClr val="000000"/>
                          </a:solidFill>
                          <a:latin typeface="Calibri"/>
                        </a:defRPr>
                      </a:pPr>
                      <a:r>
                        <a:t>0.604</a:t>
                      </a:r>
                    </a:p>
                  </a:txBody>
                  <a:tcPr marL="73152" marR="73152" marT="27432" marB="27432" anchor="ctr">
                    <a:solidFill>
                      <a:srgbClr val="EEF4FA"/>
                    </a:solidFill>
                  </a:tcPr>
                </a:tc>
                <a:tc>
                  <a:txBody>
                    <a:bodyPr/>
                    <a:lstStyle/>
                    <a:p>
                      <a:pPr algn="ctr">
                        <a:defRPr sz="1350" b="0">
                          <a:solidFill>
                            <a:srgbClr val="000000"/>
                          </a:solidFill>
                          <a:latin typeface="Calibri"/>
                        </a:defRPr>
                      </a:pPr>
                      <a:r>
                        <a:t>0.974</a:t>
                      </a:r>
                    </a:p>
                  </a:txBody>
                  <a:tcPr marL="73152" marR="73152" marT="27432" marB="27432" anchor="ctr">
                    <a:solidFill>
                      <a:srgbClr val="EEF4FA"/>
                    </a:solidFill>
                  </a:tcPr>
                </a:tc>
                <a:tc>
                  <a:txBody>
                    <a:bodyPr/>
                    <a:lstStyle/>
                    <a:p>
                      <a:pPr algn="ctr">
                        <a:defRPr sz="1350" b="0">
                          <a:solidFill>
                            <a:srgbClr val="000000"/>
                          </a:solidFill>
                          <a:latin typeface="Calibri"/>
                        </a:defRPr>
                      </a:pPr>
                      <a:r>
                        <a:t>47.0 %</a:t>
                      </a:r>
                    </a:p>
                  </a:txBody>
                  <a:tcPr marL="73152" marR="73152" marT="27432" marB="27432" anchor="ctr">
                    <a:solidFill>
                      <a:srgbClr val="EEF4FA"/>
                    </a:solidFill>
                  </a:tcPr>
                </a:tc>
              </a:tr>
              <a:tr h="365760">
                <a:tc>
                  <a:txBody>
                    <a:bodyPr/>
                    <a:lstStyle/>
                    <a:p>
                      <a:pPr algn="l">
                        <a:defRPr sz="1350" b="1">
                          <a:solidFill>
                            <a:srgbClr val="000000"/>
                          </a:solidFill>
                          <a:latin typeface="Calibri"/>
                        </a:defRPr>
                      </a:pPr>
                      <a:r>
                        <a:t>District Hospital Triage (Projected)</a:t>
                      </a:r>
                    </a:p>
                  </a:txBody>
                  <a:tcPr marL="73152" marR="73152" marT="27432" marB="27432" anchor="ctr">
                    <a:solidFill>
                      <a:srgbClr val="FFFFFF"/>
                    </a:solidFill>
                  </a:tcPr>
                </a:tc>
                <a:tc>
                  <a:txBody>
                    <a:bodyPr/>
                    <a:lstStyle/>
                    <a:p>
                      <a:pPr algn="ctr">
                        <a:defRPr sz="1350" b="0">
                          <a:solidFill>
                            <a:srgbClr val="000000"/>
                          </a:solidFill>
                          <a:latin typeface="Calibri"/>
                        </a:defRPr>
                      </a:pPr>
                      <a:r>
                        <a:t>20.0 %</a:t>
                      </a:r>
                    </a:p>
                  </a:txBody>
                  <a:tcPr marL="73152" marR="73152" marT="27432" marB="27432" anchor="ctr">
                    <a:solidFill>
                      <a:srgbClr val="FFFFFF"/>
                    </a:solidFill>
                  </a:tcPr>
                </a:tc>
                <a:tc>
                  <a:txBody>
                    <a:bodyPr/>
                    <a:lstStyle/>
                    <a:p>
                      <a:pPr algn="ctr">
                        <a:defRPr sz="1350" b="0">
                          <a:solidFill>
                            <a:srgbClr val="000000"/>
                          </a:solidFill>
                          <a:latin typeface="Calibri"/>
                        </a:defRPr>
                      </a:pPr>
                      <a:r>
                        <a:t>0.470</a:t>
                      </a:r>
                    </a:p>
                  </a:txBody>
                  <a:tcPr marL="73152" marR="73152" marT="27432" marB="27432" anchor="ctr">
                    <a:solidFill>
                      <a:srgbClr val="FFFFFF"/>
                    </a:solidFill>
                  </a:tcPr>
                </a:tc>
                <a:tc>
                  <a:txBody>
                    <a:bodyPr/>
                    <a:lstStyle/>
                    <a:p>
                      <a:pPr algn="ctr">
                        <a:defRPr sz="1350" b="0">
                          <a:solidFill>
                            <a:srgbClr val="000000"/>
                          </a:solidFill>
                          <a:latin typeface="Calibri"/>
                        </a:defRPr>
                      </a:pPr>
                      <a:r>
                        <a:t>0.985</a:t>
                      </a:r>
                    </a:p>
                  </a:txBody>
                  <a:tcPr marL="73152" marR="73152" marT="27432" marB="27432" anchor="ctr">
                    <a:solidFill>
                      <a:srgbClr val="FFFFFF"/>
                    </a:solidFill>
                  </a:tcPr>
                </a:tc>
                <a:tc>
                  <a:txBody>
                    <a:bodyPr/>
                    <a:lstStyle/>
                    <a:p>
                      <a:pPr algn="ctr">
                        <a:defRPr sz="1350" b="0">
                          <a:solidFill>
                            <a:srgbClr val="000000"/>
                          </a:solidFill>
                          <a:latin typeface="Calibri"/>
                        </a:defRPr>
                      </a:pPr>
                      <a:r>
                        <a:t>41.0 %</a:t>
                      </a:r>
                    </a:p>
                  </a:txBody>
                  <a:tcPr marL="73152" marR="73152" marT="27432" marB="27432" anchor="ctr">
                    <a:solidFill>
                      <a:srgbClr val="FFFFFF"/>
                    </a:solidFill>
                  </a:tcPr>
                </a:tc>
              </a:tr>
              <a:tr h="365760">
                <a:tc>
                  <a:txBody>
                    <a:bodyPr/>
                    <a:lstStyle/>
                    <a:p>
                      <a:pPr algn="l">
                        <a:defRPr sz="1350" b="1">
                          <a:solidFill>
                            <a:srgbClr val="000000"/>
                          </a:solidFill>
                          <a:latin typeface="Calibri"/>
                        </a:defRPr>
                      </a:pPr>
                      <a:r>
                        <a:t>Rural Primary Care Clinic (Projected)</a:t>
                      </a:r>
                    </a:p>
                  </a:txBody>
                  <a:tcPr marL="73152" marR="73152" marT="27432" marB="27432" anchor="ctr">
                    <a:solidFill>
                      <a:srgbClr val="EEF4FA"/>
                    </a:solidFill>
                  </a:tcPr>
                </a:tc>
                <a:tc>
                  <a:txBody>
                    <a:bodyPr/>
                    <a:lstStyle/>
                    <a:p>
                      <a:pPr algn="ctr">
                        <a:defRPr sz="1350" b="0">
                          <a:solidFill>
                            <a:srgbClr val="000000"/>
                          </a:solidFill>
                          <a:latin typeface="Calibri"/>
                        </a:defRPr>
                      </a:pPr>
                      <a:r>
                        <a:t>10.0 %</a:t>
                      </a:r>
                    </a:p>
                  </a:txBody>
                  <a:tcPr marL="73152" marR="73152" marT="27432" marB="27432" anchor="ctr">
                    <a:solidFill>
                      <a:srgbClr val="EEF4FA"/>
                    </a:solidFill>
                  </a:tcPr>
                </a:tc>
                <a:tc>
                  <a:txBody>
                    <a:bodyPr/>
                    <a:lstStyle/>
                    <a:p>
                      <a:pPr algn="ctr">
                        <a:defRPr sz="1350" b="0">
                          <a:solidFill>
                            <a:srgbClr val="000000"/>
                          </a:solidFill>
                          <a:latin typeface="Calibri"/>
                        </a:defRPr>
                      </a:pPr>
                      <a:r>
                        <a:t>0.283</a:t>
                      </a:r>
                    </a:p>
                  </a:txBody>
                  <a:tcPr marL="73152" marR="73152" marT="27432" marB="27432" anchor="ctr">
                    <a:solidFill>
                      <a:srgbClr val="EEF4FA"/>
                    </a:solidFill>
                  </a:tcPr>
                </a:tc>
                <a:tc>
                  <a:txBody>
                    <a:bodyPr/>
                    <a:lstStyle/>
                    <a:p>
                      <a:pPr algn="ctr">
                        <a:defRPr sz="1350" b="0">
                          <a:solidFill>
                            <a:srgbClr val="000000"/>
                          </a:solidFill>
                          <a:latin typeface="Calibri"/>
                        </a:defRPr>
                      </a:pPr>
                      <a:r>
                        <a:t>0.993</a:t>
                      </a:r>
                    </a:p>
                  </a:txBody>
                  <a:tcPr marL="73152" marR="73152" marT="27432" marB="27432" anchor="ctr">
                    <a:solidFill>
                      <a:srgbClr val="EEF4FA"/>
                    </a:solidFill>
                  </a:tcPr>
                </a:tc>
                <a:tc>
                  <a:txBody>
                    <a:bodyPr/>
                    <a:lstStyle/>
                    <a:p>
                      <a:pPr algn="ctr">
                        <a:defRPr sz="1350" b="0">
                          <a:solidFill>
                            <a:srgbClr val="000000"/>
                          </a:solidFill>
                          <a:latin typeface="Calibri"/>
                        </a:defRPr>
                      </a:pPr>
                      <a:r>
                        <a:t>34.0 %</a:t>
                      </a:r>
                    </a:p>
                  </a:txBody>
                  <a:tcPr marL="73152" marR="73152" marT="27432" marB="27432" anchor="ctr">
                    <a:solidFill>
                      <a:srgbClr val="EEF4FA"/>
                    </a:solidFill>
                  </a:tcPr>
                </a:tc>
              </a:tr>
              <a:tr h="365760">
                <a:tc>
                  <a:txBody>
                    <a:bodyPr/>
                    <a:lstStyle/>
                    <a:p>
                      <a:pPr algn="l">
                        <a:defRPr sz="1350" b="1">
                          <a:solidFill>
                            <a:srgbClr val="000000"/>
                          </a:solidFill>
                          <a:latin typeface="Calibri"/>
                        </a:defRPr>
                      </a:pPr>
                      <a:r>
                        <a:t>Community Mobile Screening (Projected)</a:t>
                      </a:r>
                    </a:p>
                  </a:txBody>
                  <a:tcPr marL="73152" marR="73152" marT="27432" marB="27432" anchor="ctr">
                    <a:solidFill>
                      <a:srgbClr val="FFFFFF"/>
                    </a:solidFill>
                  </a:tcPr>
                </a:tc>
                <a:tc>
                  <a:txBody>
                    <a:bodyPr/>
                    <a:lstStyle/>
                    <a:p>
                      <a:pPr algn="ctr">
                        <a:defRPr sz="1350" b="0">
                          <a:solidFill>
                            <a:srgbClr val="000000"/>
                          </a:solidFill>
                          <a:latin typeface="Calibri"/>
                        </a:defRPr>
                      </a:pPr>
                      <a:r>
                        <a:t>5.0 %</a:t>
                      </a:r>
                    </a:p>
                  </a:txBody>
                  <a:tcPr marL="73152" marR="73152" marT="27432" marB="27432" anchor="ctr">
                    <a:solidFill>
                      <a:srgbClr val="FFFFFF"/>
                    </a:solidFill>
                  </a:tcPr>
                </a:tc>
                <a:tc>
                  <a:txBody>
                    <a:bodyPr/>
                    <a:lstStyle/>
                    <a:p>
                      <a:pPr algn="ctr">
                        <a:defRPr sz="1350" b="0">
                          <a:solidFill>
                            <a:srgbClr val="000000"/>
                          </a:solidFill>
                          <a:latin typeface="Calibri"/>
                        </a:defRPr>
                      </a:pPr>
                      <a:r>
                        <a:t>0.158</a:t>
                      </a:r>
                    </a:p>
                  </a:txBody>
                  <a:tcPr marL="73152" marR="73152" marT="27432" marB="27432" anchor="ctr">
                    <a:solidFill>
                      <a:srgbClr val="FFFFFF"/>
                    </a:solidFill>
                  </a:tcPr>
                </a:tc>
                <a:tc>
                  <a:txBody>
                    <a:bodyPr/>
                    <a:lstStyle/>
                    <a:p>
                      <a:pPr algn="ctr">
                        <a:defRPr sz="1350" b="0">
                          <a:solidFill>
                            <a:srgbClr val="000000"/>
                          </a:solidFill>
                          <a:latin typeface="Calibri"/>
                        </a:defRPr>
                      </a:pPr>
                      <a:r>
                        <a:t>0.997</a:t>
                      </a:r>
                    </a:p>
                  </a:txBody>
                  <a:tcPr marL="73152" marR="73152" marT="27432" marB="27432" anchor="ctr">
                    <a:solidFill>
                      <a:srgbClr val="FFFFFF"/>
                    </a:solidFill>
                  </a:tcPr>
                </a:tc>
                <a:tc>
                  <a:txBody>
                    <a:bodyPr/>
                    <a:lstStyle/>
                    <a:p>
                      <a:pPr algn="ctr">
                        <a:defRPr sz="1350" b="0">
                          <a:solidFill>
                            <a:srgbClr val="000000"/>
                          </a:solidFill>
                          <a:latin typeface="Calibri"/>
                        </a:defRPr>
                      </a:pPr>
                      <a:r>
                        <a:t>30.0 %</a:t>
                      </a:r>
                    </a:p>
                  </a:txBody>
                  <a:tcPr marL="73152" marR="73152" marT="27432" marB="27432" anchor="ctr">
                    <a:solidFill>
                      <a:srgbClr val="FFFFFF"/>
                    </a:solidFill>
                  </a:tcPr>
                </a:tc>
              </a:tr>
            </a:tbl>
          </a:graphicData>
        </a:graphic>
      </p:graphicFrame>
      <p:sp>
        <p:nvSpPr>
          <p:cNvPr id="110" name="TextBox 109"/>
          <p:cNvSpPr txBox="1"/>
          <p:nvPr/>
        </p:nvSpPr>
        <p:spPr>
          <a:xfrm>
            <a:off x="15645384" y="24917400"/>
            <a:ext cx="13862304" cy="292608"/>
          </a:xfrm>
          <a:prstGeom prst="rect">
            <a:avLst/>
          </a:prstGeom>
          <a:noFill/>
        </p:spPr>
        <p:txBody>
          <a:bodyPr wrap="square" tIns="0">
            <a:spAutoFit/>
          </a:bodyPr>
          <a:lstStyle/>
          <a:p>
            <a:pPr algn="ctr">
              <a:defRPr sz="1650" b="1">
                <a:solidFill>
                  <a:srgbClr val="004880"/>
                </a:solidFill>
                <a:latin typeface="Calibri"/>
              </a:defRPr>
            </a:pPr>
            <a:r>
              <a:t>Table 2: Clinical prevalence transfer holding operating point fixed (Sensitivity 95.5%, Specificity 73.1%).</a:t>
            </a:r>
          </a:p>
        </p:txBody>
      </p:sp>
      <p:sp>
        <p:nvSpPr>
          <p:cNvPr id="111" name="TextBox 110"/>
          <p:cNvSpPr txBox="1"/>
          <p:nvPr/>
        </p:nvSpPr>
        <p:spPr>
          <a:xfrm>
            <a:off x="15645384" y="25301448"/>
            <a:ext cx="13862304" cy="2468880"/>
          </a:xfrm>
          <a:prstGeom prst="rect">
            <a:avLst/>
          </a:prstGeom>
          <a:noFill/>
        </p:spPr>
        <p:txBody>
          <a:bodyPr wrap="square" tIns="0" lIns="0" rIns="0">
            <a:spAutoFit/>
          </a:bodyPr>
          <a:lstStyle/>
          <a:p>
            <a:pPr>
              <a:lnSpc>
                <a:spcPct val="115000"/>
              </a:lnSpc>
              <a:spcAft>
                <a:spcPts val="400"/>
              </a:spcAft>
            </a:pPr>
            <a:r>
              <a:rPr sz="1800" b="1">
                <a:solidFill>
                  <a:srgbClr val="004880"/>
                </a:solidFill>
                <a:latin typeface="Calibri"/>
              </a:rPr>
              <a:t>• Referral Bottleneck &amp; Rule-Out Sieve Role: </a:t>
            </a:r>
            <a:r>
              <a:rPr sz="1800">
                <a:solidFill>
                  <a:srgbClr val="000000"/>
                </a:solidFill>
                <a:latin typeface="Calibri"/>
              </a:rPr>
              <a:t>In community caseloads (5–10% prevalence), PPV drops from 93.1% to 15.8%–28.3%. Sizing tertiary referral capacity on raw benchmark PPV would overburden clinics by 3x–6x. However, NPV exceeds 99.3%, proving OptiscanAI's value as a frontline rule-out sieve.</a:t>
            </a:r>
          </a:p>
          <a:p>
            <a:pPr>
              <a:lnSpc>
                <a:spcPct val="115000"/>
              </a:lnSpc>
              <a:spcAft>
                <a:spcPts val="0"/>
              </a:spcAft>
            </a:pPr>
            <a:r>
              <a:rPr sz="1800" b="1">
                <a:solidFill>
                  <a:srgbClr val="004880"/>
                </a:solidFill>
                <a:latin typeface="Calibri"/>
              </a:rPr>
              <a:t>• Explainability Faithfulness Audit: </a:t>
            </a:r>
            <a:r>
              <a:rPr sz="1800">
                <a:solidFill>
                  <a:srgbClr val="000000"/>
                </a:solidFill>
                <a:latin typeface="Calibri"/>
              </a:rPr>
              <a:t>Grad-CAM (p=0.029) and Integrated Gradients (p=0.008) pass RISE deletion tests, confirming spatial saliency. Both fail insertion tests due to floor probabilities (min prob 0.064); maps must serve as clinician hints, not autonomous decisions.</a:t>
            </a:r>
          </a:p>
        </p:txBody>
      </p:sp>
      <p:sp>
        <p:nvSpPr>
          <p:cNvPr id="112" name="Rounded Rectangle 111"/>
          <p:cNvSpPr/>
          <p:nvPr/>
        </p:nvSpPr>
        <p:spPr>
          <a:xfrm>
            <a:off x="18918935" y="2793492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Conclusions</a:t>
            </a:r>
          </a:p>
        </p:txBody>
      </p:sp>
      <p:sp>
        <p:nvSpPr>
          <p:cNvPr id="113" name="TextBox 112"/>
          <p:cNvSpPr txBox="1"/>
          <p:nvPr/>
        </p:nvSpPr>
        <p:spPr>
          <a:xfrm>
            <a:off x="15645384" y="28529280"/>
            <a:ext cx="13862304" cy="3931920"/>
          </a:xfrm>
          <a:prstGeom prst="rect">
            <a:avLst/>
          </a:prstGeom>
          <a:noFill/>
        </p:spPr>
        <p:txBody>
          <a:bodyPr wrap="square" tIns="0" lIns="0" rIns="0">
            <a:spAutoFit/>
          </a:bodyPr>
          <a:lstStyle/>
          <a:p>
            <a:pPr>
              <a:lnSpc>
                <a:spcPct val="115000"/>
              </a:lnSpc>
              <a:spcAft>
                <a:spcPts val="600"/>
              </a:spcAft>
            </a:pPr>
            <a:r>
              <a:rPr sz="1850" b="1">
                <a:solidFill>
                  <a:srgbClr val="004880"/>
                </a:solidFill>
                <a:latin typeface="Calibri"/>
              </a:rPr>
              <a:t>• Foundation Model Adaptation: </a:t>
            </a:r>
            <a:r>
              <a:rPr sz="1850">
                <a:solidFill>
                  <a:srgbClr val="000000"/>
                </a:solidFill>
                <a:latin typeface="Calibri"/>
              </a:rPr>
              <a:t>Parameter-efficient foundation model adaptation (RETFound + LoRA, 0.8% trainable params) delivers strong multi-disease ranking (AUC 0.872). Probability calibration is essential to prevent silent-channel triage failure, while INT8 edge distillation enables instant local inference on low-cost clinic hardware.</a:t>
            </a:r>
          </a:p>
          <a:p>
            <a:pPr>
              <a:lnSpc>
                <a:spcPct val="115000"/>
              </a:lnSpc>
              <a:spcAft>
                <a:spcPts val="600"/>
              </a:spcAft>
            </a:pPr>
            <a:r>
              <a:rPr sz="1850" b="1">
                <a:solidFill>
                  <a:srgbClr val="004880"/>
                </a:solidFill>
                <a:latin typeface="Calibri"/>
              </a:rPr>
              <a:t>• Clinical Separation Principle: </a:t>
            </a:r>
            <a:r>
              <a:rPr sz="1850">
                <a:solidFill>
                  <a:srgbClr val="000000"/>
                </a:solidFill>
                <a:latin typeface="Calibri"/>
              </a:rPr>
              <a:t>High benchmark metrics on curated datasets do not guarantee clinical readiness. When transferring to rural primary care prevalence, PPV drops substantially; OptiscanAI is designed as a frontline rule-out sieve (NPV &gt; 99.3%) that filters out healthy retinas and escalates suspected pathology to human clinicians.</a:t>
            </a:r>
          </a:p>
          <a:p>
            <a:pPr>
              <a:lnSpc>
                <a:spcPct val="115000"/>
              </a:lnSpc>
              <a:spcAft>
                <a:spcPts val="0"/>
              </a:spcAft>
            </a:pPr>
            <a:r>
              <a:rPr sz="1850" b="1">
                <a:solidFill>
                  <a:srgbClr val="004880"/>
                </a:solidFill>
                <a:latin typeface="Calibri"/>
              </a:rPr>
              <a:t>• Translational Roadmap: </a:t>
            </a:r>
            <a:r>
              <a:rPr sz="1850">
                <a:solidFill>
                  <a:srgbClr val="000000"/>
                </a:solidFill>
                <a:latin typeface="Calibri"/>
              </a:rPr>
              <a:t>Future translation demands prospective multi-centre trials across Ugandan district health centres, validation with low-cost handheld fundus cameras, local mobile network integration, and Uganda National Drug Authority (NDA) regulatory clearance.</a:t>
            </a:r>
          </a:p>
        </p:txBody>
      </p:sp>
      <p:sp>
        <p:nvSpPr>
          <p:cNvPr id="114" name="Rounded Rectangle 113"/>
          <p:cNvSpPr/>
          <p:nvPr/>
        </p:nvSpPr>
        <p:spPr>
          <a:xfrm>
            <a:off x="18918935" y="32415480"/>
            <a:ext cx="7315200" cy="502920"/>
          </a:xfrm>
          <a:prstGeom prst="roundRect">
            <a:avLst/>
          </a:prstGeom>
          <a:solidFill>
            <a:srgbClr val="4F81BD"/>
          </a:solidFill>
          <a:ln w="25400">
            <a:solidFill>
              <a:srgbClr val="385D8A"/>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2800" b="1">
                <a:solidFill>
                  <a:srgbClr val="FFFFFF"/>
                </a:solidFill>
                <a:latin typeface="Calibri"/>
              </a:defRPr>
            </a:pPr>
            <a:r>
              <a:t>References</a:t>
            </a:r>
          </a:p>
        </p:txBody>
      </p:sp>
      <p:sp>
        <p:nvSpPr>
          <p:cNvPr id="115" name="TextBox 114"/>
          <p:cNvSpPr txBox="1"/>
          <p:nvPr/>
        </p:nvSpPr>
        <p:spPr>
          <a:xfrm>
            <a:off x="15645384" y="33009840"/>
            <a:ext cx="13862304" cy="7589520"/>
          </a:xfrm>
          <a:prstGeom prst="rect">
            <a:avLst/>
          </a:prstGeom>
          <a:noFill/>
        </p:spPr>
        <p:txBody>
          <a:bodyPr wrap="square" tIns="0" lIns="0" rIns="0">
            <a:spAutoFit/>
          </a:bodyPr>
          <a:lstStyle/>
          <a:p>
            <a:pPr>
              <a:lnSpc>
                <a:spcPct val="115000"/>
              </a:lnSpc>
              <a:spcAft>
                <a:spcPts val="1000"/>
              </a:spcAft>
            </a:pPr>
            <a:r>
              <a:rPr sz="1750" b="1">
                <a:solidFill>
                  <a:srgbClr val="004880"/>
                </a:solidFill>
                <a:latin typeface="Calibri"/>
              </a:rPr>
              <a:t>[1]  </a:t>
            </a:r>
            <a:r>
              <a:rPr sz="1750">
                <a:solidFill>
                  <a:srgbClr val="000000"/>
                </a:solidFill>
                <a:latin typeface="Calibri"/>
              </a:rPr>
              <a:t>S. Pachade, P. Porwal, D. Thulkar et al., “Retinal fundus multi-disease image dataset (RFMiD): A dataset for multi-disease detection research,” Data, vol. 6, no. 2, p. 14, 2021.</a:t>
            </a:r>
          </a:p>
          <a:p>
            <a:pPr>
              <a:lnSpc>
                <a:spcPct val="115000"/>
              </a:lnSpc>
              <a:spcAft>
                <a:spcPts val="1000"/>
              </a:spcAft>
            </a:pPr>
            <a:r>
              <a:rPr sz="1750" b="1">
                <a:solidFill>
                  <a:srgbClr val="004880"/>
                </a:solidFill>
                <a:latin typeface="Calibri"/>
              </a:rPr>
              <a:t>[2]  </a:t>
            </a:r>
            <a:r>
              <a:rPr sz="1750">
                <a:solidFill>
                  <a:srgbClr val="000000"/>
                </a:solidFill>
                <a:latin typeface="Calibri"/>
              </a:rPr>
              <a:t>Y. Zhou, M. A. Chia, S. K. Wagner et al., “A foundation model for generalizable disease detection from retinal images,” Nature, vol. 622, pp. 156–163, 2023.</a:t>
            </a:r>
          </a:p>
          <a:p>
            <a:pPr>
              <a:lnSpc>
                <a:spcPct val="115000"/>
              </a:lnSpc>
              <a:spcAft>
                <a:spcPts val="1000"/>
              </a:spcAft>
            </a:pPr>
            <a:r>
              <a:rPr sz="1750" b="1">
                <a:solidFill>
                  <a:srgbClr val="004880"/>
                </a:solidFill>
                <a:latin typeface="Calibri"/>
              </a:rPr>
              <a:t>[3]  </a:t>
            </a:r>
            <a:r>
              <a:rPr sz="1750">
                <a:solidFill>
                  <a:srgbClr val="000000"/>
                </a:solidFill>
                <a:latin typeface="Calibri"/>
              </a:rPr>
              <a:t>E. J. Hu, Y. Shen, P. Wallis et al., “LoRA: Low-rank adaptation of large language models,” in Proc. Int. Conf. Learning Representations (ICLR), 2022.</a:t>
            </a:r>
          </a:p>
          <a:p>
            <a:pPr>
              <a:lnSpc>
                <a:spcPct val="115000"/>
              </a:lnSpc>
              <a:spcAft>
                <a:spcPts val="1000"/>
              </a:spcAft>
            </a:pPr>
            <a:r>
              <a:rPr sz="1750" b="1">
                <a:solidFill>
                  <a:srgbClr val="004880"/>
                </a:solidFill>
                <a:latin typeface="Calibri"/>
              </a:rPr>
              <a:t>[4]  </a:t>
            </a:r>
            <a:r>
              <a:rPr sz="1750">
                <a:solidFill>
                  <a:srgbClr val="000000"/>
                </a:solidFill>
                <a:latin typeface="Calibri"/>
              </a:rPr>
              <a:t>C. Guo, G. Pleiss, Y. Sun et al., “On calibration of modern neural networks,” in Proc. Int. Conf. Machine Learning (ICML), 2017, pp. 1321–1330.</a:t>
            </a:r>
          </a:p>
          <a:p>
            <a:pPr>
              <a:lnSpc>
                <a:spcPct val="115000"/>
              </a:lnSpc>
              <a:spcAft>
                <a:spcPts val="1000"/>
              </a:spcAft>
            </a:pPr>
            <a:r>
              <a:rPr sz="1750" b="1">
                <a:solidFill>
                  <a:srgbClr val="004880"/>
                </a:solidFill>
                <a:latin typeface="Calibri"/>
              </a:rPr>
              <a:t>[5]  </a:t>
            </a:r>
            <a:r>
              <a:rPr sz="1750">
                <a:solidFill>
                  <a:srgbClr val="000000"/>
                </a:solidFill>
                <a:latin typeface="Calibri"/>
              </a:rPr>
              <a:t>K. Lekadir, A. Frangi, A. R. Porras et al., “FUTURE-AI: International consensus guideline for trustworthy and deployable artificial intelligence in healthcare,” BMJ, vol. 388, e081554, 2025.</a:t>
            </a:r>
          </a:p>
          <a:p>
            <a:pPr>
              <a:lnSpc>
                <a:spcPct val="115000"/>
              </a:lnSpc>
              <a:spcAft>
                <a:spcPts val="1000"/>
              </a:spcAft>
            </a:pPr>
            <a:r>
              <a:rPr sz="1750" b="1">
                <a:solidFill>
                  <a:srgbClr val="004880"/>
                </a:solidFill>
                <a:latin typeface="Calibri"/>
              </a:rPr>
              <a:t>[6]  </a:t>
            </a:r>
            <a:r>
              <a:rPr sz="1750">
                <a:solidFill>
                  <a:srgbClr val="000000"/>
                </a:solidFill>
                <a:latin typeface="Calibri"/>
              </a:rPr>
              <a:t>G. S. Collins, K. G. M. Moons, P. Dhiman et al., “TRIPOD+AI statement: Updated guidance for reporting clinical prediction models,” BMJ, vol. 385, e078378, 2024.</a:t>
            </a:r>
          </a:p>
          <a:p>
            <a:pPr>
              <a:lnSpc>
                <a:spcPct val="115000"/>
              </a:lnSpc>
              <a:spcAft>
                <a:spcPts val="1000"/>
              </a:spcAft>
            </a:pPr>
            <a:r>
              <a:rPr sz="1750" b="1">
                <a:solidFill>
                  <a:srgbClr val="004880"/>
                </a:solidFill>
                <a:latin typeface="Calibri"/>
              </a:rPr>
              <a:t>[7]  </a:t>
            </a:r>
            <a:r>
              <a:rPr sz="1750">
                <a:solidFill>
                  <a:srgbClr val="000000"/>
                </a:solidFill>
                <a:latin typeface="Calibri"/>
              </a:rPr>
              <a:t>A. S. Tejani, M. E. Klontzas, A. A. Gatti et al., “Checklist for Artificial Intelligence in Medical Imaging (CLAIM): 2024 update,” Radiology: Artificial Intelligence, vol. 6, no. 4, e240300, 2024.</a:t>
            </a:r>
          </a:p>
          <a:p>
            <a:pPr>
              <a:lnSpc>
                <a:spcPct val="115000"/>
              </a:lnSpc>
              <a:spcAft>
                <a:spcPts val="1000"/>
              </a:spcAft>
            </a:pPr>
            <a:r>
              <a:rPr sz="1750" b="1">
                <a:solidFill>
                  <a:srgbClr val="004880"/>
                </a:solidFill>
                <a:latin typeface="Calibri"/>
              </a:rPr>
              <a:t>[8]  </a:t>
            </a:r>
            <a:r>
              <a:rPr sz="1750">
                <a:solidFill>
                  <a:srgbClr val="000000"/>
                </a:solidFill>
                <a:latin typeface="Calibri"/>
              </a:rPr>
              <a:t>E. Beede, E. Baylor, F. Hersch et al., “A human-centered evaluation of a deep learning system deployed in clinics for the detection of diabetic retinopathy,” in Proc. CHI Conf. Human Factors in Computing Systems, 2020, pp. 1–12.</a:t>
            </a:r>
          </a:p>
        </p:txBody>
      </p:sp>
      <p:sp>
        <p:nvSpPr>
          <p:cNvPr id="116" name="TextBox 115"/>
          <p:cNvSpPr txBox="1"/>
          <p:nvPr/>
        </p:nvSpPr>
        <p:spPr>
          <a:xfrm>
            <a:off x="914400" y="41650920"/>
            <a:ext cx="28446984" cy="594360"/>
          </a:xfrm>
          <a:prstGeom prst="rect">
            <a:avLst/>
          </a:prstGeom>
          <a:noFill/>
        </p:spPr>
        <p:txBody>
          <a:bodyPr wrap="square" tIns="0">
            <a:spAutoFit/>
          </a:bodyPr>
          <a:lstStyle/>
          <a:p>
            <a:pPr algn="ctr">
              <a:defRPr sz="2400" b="1">
                <a:solidFill>
                  <a:srgbClr val="0070C0"/>
                </a:solidFill>
                <a:latin typeface="Calibri"/>
              </a:defRPr>
            </a:pPr>
            <a:r>
              <a:t>OptiscanAI (Paper 83)  •  National Conference on Communications (NCC), September 24–25, 2026  •  CEDAT / CoCIS, Makerere University</a:t>
            </a:r>
          </a:p>
        </p:txBody>
      </p:sp>
      <p:sp>
        <p:nvSpPr>
          <p:cNvPr id="117" name="TextBox 116"/>
          <p:cNvSpPr txBox="1"/>
          <p:nvPr/>
        </p:nvSpPr>
        <p:spPr>
          <a:xfrm>
            <a:off x="914400" y="41650920"/>
            <a:ext cx="28446984" cy="594360"/>
          </a:xfrm>
          <a:prstGeom prst="rect">
            <a:avLst/>
          </a:prstGeom>
          <a:noFill/>
        </p:spPr>
        <p:txBody>
          <a:bodyPr wrap="square" tIns="0">
            <a:spAutoFit/>
          </a:bodyPr>
          <a:lstStyle/>
          <a:p>
            <a:pPr algn="ctr">
              <a:defRPr sz="2400" b="1">
                <a:solidFill>
                  <a:srgbClr val="0070C0"/>
                </a:solidFill>
                <a:latin typeface="Calibri"/>
              </a:defRPr>
            </a:pPr>
            <a:r>
              <a:t>OptiscanAI (Paper 83)  •  National Conference on Communications (NCC), September 24–25, 2026  •  CEDAT / CoCIS, Makerere University</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770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2011-03-06T20:15:48Z</dcterms:created>
  <dc:creator>Rolland</dc:creator>
  <dc:description/>
  <dc:language>en-US</dc:language>
  <cp:lastModifiedBy>Edwin Mugume</cp:lastModifiedBy>
  <dcterms:modified xsi:type="dcterms:W3CDTF">2019-09-20T18:44:18Z</dcterms:modified>
  <cp:revision>46</cp:revision>
  <dc:subject/>
  <dc:title>PowerPoint bemutató</dc:title>
</cp:coreProperties>
</file>