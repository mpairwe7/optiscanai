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7"/>
    <p:sldId id="266" r:id="rId6"/>
    <p:sldId id="267" r:id="rId4"/>
    <p:sldId id="268" r:id="rId2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5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0"/>
            <a:ext cx="7315200" cy="960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170160" cy="479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4142880" y="0"/>
            <a:ext cx="3170520" cy="479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marL="2159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marL="2159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6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257120" y="720360"/>
            <a:ext cx="4800600" cy="36003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575C"/>
                </a:solidFill>
                <a:latin typeface="Arial" panose="020B0604020202020204"/>
              </a:rPr>
              <a:t>Click to move the slide</a:t>
            </a:r>
            <a:endParaRPr lang="en-US" sz="3000" b="1" strike="noStrike" spc="-1">
              <a:solidFill>
                <a:srgbClr val="00575C"/>
              </a:solidFill>
              <a:latin typeface="Arial" panose="020B060402020202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731880" y="4560480"/>
            <a:ext cx="5851440" cy="4319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 panose="020F0502020204030204"/>
              </a:rPr>
              <a:t>Click to edit the notes format</a:t>
            </a:r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120240"/>
            <a:ext cx="3170160" cy="479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142880" y="9120240"/>
            <a:ext cx="3170520" cy="479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marL="2159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de-DE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marL="2159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6B09405-1A96-476D-B512-A6F1BF9DB981}" type="slidenum">
              <a:rPr lang="de-DE" sz="12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61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575C"/>
                </a:solidFill>
                <a:latin typeface="Arial" panose="020B0604020202020204"/>
              </a:rPr>
              <a:t>Click to edit the title text format</a:t>
            </a:r>
            <a:endParaRPr lang="en-US" sz="3000" b="1" strike="noStrike" spc="-1">
              <a:solidFill>
                <a:srgbClr val="00575C"/>
              </a:solidFill>
              <a:latin typeface="Arial" panose="020B0604020202020204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46040" y="1009440"/>
            <a:ext cx="8229600" cy="4816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5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6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" name="Gruppieren 25"/>
          <p:cNvGrpSpPr/>
          <p:nvPr/>
        </p:nvGrpSpPr>
        <p:grpSpPr>
          <a:xfrm>
            <a:off x="0" y="0"/>
            <a:ext cx="457200" cy="5742000"/>
            <a:chOff x="0" y="0"/>
            <a:chExt cx="457200" cy="5742000"/>
          </a:xfrm>
        </p:grpSpPr>
        <p:sp>
          <p:nvSpPr>
            <p:cNvPr id="3" name="Rectangle 15"/>
            <p:cNvSpPr/>
            <p:nvPr/>
          </p:nvSpPr>
          <p:spPr>
            <a:xfrm>
              <a:off x="0" y="0"/>
              <a:ext cx="457200" cy="5005440"/>
            </a:xfrm>
            <a:prstGeom prst="rect">
              <a:avLst/>
            </a:prstGeom>
            <a:solidFill>
              <a:srgbClr val="FF7900">
                <a:alpha val="6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4" name="Rectangle 10"/>
            <p:cNvSpPr/>
            <p:nvPr/>
          </p:nvSpPr>
          <p:spPr>
            <a:xfrm>
              <a:off x="0" y="1839960"/>
              <a:ext cx="457200" cy="884160"/>
            </a:xfrm>
            <a:prstGeom prst="rect">
              <a:avLst/>
            </a:prstGeom>
            <a:solidFill>
              <a:srgbClr val="FF7900">
                <a:alpha val="9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Rectangle 13"/>
            <p:cNvSpPr/>
            <p:nvPr/>
          </p:nvSpPr>
          <p:spPr>
            <a:xfrm>
              <a:off x="0" y="2724120"/>
              <a:ext cx="457200" cy="301788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6" name="Rectangle 14"/>
            <p:cNvSpPr/>
            <p:nvPr/>
          </p:nvSpPr>
          <p:spPr>
            <a:xfrm>
              <a:off x="0" y="1471680"/>
              <a:ext cx="457200" cy="353376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7" name="Rectangle 16"/>
            <p:cNvSpPr/>
            <p:nvPr/>
          </p:nvSpPr>
          <p:spPr>
            <a:xfrm>
              <a:off x="0" y="3017880"/>
              <a:ext cx="457200" cy="7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7720" rIns="90000" bIns="277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8" name="Rectangle 17"/>
            <p:cNvSpPr/>
            <p:nvPr/>
          </p:nvSpPr>
          <p:spPr>
            <a:xfrm>
              <a:off x="0" y="368280"/>
              <a:ext cx="457200" cy="7272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5920" rIns="90000" bIns="259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9" name="Rectangle 18"/>
            <p:cNvSpPr/>
            <p:nvPr/>
          </p:nvSpPr>
          <p:spPr>
            <a:xfrm>
              <a:off x="0" y="5669280"/>
              <a:ext cx="457200" cy="7272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5920" rIns="90000" bIns="259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0" name="Rectangle 22"/>
            <p:cNvSpPr/>
            <p:nvPr/>
          </p:nvSpPr>
          <p:spPr>
            <a:xfrm>
              <a:off x="0" y="0"/>
              <a:ext cx="457200" cy="4410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1" name="Rectangle 23"/>
            <p:cNvSpPr/>
            <p:nvPr/>
          </p:nvSpPr>
          <p:spPr>
            <a:xfrm>
              <a:off x="0" y="1177920"/>
              <a:ext cx="457200" cy="1476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" name="Rectangle 24"/>
            <p:cNvSpPr/>
            <p:nvPr/>
          </p:nvSpPr>
          <p:spPr>
            <a:xfrm>
              <a:off x="0" y="5080320"/>
              <a:ext cx="457200" cy="1458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13" name="Fußzeilenplatzhalter 4"/>
          <p:cNvSpPr/>
          <p:nvPr/>
        </p:nvSpPr>
        <p:spPr>
          <a:xfrm>
            <a:off x="5389560" y="6073920"/>
            <a:ext cx="230508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NCC 2026 Oral Session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1000" b="0" i="1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Page</a:t>
            </a:r>
            <a:r>
              <a:rPr lang="de-DE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 </a:t>
            </a:r>
            <a:fld id="{E28A92F2-378F-49A5-9319-665C1B5E2F2B}" type="slidenum">
              <a:rPr lang="de-DE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</a:fld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" name="Fußzeilenplatzhalter 4"/>
          <p:cNvSpPr/>
          <p:nvPr/>
        </p:nvSpPr>
        <p:spPr>
          <a:xfrm>
            <a:off x="2386080" y="6021360"/>
            <a:ext cx="1538280" cy="72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NCC 2026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https://ncc.co.ug/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5" name="Picture 23" descr="data:image/jpeg;base64,/9j/4AAQSkZJRgABAQAAAQABAAD/2wCEAAkGBxETEhUSEhMSFhUXFxsaFhcYFxYYIBsdIBkYHyAaICAbHSogGRslIhchITEjJSkrMS4wHh8zODMsOSgtLisBCgoKDg0OGhAQGyslICYtKy0rMisrMi4tNS0vKy0tLzUwNS0vLS0tLS0tLS0tLS0tLS8tLS0tLS0tLS0tLS0tLf/AABEIAM8A9AMBIgACEQEDEQH/xAAcAAABBQEBAQAAAAAAAAAAAAAAAQQFBgcDCAL/xABFEAACAQMCAwYDBQUHAwIHAQABAgMABBESIQUxQQYTIlFhcQcygRRCUmKRFSOhsfAkM3KCkqLBc7LRJUM0NURTk6PhFv/EABoBAQACAwEAAAAAAAAAAAAAAAADBAECBQb/xAAxEQACAQMDAQUHAwUAAAAAAAAAAQIDBBESITEFExRBUZEiQlJhcaHwMoHRBhUzseH/2gAMAwEAAhEDEQA/ANwooooAooooAooooAooooAorjc3UcYy7qo9Timlnx22lfu45VZjnAGenPpWuuOcZ3NlCTWUtiRooorY1CiiigCiiigCiiigCiiigCim99fRQrrlcIucZPn5VytOL28u0cqMfLP/AJrVzinhs2UJNZxsPaKKK2NQooooAooooAooooAooooAopaKASilooBlxfiKW8Mk8nyRrqb2ptacZV7qS22ysaSIR95WyCfoQP1FOuMWQmglhbcSRuh/zKR/zXn207VyxNbOW0zWmqB8/eUN4Vby0+JPUMN8jNAejaiO0fGltowebscIP+T6D/xX32d47FdxCWM4P30zup8j6eR61AdtOzl1czI8Rj0KmPExG+TnkD6VDXclB6OSxawpyqpVHhEcMTqXZmZjz3/hUh2M4ev2mWUfdUKOXMnJ/gP4mqzxXs9eRmC3+0RW73LmMSAs2nCMxwMDLnGBuNzVR7SdhL+wkaaymvGaIhi7eENnT4g+dLZJAKHJPLfeuXZWFSFTtaj/AGLd1cxinTpvKZ6IoqI4Px6KVUDNpkIGVIx4sbgdDv61MV2jmCUUtNuIXscMbSysFRRkk/y9SeQHWhlJt4R0uZ0jUu7KqqMlicACmfB+NW90paCQOAcEYII9wdwDjY9ayDtX2olvH3ysKnwR5/3N5t/L+Ji+GcRlt5BLC5Vh+hHkR1HpVV3SUsLg9DS/p+pKjqk8S8F/J6DoqB7Jdpo72PIwsq/3keeX5h5qfP6VP1ZTTWUcCpTlTk4TWGhKKWm95exxDMjhR0zzPsOZrJoR/auyEtrIvUDUPdTn/jFU2wtlKBjkeHY+eOtVb4iC/wCJ3/c273C2ccYP7tWOSTgsUUhnOcAZ5Dyycu7TsfdWP2aNbwyR3TaBDMCjI2gtkbtgYXdcDGRzrmdRspV0pQe6Ltrc6F2b4bLv2d7SDvBbyNkE4jY+fQH36VcKzD//ABV+HDDuvCwIw55g5/DWmlsLliAAMknYDzPtU9kqkYaZ+Bm+hRUk6TTzzgZ8c4mltbyTvjCKT7noPqcCvmz4sjydx/7ohSVx5ByQPUHKnY1k3xF7ZR3M8durf2dHDOBzlAPi9gRlAT+LPUYtPwkme5F3xCTdriUAHppQYAHoCSPpVwomgUUtFAJRS0UAlFLRQBRRRQBRRRQFa7f3EK2pWWd7cucRXA1gRyDdCzL8oJ232IyOtec+JySPcSPI6GYnEhBVkkxtqBXYggZ1DnmvSvbS2mktJEhhhnJHiil1AOvUKQRpfqD5+XOvMdyniZGTGliND5DJv8pJGcjl0oCxdhOKXENyiQSCN22VJCdLHomeWljtg8iRyrcOA9r4pX7idTb3I2Mb7aj+Qn5v6xnnXmZywxvtnk3T1DDfI5+degOCWy3lrH36iXC/Nr1q4xzSUDOf8QD7HOcZoA+M3C1ltIpmDFbedHk0kghCGUsMEEaSytz5KaofG1vIiDcTPc2mQ0YmLSxYwdpPxc8hmOc4+ui/2q2Qqf7XakYMUhXvQpG4U/LMvPb6DlUXYl4UZ7H+1WYBEls2TNFt8uDu2Bt+I/m51iSysElKahNSaT+TJnsPwmxlgjulsLeGQk8ox91iAykjODjI/mauNUPs1eI2o8PmfwDezlYFNuYViNcTDljJUbZXnVt4TxVJwQAySLtJE+AyH1wcEbbMCQehrKNJNNtpYH9Y38Q+05uZu6jP7mNsDyds4Ln0HIfU9avfxE40be1KocSS+BfMD7zfQbZ8yKxK520+hqrcVPcR3ek2uISuZLj9P18/2L3wXsA08YladVUqCAEJO4zjdhXOLsI7Ro/frl3KgaDjYkZJ1enlV97GnNnH/wBNf+wVxtP7iD/qt/3tUfZx0p4NZdVutbWvx8kZjOZeHXY0OpdOvINyypHka2jgvE0uYUmj5MOXUHqp9QaxTtvJm/mG/hOOv5fKrJ8LOM93M1sx8MuWT0cDcfVR/tpQnplpZPe0ZXVt2/vR5+a/4arTDinBra4wJ4Y5cctahse2fank0qqpZiFUDJJOAB5knkKrd9xWWaN3R2tbdf8A6gqhkf8A6auCEXpqcZO+ANmq8ecMq4rcgXTJw62S0nRnVe5DCQ7lf3mNgmfEQVxsNzUv2c4RNJxe0M88s89vG8s7s2QgKlVQKPChYtnA6JnepuyvWk7yPhkZOogzXs7EjqCdZHiIA5DcbcudOeDXGgPHw8LLI5zPezeFCwyMIOb43wo2HMkkknEU1yyWrUjPCjFLBcuM8Zt7WMyTyKi9Mnc+gHMmsp+Ivau7kgDAfZ7eRtKK/wDeS45sV56RjkcDcfNVyg4EobvpzJNNzMkm5zvhY41+UZ3xtisZ+I15LJfMWIBACgFxIyD8OlBoRupVScbZJOayRFdkUkEsxVT8zE+Jvcnl/XKtc+El8NUffXOSV0WlohzpT70zqmy5xsz9Mn7wrIQmN8ZP4nP8h0/hWufA+1ny0q26CNsh7l9Wp8co4l2AUHcnfcdegGw0UUUAUUUUAUUUUAUUlFALRSUUAMuRisW+J3w6KFryO5jK/eW6l0keSpK/P0Vz9a2muF7aRyo0UqK6MMMrAEEeoNAeRBjycH0Of+SDWvfB7ihWMotrNgfNNFIGB9ZIWkyD+ZF38qqXxS7G/Yp9UMXdQN8gWcPnl9x8OuM8hqHLcVA9k+KrbTrK8YkHLLs6lPzKYyDn9aA9E3WhTkNjVkndkI5fd0MN/PHuaZ8Qs2w91B4bqJSwxkCVBv3br1JHXA3x6U+4VdxXcCvEZmUjK6u/TJ93xkb8967Q4TxhdO+lvoTgjxYXc9T15b0BB8XihubeDi1q3dyYR+g71CQGhcdXxlQRvnA5U/up0cd8hAuI9lYc2woLIfxq2M49sYNYp2i4UtrxiQFpyjNrj7opHjVlip1DSoBJOw68quvDp+9WJ/kWKYhVDEg+B1bLHdyGfLHz09c5AY/ELtNHPcJl1UJEuFJA3bdiM815DPXFVK4vIWG0sef8QpPilbxgQOCNZBOk89D5YAflQgqPeofs9FFBaycQkiSZxKILeNxqQPpLtI6/e0rgAHbJOeVV5W6lLVk7NHrMqVBUdCwWuLta6xiNZrfSOX7xtvbxbU34d2mljyWuYnOTjW/y+2k7VC8O7UtdSpb36QywysE1LDFG8Oo4Dxsijdcg4bIIGKc8YQ8G026JC14wLyzuiyaF1MI1jDgquVGokgnxY6VjukcckL6lHP8AjXqOpuJxySGSSWEk8yHzv57mnFnxuOKRJUlj1IwYeNehzj68qhLe8/aUc0c8cQuYomminjjSMuE3aKQIArArnScAgqOhNQ3ZC3ikvbdZivdmQFs8mwCQn+YgL9ad1Wc5LMetuMHTVNYZ6duLuK6cFzmBSpVeQd+a6h1x82npsTzGI+ey/aFzHG74to07xo1OO+OwTluEUq5IGPmXzqMvICyxujtqE7yKSR4gY5QEO2M45DHNR5VmXbe971Ay/aEck4WMq0bNk52JEkbE5GAW3B9zZOGbJI8d5NNbL4bOzKpIieESS4z3e3JEGMgY3PpTpXGVTIXAAChtAVcnBHgzsMZ8Q9KYdiuGdzYQW5Opnj1ytjmX8TnPMnf5m5+nKpy2th85DqB8uDIc+pALZPr1oCP4/fCK2ZUiuJhg5EIEII3+aUlcKepU59684XkoaR2CMgLHCJqIXfkGJLN7knNaJ8Vu1EEpa3iUyMDhnaS4BQ/4G0qT7g1m/C+GzTyrFGJWYkeHVHHnflqfAH8aAnuxvY6TiMmiMwRqPmMrgtj8sYJZvrgetekOz/CBawrD3sspA3eRsk7dByUegAFRXYfsfbWMSlIFjmZR3razK2fLWVGR6AAelWegFopKKAWikooApaSigCiiigCiiigCiiigGHG+FRXMTRyRQybHSJUDqGxsSOf6EGvOPbbsjNbTsDHAxwGZLaKfQgPL5s79cZPSvTjuACScADJPpXnm+4vLdyF9w8kuVz0BZwq46jS6g5225VrKSjyTUaE6rxBFU4Rxy6ikUwnLEgIrgy7nlpQ5Gryrc+zyzPCkdww+141ujNFqx1ysSkRKeX3m6ZzWffFOSxtJVtIYY42I7yWSNFEgxqCIGABXJAY4O+BnnvXba9mggco5t4pFUPpOHfGo4LjxbljsDWxCWD4v8REsscNsQe4J7x0AC69IGhfVRnJztkDPPCfD2xv7qN7jQFt4VVUI8KkKwZlQE+YDO+TkIFGSdvv4T8CTiUrmZG+y26rhB4Q7k/KccxgZIHpnY4N8+IXaYRRNwzh8RluGiKmOFMiCIjBJCjCnTnA6begIHnPi9800hdiTsAoJzpUDYDyG9WriMOns/anHz3sp9wEK1AdorBYvs5XGJbWKT6kFW/3Iat/a2Ep2f4UvnJM3+pnYf91ZMGdI5UhhzBBH0Oau3xolLcXnHRUhUf8A4Y2/m1UjH9YNWT4iXHecQmfJOVi8+kMY/wCKxqWcGdL5H/wkh18Q0fit5x/+s1TEJGCNiOVX74Hf/N4s/gk/7KpPELQxyyQgElJGQDG5wxHLz2rJg1TsqL294dIYNbyQ/N4sOWAiZNJz86susbb4cbFgapXCuMytfJPLGPDJqkjRNOSBpchTtrxzGwOBtWiWfFxwjitxIIpDY4gguZEUlI5Fij32GCQTuOfiPXANo+JPZe3mtX4nZqDcIomVoyNMqjBJIAOo6MkMNzgAkjasGSZinhZFuUeHuGUaZAwXJPLOV8Bz19cFc1knb7jvEYpTbyLpjJLQsyojlc81kiOlh+nMZAqF4LxqWRZ44JQneqRLAw8D6gcnSdtXqMHlXLh/FLeC5X7TEHjDBWhkHeIqOMSOgOyMCoIIwaAjFt5bhslZW6Fykz49ygY4FegPhx2JS2QST29h3owY5YVctjHMmTk3quKpfbHhsdpNELZFSJotQVAFBbcajp+bbHP1960T4Y8YNxZ+I5aKRoycY2zqXb/CwH0rVSTeCWVCcYKbWz4ZbaKKK2IgooooAooooAooooBaKKKAKKKKAKKKKAhO2s5SxuNJ0s0ZRT5FvDn3Gc1gttNodWP3WVvPkx/XlWzfFJ8WW/IyLn6Bj9flzWXdjuCi7vY4WGYxqeXHLSp5Z8iSB7GqdbLqJHoOlyjTt6k5fmwvb7sk0i3PGJnx3k8S20YOcpqRNbHyYAkAeefSqp2ptZDZw3DeFGl7uFT98BGLSD8oOkZ65Plvofxs4mbi6tOEJqRWkjeVtvvEquB10gsffHlU320+GDXt1blJlitIYBFoGSUwT8i40jUCoLE/dGxq4efI3sdK/wBnHDODEaV/+L4iV8AkIGruwf718bDfAAX3rRezHZm3sYykKksxzLK51SSt1Z25sSST5DO1d+B8KhtIEtrdAsaDAHn5sfNidyetPsmgPPvxW7CXVvFAykTqJZlXu42DKsjGVVIGchSH39agO2XaLvLCxszbyxtagAtIpAfwDOxAxv6nIr0rxaBpImVMd4MNGTy1ruAfIEjB9Cao0nHw693d2upW2OV1L6jDc8dd+lYckuSKpVjTxqK9wHi0kkcevQAVGwRFHy8h4Tj/APlS19clBlCPqqb8/NK7WvFBysrLYbBtIUAdOQ/5pzJxq5Rf7RbZXrgZ/wDIP1rkS6dGUtWr7Fv+80vCLx9DKV7XfZOMfa5UD93GV0oFQtlNskD1546Cm/ZnhEt9xhZYo3EUlw84aRGC4BMmCRsd8DbzrTUueHtJ3kVgjS/iMaZGPUAnb2q39kTLKWnlQIF1RxKM8sjWTnrlQvppPnXUpYjFRXgVe8061RuB37NdmVt7eWCZxcd9LJJKzooDmQ7gruCNsb/wGwrk3Drjg5aS1R7nhzEmS1zqeDPNos/NH1KH36k1oQYUtSEh5Xn4PbvxZE4bMjxz5kg6aCVc9ww5ocrpGeQKmpDhvZccUvHgZzDKIZCMjlIjRgowO/3jnqPXFX7tj8IjJci7sJFicyo5Q+EIdQJkjYZ0nO+nHPOPKo34nTrwvjNnxGPJ7xT36jGWC6UZvLUVcfVBQEb2lmdY7a3mBWa3t+7lGQcMpYDHoQAw9GB61a/g5Npknjz86hgPVSVP8HFdvi1whZIor6MHPhV9uaNurHywdv8ANUN8KyReJ+ZH+vM7/wCmqcsxrL5noNUanTcLw/3nJs1FFFXDz4UUUUAUUUUAUUUUAUUUUAUUUUAUUlLQFR+J8BeyKqpZi4CgAk5KsBgDmd6b/DHsu9rE8s64mlxtndUHJT5EnJP0HSrrRWmhatROriSpdkuM5Ms+KXDUh4jw3iJAC98sUxJ2IBLoTnbbDfoPKtSc7VVfilwf7Vwy5jAyyr3iD8yeLH1AI+tSPY/iourGCfOS8Y1f4hs38Qa3ICWH8a+ZJVVlBJBbYHpnnj3O+PY0krNp8ABYdDtn09KbPJHcxshyD1U7MpB2PuCOdYbMpHCe47qdQfkl6/hcYH6MCPqPU1B9p7mS1lUxx94kxJK8tL7Zx6NkdOZP4qdT3BmjeCQfvY/l/PgZOPUj9c59mF5diaBVfdkODn7ynr7ggA/Q9arSrYz+fU2lRc444GR49dSeGG1YN5tnA/gP519nit5FnvYNewwUHn7ZH0phfccuohpBUpgASlckHbZt8exxvtnfm24d2nui+gBZPMsANI/ExXGB/H3rZVY85OTNThV7Nyln6bErJxm5kZI44u6MhxqYZwNhkDbJydue9W++uhBGkcQ8Z8Ma8/TJ64Hn1NVnhzIJzM5LY8ZJ5nAAUAdBlhhemfc1I8Nn1SPdTEAJsOu55KPPAP11ZrVVs7L8R1adBwXtPJPpphi8TbKPEx6+ZPqT/OnFs5KgkEZ3weY9/WoKyLXMveOMRRnwJ5t5nzI5/p60/wD2kZH7uDBx88nNV9B+Jv4demKmjNPf0Djgk6yn4u8PF3xHhdmM+My97g4/dExFuW/KNv6NaqKzns2PtfHr26zlLSNbaPy1Etrx6gqwP+KpDUvXE+GxzQPbsDodCmx5DGxHqOdZj2B4NcWvERHOhBCuFPRgAfEp5MPEPbODitaorSUFJp+RPTuJQhKC4YtFJS1uQBRRRQBRRRQBRSUtAFFJRQC0UlFALRSUUAtFJXO5uEjXU7BRsMnzPIepoD7fGDqxjG+eWPX0rHvgn2pgWSXhwbCF2ktdWxK/h36lAr+5etVW7gnDRkhgwIKMrLqBG4wwGRg1j/xA4faftC5jbEbtbQT20o1DE0RkXRlPENax6cjlpB2IFYUk1lMPbk1ziE8sR1hdcfULsy+vkw/Qj16RV4iTfv7Zv3qjJA2Yj28x+h5b7VXvh98QO+UR3HeFQhZbkrgEAZMcuNhMMc12bYgAnFSvFzaFtcMyB9TApnGWHMqeh39jkdTvDWTxtv8AngbwlHO7wM+IcQ16ZG8LjYsNgR0b8rD9P0xUWJmk5bDPzYweedh0/rlTXid0XkKZJ5F87b/1uc9akLVcAVy5yb3ZeiktkfSwrjBGfff+dfMNpEgwkaKOewxXakDA8j/X9Co8szhZGsoZDqHiGMYJ9uXrt1zTi2uxIqAuABnz8J6nHMnH67Usg2qClnMT61xywR5j+t63i2zEsF4ilknxBCCkQ5+ePNscyfIczUsLqC3AhTLtyCINTE9c9AffH8KrvDu+lURxHSm2ojwjfqx5sT5D02AqTuZ4bO1llgCyyqhIGQCx8Ix+UZddvUda6FBylv8Af+CrUwtj77VdofsNnJcy6FfGIkznLn5QT18zgbAGq58CJI34c0gYNI9xIZj11bYz7rg/Ws+7RpcXga74gJS6ARW8WMRtNLsNIBIWGPAOvJMhKjUdlrb+A8FgsoEVQq6Io43c4BYICAWPU+I/rVwgJmimMXFoWYIH3JwMqy5PkCwAJ26U9rEZKW6ZlprkWikorJgWikooBaKSigFopKKAKKKKAKKKKAKKKKAR3ABJIAAySdsDzrOL3j7XNysoz9miY6Bg+LIKmUj2Jx5DPU4q6dp+HtPayRKTkjOBtqwQdPs2MfWqtwezAAI5dK5PVK8oRUEtmdCypwalKXK4K3x7teTIFtz4UIYSD8Q0kHkcpgkY8+eOVVG6uGmkGSzyeIAZzgM+ojb7urfA64q89qOx5kDPa6VY7mMnSCfNT90+nI+lVrspZSQGRJomR9QOSOa4xgHkQCOh61HTuKcKOafh4HM7jcXFzio8LwxwcbLgN++QkciRv82cKDsdyM78/fepa07JOhDNG7lcYHt051cF71oSImAcFSM8jhhlT5ZGRnpnNfHD4btXTvnDL3YDEaQC41gtjmARpON8E+m9Z3tScc5S+RYfS6UHjLZW0trw51Wj55ghkJJ9fFUZ9m4wGJW3IBxgaozj1+b+sVb7OLiGkiRgW7s4IKbPhNz6Z1Dr9On1dx3+jEZAfW5BYpjHdnQD6a8E9cZ51lVmn7v3No2cVw5FetuGX2nXKJnf/wC2CoA5+uOvnScPgvxnvLVwc+HS0Z2znfxVaLmK81uVYaNa4Uac6e63xnYHvPPpn0rnbQ32mYSOuTH+6K6dnwfMbAnH0rTtm1l6TLs45zmRWeK2nFOcSFgfunSpH+7Br44fZX5yJrVvIEMn8fF/W30sU9vxHL6JFxtozp/Db5zy6ib9Rvyw7vIbsvmNyEEceFJTUXEh19Mbpge/lvWXXeEvZErOMuXIgo4r54jC0dxEm+AHQjkRjY8t8++D0FVzifZriRJYCWX3OM+LPnjO2foK0CWG61llYlP3Xhyn4m7wbj8OnG/nXAQ32o5YFNQxgrnT49XPG/y49j9d4XVRcSRo7Cm9m5FAhhuICjSd8jIcqHBKq2AqnfK5UAY8sDyFTtr2tuAoilbvVBBDH5gRybPXcktqzkbbVM8akyTn61U+z/Zy5nLHuzEhc4Z9QwpJwAuQdht0FWKN7ri9exVu+m1rfTKhJvPgW284qlzAUQkSalORkadJDBwehyBgZyD7Zq19ju0P2hDHLgXEY8Y5ah0ce/UdD7iomw4LFDF3aD/Exxlj5n/gdKTs9wnN4sg27pWLEfmGAv15/wCUelQWNxivopr2WdeVNSt81P1IvNFFFegOaFFFFAFFFFAFLSUtAJRS0UAlFLRQCUUUtAJUFxPh7ITLEpZTu8Y5g9XQdc9V68xvkNO0VFWoxqx0yNoTcXlFXilVhlSCPT+XofSqx2qVlw6DLA46nY8zgc8bH6VoN5wmKQ6t0f8AGhwT7jk/+YGoe/7MyvymQ/4ozn9VbH8K4lTpdWEsw3R0aF3BP2timcL41EI/HcaWzuMhf5D+dX3g1jHJDHIS5JUajrbBI2JG/LIOKrNv8L0L6prhiM5Koun/AHEn+VXyytUijWKNQqIoVVHQDlV61sVDLms58yK6uIyxoY3/AGVH+b/UaX9lR/m/1Gn1FXO70vhXoVO0l5jD9lR/m/1Gj9lR/m/1Gn9FO70vhXoO0l5jH9lR/m/1Gk/ZUf5v9Rp9S07vS+Feg7SXmMDwmL8/+pqqXaG7ignMZmKLpXZnOSdyTvvjBUe+avlVrtR2Nt70iRi0coGnWuNwM4DA7EDJ8j61DcWcJwcYpJktCtpnmfBnjXhlmCITJGTgnHIe4A8sb+dXqyXCimvC+wTQ7CdSPMxnP6a/+asEHAhgCSRmH4V8AP6eL6aq5T6bWlLGyRfq3lPSknkj4laRikYBI+Zvup7+Z/KNz6Dep+xs1iXSuT1ZjzY9Sf62GB0rrDEqAKoCqOQAwK6V1rWzhQW278zm1armJRS0VbIhKKWigEopaKASiiloAopKKAWikooBaKSigFopKKAWkoooBaKSigFopKKAWikooBaKSigFopKKAWikooBaKSigFopKKAWikooBaKSigFopKKAWikooBJASCAcHGxxnB88dazLsp27uzxR7C97vu3aZbaRU0azFLIhzuRk9223mB5itONY52q4SZ+HSXluR9osOIXkyEbnSLuRmH6Yf/L60BaPiz2xn4fAptVVpT4nLDKpGGVckZG5d1A/zeRq1cAmka1ikndWdo1dmC6AMqDjGTgDPnWU9uZXm4FccQnXRLeG3KJnOmJZFMajzzlpP8/pV3vrxjw+1giGuS5jijChgpKaA0pBOwPdhgD5laAsXDeMQXEAuYH7yFgSrKrHIBIOFxqJyCMYzmmNl2uspYJblJSYYc945jlUDHMDUgLHphcnOB1qqfDe4NpeXfC5E7oZ+020ZZWxG58SArthW5DnzqpdmuJS20Ud3IqzcPjvLgSoqktC5k8FwRk94F5DbbPU4IA1i87W2kRiWRpVaUExKbe51NjOQAI86ts4543xg1yuO29ikfeySSoned1lre5Uh9KtpKmPUCQ4xtvnbNQXbe5WS84OYpU8c0jI4w4x3J357g586ZfEGbFiqyzJJInEYg7KMAZkDqCPMRuvU+9AXTh3ae1naVI3cvCMyRtFMjgdDodA7A9MA5ppbdt7CTSUklYM4jDC2udOssEClu70qdRA3IwTUF2Ouv/VL5LwKt9he7K7I9sPkKAknOd2yTufTZn8OpH+zCTv41h+3zakK7sGkdVAOeZdkI2oCyy9v+HKZA0sg7pgsp+z3OIyTgBz3eE9yRT7ifai0gMQlkb99jutMUsgfIyApjQgkjfHPFZZxq4kB40Ygrwi6i+2Iv94YDGA5Q5wp2OSQdsnbFWXtZPAw4J9kdFjNyncnGQEELAbEjkCBg0BeOE8YhuQ5iL+BtLh4pYiDpDY0yKp5MDnGN6pnAO0N/Jxq54fJLEYreMSZEWGfUIiFJ1YH95zHlVv4GWxIskqSyLI2plGnAO6KR5hSOp6VnNlxCO07TXrXTLElxBH3MjnSrYWEYDHb7pHuvtQFy4pfXS8RtoElQQyxyyMpjyw7ruhgHV97vD02qS4J2htbsyC3k1NE2iRSjoyt5FXUN9cdD5VCx30N1xWFreRZVt7acSuh1KrSPBoTUNtRCMcZ2A9RVav+ETRF+L8NGq4jnuFuIQdriITvkHH/ALigbHnsOeACBdLjtnYpCbh5JFiVzGzNBcDDg4KkGPI3299uddV7V2nfpa65BNIoZIzBOpKn726YAGN88uuKzrtNxSO47PT3CEhJbsuurY4N4Dv61ZPilCYltuKRDL2UoZsDOqF8JINvRs56DNAWW47SWyPNGzSaoEDygQzNpU5w2QhDA4PLPJvI4b2XbCzlKd20zCTPdt9muQrYVm8LmPSThSQAd8bZpnCC1hd3TZzcxyyjIwRH3ZESkHkRGFJH4i1RXw3d1suHM88fdNAUWLRhu8OCu+TnCq/lzoCZi7f8NbSRM4VpO7DtBcKmv8Bdowit6EipXiPHYIXEbs5crqCRxyytpH3isasQvTJ67VjVndFLJDMA3DzxOX7Xp2dT3qmNid/3WrGoAA7DB3q+cc4bLJevc2HEI4Jlt41ljkRZEdMu0bZyCo+bfegJ687X2USwu8jhZ8dyRDOdZPJQAhIb8pwfSvmftjZIQrSSAmQxr+4uMM4JBRT3eHbIIwM8j5VQL7jElxbcCnnSON24guQo0qQGkAdQeSsAGHvnrVl+IhVZuFDYf+oIcbD7smT+p/jQE1D2xsWljh71lklZkjV4po9TLzXLoAD789sZzUqnEIzM0AbMiorsuDsrFgpJxgElDtnO1V74k8Fin4fNk6HiBnikGAUkQZDA+Zxg+hrv8PnMllHdOdUtyommbzYqBgeSqAFA9PegLJRSUUAtFJS0AUUUUB8yIGBVgCCMEEZBB5gjqKaWnCLaIMIoIUDgK4SNF1AZwDgbgajsfM+dPaKAZXXCLaTR3kEL92CE1Ro2gHGQuR4QdI5eQ8q+YuCWi6StvbroJKYiQaSTqJXA8Jyc7dd6f0UAxl4Nas5ka3gZzzYxoSdsbkjJ229qWDhFsisiQQqrjDqsaAMPJgBhhv1p7RQEc/AbMgKba3KrkKDFGQATk4GNsnevlez1kFCC1tgoJIUQx4yQATjTjJAAJ9BUnRQDR+GQFlYwxFkXSjFFyq4I0g4yBgkYHnTZOzliGVhaWoZSCrCGMFSORB05BHpUpRQDK34RbIWKQQKWBDFY0GQeYOBuD5VzbgFmVVTa2xVc6V7qPAzzwMbZxvUjRQDXh/DYIFKwRRRKTkrGioCfMhQMnbnScR4ZBOoWeGKVRyEiK4H0YGndFAN7OxiiTu4o440/Aiqq/oBiksrCGEFYYo4wTkhEVATyz4RTmigGMnBrVlCNbwFQxYKY0IDNklgMYBOdz1rv9ii7vue7j7rTp7vSunTjGnTjGn0rvRQHOa3RlKMqshGCpAII8iDsRTCLs9ZK2tbW2DYI1CGMHBGCMhc4IOKk6KAYxcGtVV0W3gVXADqI0AYDOAwAwwGTz86+J+AWb6NdtbNoGE1RRnSNtlyPCNhsPKpGigGV5wm2lwZYIZCBga40bA8hkbD0pbzhNvLgywQyEDA1xo2B5DI2HpTyigONzaRyLokRHTbwsoYbctjtSWlnFEumKNI1znSihRnzwBzrvRQBRRRQBRRRQH//2Q=="/>
          <p:cNvPicPr/>
          <p:nvPr/>
        </p:nvPicPr>
        <p:blipFill>
          <a:blip r:embed="rId2"/>
          <a:stretch>
            <a:fillRect/>
          </a:stretch>
        </p:blipFill>
        <p:spPr>
          <a:xfrm>
            <a:off x="8007480" y="6012000"/>
            <a:ext cx="1063440" cy="823680"/>
          </a:xfrm>
          <a:prstGeom prst="rect">
            <a:avLst/>
          </a:prstGeom>
          <a:ln w="0">
            <a:noFill/>
          </a:ln>
        </p:spPr>
      </p:pic>
      <p:pic>
        <p:nvPicPr>
          <p:cNvPr id="16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924360" y="6022800"/>
            <a:ext cx="1152360" cy="79704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34920" y="6013440"/>
            <a:ext cx="2016000" cy="82404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8"/>
          <p:cNvSpPr/>
          <p:nvPr/>
        </p:nvSpPr>
        <p:spPr>
          <a:xfrm>
            <a:off x="-11160" y="5769000"/>
            <a:ext cx="9161640" cy="90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" name="Rectangle 8"/>
          <p:cNvSpPr/>
          <p:nvPr/>
        </p:nvSpPr>
        <p:spPr>
          <a:xfrm>
            <a:off x="-6480" y="5842080"/>
            <a:ext cx="9161640" cy="90360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" name="Rectangle 8"/>
          <p:cNvSpPr/>
          <p:nvPr/>
        </p:nvSpPr>
        <p:spPr>
          <a:xfrm>
            <a:off x="-6480" y="5931000"/>
            <a:ext cx="9161640" cy="90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5"/>
          <p:cNvGrpSpPr/>
          <p:nvPr/>
        </p:nvGrpSpPr>
        <p:grpSpPr>
          <a:xfrm>
            <a:off x="0" y="0"/>
            <a:ext cx="457200" cy="5742000"/>
            <a:chOff x="0" y="0"/>
            <a:chExt cx="457200" cy="5742000"/>
          </a:xfrm>
        </p:grpSpPr>
        <p:sp>
          <p:nvSpPr>
            <p:cNvPr id="22" name="Rectangle 15"/>
            <p:cNvSpPr/>
            <p:nvPr/>
          </p:nvSpPr>
          <p:spPr>
            <a:xfrm>
              <a:off x="0" y="0"/>
              <a:ext cx="457200" cy="5005440"/>
            </a:xfrm>
            <a:prstGeom prst="rect">
              <a:avLst/>
            </a:prstGeom>
            <a:solidFill>
              <a:srgbClr val="FF7900">
                <a:alpha val="6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3" name="Rectangle 10"/>
            <p:cNvSpPr/>
            <p:nvPr/>
          </p:nvSpPr>
          <p:spPr>
            <a:xfrm>
              <a:off x="0" y="1839960"/>
              <a:ext cx="457200" cy="884160"/>
            </a:xfrm>
            <a:prstGeom prst="rect">
              <a:avLst/>
            </a:prstGeom>
            <a:solidFill>
              <a:srgbClr val="FF7900">
                <a:alpha val="9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4" name="Rectangle 13"/>
            <p:cNvSpPr/>
            <p:nvPr/>
          </p:nvSpPr>
          <p:spPr>
            <a:xfrm>
              <a:off x="0" y="2724120"/>
              <a:ext cx="457200" cy="301788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5" name="Rectangle 14"/>
            <p:cNvSpPr/>
            <p:nvPr/>
          </p:nvSpPr>
          <p:spPr>
            <a:xfrm>
              <a:off x="0" y="1471680"/>
              <a:ext cx="457200" cy="353376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6" name="Rectangle 16"/>
            <p:cNvSpPr/>
            <p:nvPr/>
          </p:nvSpPr>
          <p:spPr>
            <a:xfrm>
              <a:off x="0" y="3017880"/>
              <a:ext cx="457200" cy="7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7720" rIns="90000" bIns="277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7" name="Rectangle 17"/>
            <p:cNvSpPr/>
            <p:nvPr/>
          </p:nvSpPr>
          <p:spPr>
            <a:xfrm>
              <a:off x="0" y="368280"/>
              <a:ext cx="457200" cy="7272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5920" rIns="90000" bIns="259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8" name="Rectangle 18"/>
            <p:cNvSpPr/>
            <p:nvPr/>
          </p:nvSpPr>
          <p:spPr>
            <a:xfrm>
              <a:off x="0" y="5669280"/>
              <a:ext cx="457200" cy="7272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5920" rIns="90000" bIns="259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9" name="Rectangle 22"/>
            <p:cNvSpPr/>
            <p:nvPr/>
          </p:nvSpPr>
          <p:spPr>
            <a:xfrm>
              <a:off x="0" y="0"/>
              <a:ext cx="457200" cy="4410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30" name="Rectangle 23"/>
            <p:cNvSpPr/>
            <p:nvPr/>
          </p:nvSpPr>
          <p:spPr>
            <a:xfrm>
              <a:off x="0" y="1177920"/>
              <a:ext cx="457200" cy="1476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31" name="Rectangle 24"/>
            <p:cNvSpPr/>
            <p:nvPr/>
          </p:nvSpPr>
          <p:spPr>
            <a:xfrm>
              <a:off x="0" y="5080320"/>
              <a:ext cx="457200" cy="1458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32" name="Fußzeilenplatzhalter 4"/>
          <p:cNvSpPr/>
          <p:nvPr/>
        </p:nvSpPr>
        <p:spPr>
          <a:xfrm>
            <a:off x="5389560" y="6073920"/>
            <a:ext cx="230508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NCC 2026 Oral Session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1000" b="0" i="1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Page</a:t>
            </a:r>
            <a:r>
              <a:rPr lang="de-DE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 </a:t>
            </a:r>
            <a:fld id="{45245F8C-643A-4F9E-9AC2-6CA5AFB6ED02}" type="slidenum">
              <a:rPr lang="de-DE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</a:fld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Fußzeilenplatzhalter 4"/>
          <p:cNvSpPr/>
          <p:nvPr/>
        </p:nvSpPr>
        <p:spPr>
          <a:xfrm>
            <a:off x="2386080" y="6021360"/>
            <a:ext cx="1538280" cy="72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NCC 2026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https://ncc.co.ug/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34" name="Picture 23" descr="data:image/jpeg;base64,/9j/4AAQSkZJRgABAQAAAQABAAD/2wCEAAkGBxETEhUSEhMSFhUXFxsaFhcYFxYYIBsdIBkYHyAaICAbHSogGRslIhchITEjJSkrMS4wHh8zODMsOSgtLisBCgoKDg0OGhAQGyslICYtKy0rMisrMi4tNS0vKy0tLzUwNS0vLS0tLS0tLS0tLS0tLS8tLS0tLS0tLS0tLS0tLf/AABEIAM8A9AMBIgACEQEDEQH/xAAcAAABBQEBAQAAAAAAAAAAAAAAAQQFBgcDCAL/xABFEAACAQMCAwYDBQUHAwIHAQABAgMABBESIQUxQQYTIlFhcQcygRRCUmKRFSOhsfAkM3KCkqLBc7LRJUM0NURTk6PhFv/EABoBAQACAwEAAAAAAAAAAAAAAAADBAECBQb/xAAxEQACAQMDAQUHAwUAAAAAAAAAAQIDBBESITEFExRBUZEiQlJhcaHwMoHRBhUzseH/2gAMAwEAAhEDEQA/ANwooooAooooAooooAooooAorjc3UcYy7qo9Timlnx22lfu45VZjnAGenPpWuuOcZ3NlCTWUtiRooorY1CiiigCiiigCiiigCiiigCim99fRQrrlcIucZPn5VytOL28u0cqMfLP/AJrVzinhs2UJNZxsPaKKK2NQooooAooooAooooAooooAopaKASilooBlxfiKW8Mk8nyRrqb2ptacZV7qS22ysaSIR95WyCfoQP1FOuMWQmglhbcSRuh/zKR/zXn207VyxNbOW0zWmqB8/eUN4Vby0+JPUMN8jNAejaiO0fGltowebscIP+T6D/xX32d47FdxCWM4P30zup8j6eR61AdtOzl1czI8Rj0KmPExG+TnkD6VDXclB6OSxawpyqpVHhEcMTqXZmZjz3/hUh2M4ev2mWUfdUKOXMnJ/gP4mqzxXs9eRmC3+0RW73LmMSAs2nCMxwMDLnGBuNzVR7SdhL+wkaaymvGaIhi7eENnT4g+dLZJAKHJPLfeuXZWFSFTtaj/AGLd1cxinTpvKZ6IoqI4Px6KVUDNpkIGVIx4sbgdDv61MV2jmCUUtNuIXscMbSysFRRkk/y9SeQHWhlJt4R0uZ0jUu7KqqMlicACmfB+NW90paCQOAcEYII9wdwDjY9ayDtX2olvH3ysKnwR5/3N5t/L+Ji+GcRlt5BLC5Vh+hHkR1HpVV3SUsLg9DS/p+pKjqk8S8F/J6DoqB7Jdpo72PIwsq/3keeX5h5qfP6VP1ZTTWUcCpTlTk4TWGhKKWm95exxDMjhR0zzPsOZrJoR/auyEtrIvUDUPdTn/jFU2wtlKBjkeHY+eOtVb4iC/wCJ3/c273C2ccYP7tWOSTgsUUhnOcAZ5Dyycu7TsfdWP2aNbwyR3TaBDMCjI2gtkbtgYXdcDGRzrmdRspV0pQe6Ltrc6F2b4bLv2d7SDvBbyNkE4jY+fQH36VcKzD//ABV+HDDuvCwIw55g5/DWmlsLliAAMknYDzPtU9kqkYaZ+Bm+hRUk6TTzzgZ8c4mltbyTvjCKT7noPqcCvmz4sjydx/7ohSVx5ByQPUHKnY1k3xF7ZR3M8durf2dHDOBzlAPi9gRlAT+LPUYtPwkme5F3xCTdriUAHppQYAHoCSPpVwomgUUtFAJRS0UAlFLRQBRRRQBRRRQFa7f3EK2pWWd7cucRXA1gRyDdCzL8oJ232IyOtec+JySPcSPI6GYnEhBVkkxtqBXYggZ1DnmvSvbS2mktJEhhhnJHiil1AOvUKQRpfqD5+XOvMdyniZGTGliND5DJv8pJGcjl0oCxdhOKXENyiQSCN22VJCdLHomeWljtg8iRyrcOA9r4pX7idTb3I2Mb7aj+Qn5v6xnnXmZywxvtnk3T1DDfI5+degOCWy3lrH36iXC/Nr1q4xzSUDOf8QD7HOcZoA+M3C1ltIpmDFbedHk0kghCGUsMEEaSytz5KaofG1vIiDcTPc2mQ0YmLSxYwdpPxc8hmOc4+ui/2q2Qqf7XakYMUhXvQpG4U/LMvPb6DlUXYl4UZ7H+1WYBEls2TNFt8uDu2Bt+I/m51iSysElKahNSaT+TJnsPwmxlgjulsLeGQk8ox91iAykjODjI/mauNUPs1eI2o8PmfwDezlYFNuYViNcTDljJUbZXnVt4TxVJwQAySLtJE+AyH1wcEbbMCQehrKNJNNtpYH9Y38Q+05uZu6jP7mNsDyds4Ln0HIfU9avfxE40be1KocSS+BfMD7zfQbZ8yKxK520+hqrcVPcR3ek2uISuZLj9P18/2L3wXsA08YladVUqCAEJO4zjdhXOLsI7Ro/frl3KgaDjYkZJ1enlV97GnNnH/wBNf+wVxtP7iD/qt/3tUfZx0p4NZdVutbWvx8kZjOZeHXY0OpdOvINyypHka2jgvE0uYUmj5MOXUHqp9QaxTtvJm/mG/hOOv5fKrJ8LOM93M1sx8MuWT0cDcfVR/tpQnplpZPe0ZXVt2/vR5+a/4arTDinBra4wJ4Y5cctahse2fank0qqpZiFUDJJOAB5knkKrd9xWWaN3R2tbdf8A6gqhkf8A6auCEXpqcZO+ANmq8ecMq4rcgXTJw62S0nRnVe5DCQ7lf3mNgmfEQVxsNzUv2c4RNJxe0M88s89vG8s7s2QgKlVQKPChYtnA6JnepuyvWk7yPhkZOogzXs7EjqCdZHiIA5DcbcudOeDXGgPHw8LLI5zPezeFCwyMIOb43wo2HMkkknEU1yyWrUjPCjFLBcuM8Zt7WMyTyKi9Mnc+gHMmsp+Ivau7kgDAfZ7eRtKK/wDeS45sV56RjkcDcfNVyg4EobvpzJNNzMkm5zvhY41+UZ3xtisZ+I15LJfMWIBACgFxIyD8OlBoRupVScbZJOayRFdkUkEsxVT8zE+Jvcnl/XKtc+El8NUffXOSV0WlohzpT70zqmy5xsz9Mn7wrIQmN8ZP4nP8h0/hWufA+1ny0q26CNsh7l9Wp8co4l2AUHcnfcdegGw0UUUAUUUUAUUUUAUUlFALRSUUAMuRisW+J3w6KFryO5jK/eW6l0keSpK/P0Vz9a2muF7aRyo0UqK6MMMrAEEeoNAeRBjycH0Of+SDWvfB7ihWMotrNgfNNFIGB9ZIWkyD+ZF38qqXxS7G/Yp9UMXdQN8gWcPnl9x8OuM8hqHLcVA9k+KrbTrK8YkHLLs6lPzKYyDn9aA9E3WhTkNjVkndkI5fd0MN/PHuaZ8Qs2w91B4bqJSwxkCVBv3br1JHXA3x6U+4VdxXcCvEZmUjK6u/TJ93xkb8967Q4TxhdO+lvoTgjxYXc9T15b0BB8XihubeDi1q3dyYR+g71CQGhcdXxlQRvnA5U/up0cd8hAuI9lYc2woLIfxq2M49sYNYp2i4UtrxiQFpyjNrj7opHjVlip1DSoBJOw68quvDp+9WJ/kWKYhVDEg+B1bLHdyGfLHz09c5AY/ELtNHPcJl1UJEuFJA3bdiM815DPXFVK4vIWG0sef8QpPilbxgQOCNZBOk89D5YAflQgqPeofs9FFBaycQkiSZxKILeNxqQPpLtI6/e0rgAHbJOeVV5W6lLVk7NHrMqVBUdCwWuLta6xiNZrfSOX7xtvbxbU34d2mljyWuYnOTjW/y+2k7VC8O7UtdSpb36QywysE1LDFG8Oo4Dxsijdcg4bIIGKc8YQ8G026JC14wLyzuiyaF1MI1jDgquVGokgnxY6VjukcckL6lHP8AjXqOpuJxySGSSWEk8yHzv57mnFnxuOKRJUlj1IwYeNehzj68qhLe8/aUc0c8cQuYomminjjSMuE3aKQIArArnScAgqOhNQ3ZC3ikvbdZivdmQFs8mwCQn+YgL9ad1Wc5LMetuMHTVNYZ6duLuK6cFzmBSpVeQd+a6h1x82npsTzGI+ey/aFzHG74to07xo1OO+OwTluEUq5IGPmXzqMvICyxujtqE7yKSR4gY5QEO2M45DHNR5VmXbe971Ay/aEck4WMq0bNk52JEkbE5GAW3B9zZOGbJI8d5NNbL4bOzKpIieESS4z3e3JEGMgY3PpTpXGVTIXAAChtAVcnBHgzsMZ8Q9KYdiuGdzYQW5Opnj1ytjmX8TnPMnf5m5+nKpy2th85DqB8uDIc+pALZPr1oCP4/fCK2ZUiuJhg5EIEII3+aUlcKepU59684XkoaR2CMgLHCJqIXfkGJLN7knNaJ8Vu1EEpa3iUyMDhnaS4BQ/4G0qT7g1m/C+GzTyrFGJWYkeHVHHnflqfAH8aAnuxvY6TiMmiMwRqPmMrgtj8sYJZvrgetekOz/CBawrD3sspA3eRsk7dByUegAFRXYfsfbWMSlIFjmZR3razK2fLWVGR6AAelWegFopKKAWikooApaSigCiiigCiiigCiiigGHG+FRXMTRyRQybHSJUDqGxsSOf6EGvOPbbsjNbTsDHAxwGZLaKfQgPL5s79cZPSvTjuACScADJPpXnm+4vLdyF9w8kuVz0BZwq46jS6g5225VrKSjyTUaE6rxBFU4Rxy6ikUwnLEgIrgy7nlpQ5Gryrc+zyzPCkdww+141ujNFqx1ysSkRKeX3m6ZzWffFOSxtJVtIYY42I7yWSNFEgxqCIGABXJAY4O+BnnvXba9mggco5t4pFUPpOHfGo4LjxbljsDWxCWD4v8REsscNsQe4J7x0AC69IGhfVRnJztkDPPCfD2xv7qN7jQFt4VVUI8KkKwZlQE+YDO+TkIFGSdvv4T8CTiUrmZG+y26rhB4Q7k/KccxgZIHpnY4N8+IXaYRRNwzh8RluGiKmOFMiCIjBJCjCnTnA6begIHnPi9800hdiTsAoJzpUDYDyG9WriMOns/anHz3sp9wEK1AdorBYvs5XGJbWKT6kFW/3Iat/a2Ep2f4UvnJM3+pnYf91ZMGdI5UhhzBBH0Oau3xolLcXnHRUhUf8A4Y2/m1UjH9YNWT4iXHecQmfJOVi8+kMY/wCKxqWcGdL5H/wkh18Q0fit5x/+s1TEJGCNiOVX74Hf/N4s/gk/7KpPELQxyyQgElJGQDG5wxHLz2rJg1TsqL294dIYNbyQ/N4sOWAiZNJz86susbb4cbFgapXCuMytfJPLGPDJqkjRNOSBpchTtrxzGwOBtWiWfFxwjitxIIpDY4gguZEUlI5Fij32GCQTuOfiPXANo+JPZe3mtX4nZqDcIomVoyNMqjBJIAOo6MkMNzgAkjasGSZinhZFuUeHuGUaZAwXJPLOV8Bz19cFc1knb7jvEYpTbyLpjJLQsyojlc81kiOlh+nMZAqF4LxqWRZ44JQneqRLAw8D6gcnSdtXqMHlXLh/FLeC5X7TEHjDBWhkHeIqOMSOgOyMCoIIwaAjFt5bhslZW6Fykz49ygY4FegPhx2JS2QST29h3owY5YVctjHMmTk3quKpfbHhsdpNELZFSJotQVAFBbcajp+bbHP1960T4Y8YNxZ+I5aKRoycY2zqXb/CwH0rVSTeCWVCcYKbWz4ZbaKKK2IgooooAooooAooooBaKKKAKKKKAKKKKAhO2s5SxuNJ0s0ZRT5FvDn3Gc1gttNodWP3WVvPkx/XlWzfFJ8WW/IyLn6Bj9flzWXdjuCi7vY4WGYxqeXHLSp5Z8iSB7GqdbLqJHoOlyjTt6k5fmwvb7sk0i3PGJnx3k8S20YOcpqRNbHyYAkAeefSqp2ptZDZw3DeFGl7uFT98BGLSD8oOkZ65Plvofxs4mbi6tOEJqRWkjeVtvvEquB10gsffHlU320+GDXt1blJlitIYBFoGSUwT8i40jUCoLE/dGxq4efI3sdK/wBnHDODEaV/+L4iV8AkIGruwf718bDfAAX3rRezHZm3sYykKksxzLK51SSt1Z25sSST5DO1d+B8KhtIEtrdAsaDAHn5sfNidyetPsmgPPvxW7CXVvFAykTqJZlXu42DKsjGVVIGchSH39agO2XaLvLCxszbyxtagAtIpAfwDOxAxv6nIr0rxaBpImVMd4MNGTy1ruAfIEjB9Cao0nHw693d2upW2OV1L6jDc8dd+lYckuSKpVjTxqK9wHi0kkcevQAVGwRFHy8h4Tj/APlS19clBlCPqqb8/NK7WvFBysrLYbBtIUAdOQ/5pzJxq5Rf7RbZXrgZ/wDIP1rkS6dGUtWr7Fv+80vCLx9DKV7XfZOMfa5UD93GV0oFQtlNskD1546Cm/ZnhEt9xhZYo3EUlw84aRGC4BMmCRsd8DbzrTUueHtJ3kVgjS/iMaZGPUAnb2q39kTLKWnlQIF1RxKM8sjWTnrlQvppPnXUpYjFRXgVe8061RuB37NdmVt7eWCZxcd9LJJKzooDmQ7gruCNsb/wGwrk3Drjg5aS1R7nhzEmS1zqeDPNos/NH1KH36k1oQYUtSEh5Xn4PbvxZE4bMjxz5kg6aCVc9ww5ocrpGeQKmpDhvZccUvHgZzDKIZCMjlIjRgowO/3jnqPXFX7tj8IjJci7sJFicyo5Q+EIdQJkjYZ0nO+nHPOPKo34nTrwvjNnxGPJ7xT36jGWC6UZvLUVcfVBQEb2lmdY7a3mBWa3t+7lGQcMpYDHoQAw9GB61a/g5Npknjz86hgPVSVP8HFdvi1whZIor6MHPhV9uaNurHywdv8ANUN8KyReJ+ZH+vM7/wCmqcsxrL5noNUanTcLw/3nJs1FFFXDz4UUUUAUUUUAUUUUAUUUUAUUUUAUUlLQFR+J8BeyKqpZi4CgAk5KsBgDmd6b/DHsu9rE8s64mlxtndUHJT5EnJP0HSrrRWmhatROriSpdkuM5Ms+KXDUh4jw3iJAC98sUxJ2IBLoTnbbDfoPKtSc7VVfilwf7Vwy5jAyyr3iD8yeLH1AI+tSPY/iourGCfOS8Y1f4hs38Qa3ICWH8a+ZJVVlBJBbYHpnnj3O+PY0krNp8ABYdDtn09KbPJHcxshyD1U7MpB2PuCOdYbMpHCe47qdQfkl6/hcYH6MCPqPU1B9p7mS1lUxx94kxJK8tL7Zx6NkdOZP4qdT3BmjeCQfvY/l/PgZOPUj9c59mF5diaBVfdkODn7ynr7ggA/Q9arSrYz+fU2lRc444GR49dSeGG1YN5tnA/gP519nit5FnvYNewwUHn7ZH0phfccuohpBUpgASlckHbZt8exxvtnfm24d2nui+gBZPMsANI/ExXGB/H3rZVY85OTNThV7Nyln6bErJxm5kZI44u6MhxqYZwNhkDbJydue9W++uhBGkcQ8Z8Ma8/TJ64Hn1NVnhzIJzM5LY8ZJ5nAAUAdBlhhemfc1I8Nn1SPdTEAJsOu55KPPAP11ZrVVs7L8R1adBwXtPJPpphi8TbKPEx6+ZPqT/OnFs5KgkEZ3weY9/WoKyLXMveOMRRnwJ5t5nzI5/p60/wD2kZH7uDBx88nNV9B+Jv4demKmjNPf0Djgk6yn4u8PF3xHhdmM+My97g4/dExFuW/KNv6NaqKzns2PtfHr26zlLSNbaPy1Etrx6gqwP+KpDUvXE+GxzQPbsDodCmx5DGxHqOdZj2B4NcWvERHOhBCuFPRgAfEp5MPEPbODitaorSUFJp+RPTuJQhKC4YtFJS1uQBRRRQBRRRQBRSUtAFFJRQC0UlFALRSUUAtFJXO5uEjXU7BRsMnzPIepoD7fGDqxjG+eWPX0rHvgn2pgWSXhwbCF2ktdWxK/h36lAr+5etVW7gnDRkhgwIKMrLqBG4wwGRg1j/xA4faftC5jbEbtbQT20o1DE0RkXRlPENax6cjlpB2IFYUk1lMPbk1ziE8sR1hdcfULsy+vkw/Qj16RV4iTfv7Zv3qjJA2Yj28x+h5b7VXvh98QO+UR3HeFQhZbkrgEAZMcuNhMMc12bYgAnFSvFzaFtcMyB9TApnGWHMqeh39jkdTvDWTxtv8AngbwlHO7wM+IcQ16ZG8LjYsNgR0b8rD9P0xUWJmk5bDPzYweedh0/rlTXid0XkKZJ5F87b/1uc9akLVcAVy5yb3ZeiktkfSwrjBGfff+dfMNpEgwkaKOewxXakDA8j/X9Co8szhZGsoZDqHiGMYJ9uXrt1zTi2uxIqAuABnz8J6nHMnH67Usg2qClnMT61xywR5j+t63i2zEsF4ilknxBCCkQ5+ePNscyfIczUsLqC3AhTLtyCINTE9c9AffH8KrvDu+lURxHSm2ojwjfqx5sT5D02AqTuZ4bO1llgCyyqhIGQCx8Ix+UZddvUda6FBylv8Af+CrUwtj77VdofsNnJcy6FfGIkznLn5QT18zgbAGq58CJI34c0gYNI9xIZj11bYz7rg/Ws+7RpcXga74gJS6ARW8WMRtNLsNIBIWGPAOvJMhKjUdlrb+A8FgsoEVQq6Io43c4BYICAWPU+I/rVwgJmimMXFoWYIH3JwMqy5PkCwAJ26U9rEZKW6ZlprkWikorJgWikooBaKSigFopKKAKKKKAKKKKAKKKKAR3ABJIAAySdsDzrOL3j7XNysoz9miY6Bg+LIKmUj2Jx5DPU4q6dp+HtPayRKTkjOBtqwQdPs2MfWqtwezAAI5dK5PVK8oRUEtmdCypwalKXK4K3x7teTIFtz4UIYSD8Q0kHkcpgkY8+eOVVG6uGmkGSzyeIAZzgM+ojb7urfA64q89qOx5kDPa6VY7mMnSCfNT90+nI+lVrspZSQGRJomR9QOSOa4xgHkQCOh61HTuKcKOafh4HM7jcXFzio8LwxwcbLgN++QkciRv82cKDsdyM78/fepa07JOhDNG7lcYHt051cF71oSImAcFSM8jhhlT5ZGRnpnNfHD4btXTvnDL3YDEaQC41gtjmARpON8E+m9Z3tScc5S+RYfS6UHjLZW0trw51Wj55ghkJJ9fFUZ9m4wGJW3IBxgaozj1+b+sVb7OLiGkiRgW7s4IKbPhNz6Z1Dr9On1dx3+jEZAfW5BYpjHdnQD6a8E9cZ51lVmn7v3No2cVw5FetuGX2nXKJnf/wC2CoA5+uOvnScPgvxnvLVwc+HS0Z2znfxVaLmK81uVYaNa4Uac6e63xnYHvPPpn0rnbQ32mYSOuTH+6K6dnwfMbAnH0rTtm1l6TLs45zmRWeK2nFOcSFgfunSpH+7Br44fZX5yJrVvIEMn8fF/W30sU9vxHL6JFxtozp/Db5zy6ib9Rvyw7vIbsvmNyEEceFJTUXEh19Mbpge/lvWXXeEvZErOMuXIgo4r54jC0dxEm+AHQjkRjY8t8++D0FVzifZriRJYCWX3OM+LPnjO2foK0CWG61llYlP3Xhyn4m7wbj8OnG/nXAQ32o5YFNQxgrnT49XPG/y49j9d4XVRcSRo7Cm9m5FAhhuICjSd8jIcqHBKq2AqnfK5UAY8sDyFTtr2tuAoilbvVBBDH5gRybPXcktqzkbbVM8akyTn61U+z/Zy5nLHuzEhc4Z9QwpJwAuQdht0FWKN7ri9exVu+m1rfTKhJvPgW284qlzAUQkSalORkadJDBwehyBgZyD7Zq19ju0P2hDHLgXEY8Y5ah0ce/UdD7iomw4LFDF3aD/Exxlj5n/gdKTs9wnN4sg27pWLEfmGAv15/wCUelQWNxivopr2WdeVNSt81P1IvNFFFegOaFFFFAFFFFAFLSUtAJRS0UAlFLRQCUUUtAJUFxPh7ITLEpZTu8Y5g9XQdc9V68xvkNO0VFWoxqx0yNoTcXlFXilVhlSCPT+XofSqx2qVlw6DLA46nY8zgc8bH6VoN5wmKQ6t0f8AGhwT7jk/+YGoe/7MyvymQ/4ozn9VbH8K4lTpdWEsw3R0aF3BP2timcL41EI/HcaWzuMhf5D+dX3g1jHJDHIS5JUajrbBI2JG/LIOKrNv8L0L6prhiM5Koun/AHEn+VXyytUijWKNQqIoVVHQDlV61sVDLms58yK6uIyxoY3/AGVH+b/UaX9lR/m/1Gn1FXO70vhXoVO0l5jD9lR/m/1Gj9lR/m/1Gn9FO70vhXoO0l5jH9lR/m/1Gk/ZUf5v9Rp9S07vS+Feg7SXmMDwmL8/+pqqXaG7ignMZmKLpXZnOSdyTvvjBUe+avlVrtR2Nt70iRi0coGnWuNwM4DA7EDJ8j61DcWcJwcYpJktCtpnmfBnjXhlmCITJGTgnHIe4A8sb+dXqyXCimvC+wTQ7CdSPMxnP6a/+asEHAhgCSRmH4V8AP6eL6aq5T6bWlLGyRfq3lPSknkj4laRikYBI+Zvup7+Z/KNz6Dep+xs1iXSuT1ZjzY9Sf62GB0rrDEqAKoCqOQAwK6V1rWzhQW278zm1armJRS0VbIhKKWigEopaKASiiloAopKKAWikooBaKSigFopKKAWkoooBaKSigFopKKAWikooBaKSigFopKKAWikooBaKSigFopKKAWikooBaKSigFopKKAWikooBJASCAcHGxxnB88dazLsp27uzxR7C97vu3aZbaRU0azFLIhzuRk9223mB5itONY52q4SZ+HSXluR9osOIXkyEbnSLuRmH6Yf/L60BaPiz2xn4fAptVVpT4nLDKpGGVckZG5d1A/zeRq1cAmka1ikndWdo1dmC6AMqDjGTgDPnWU9uZXm4FccQnXRLeG3KJnOmJZFMajzzlpP8/pV3vrxjw+1giGuS5jijChgpKaA0pBOwPdhgD5laAsXDeMQXEAuYH7yFgSrKrHIBIOFxqJyCMYzmmNl2uspYJblJSYYc945jlUDHMDUgLHphcnOB1qqfDe4NpeXfC5E7oZ+020ZZWxG58SArthW5DnzqpdmuJS20Ud3IqzcPjvLgSoqktC5k8FwRk94F5DbbPU4IA1i87W2kRiWRpVaUExKbe51NjOQAI86ts4543xg1yuO29ikfeySSoned1lre5Uh9KtpKmPUCQ4xtvnbNQXbe5WS84OYpU8c0jI4w4x3J357g586ZfEGbFiqyzJJInEYg7KMAZkDqCPMRuvU+9AXTh3ae1naVI3cvCMyRtFMjgdDodA7A9MA5ppbdt7CTSUklYM4jDC2udOssEClu70qdRA3IwTUF2Ouv/VL5LwKt9he7K7I9sPkKAknOd2yTufTZn8OpH+zCTv41h+3zakK7sGkdVAOeZdkI2oCyy9v+HKZA0sg7pgsp+z3OIyTgBz3eE9yRT7ifai0gMQlkb99jutMUsgfIyApjQgkjfHPFZZxq4kB40Ygrwi6i+2Iv94YDGA5Q5wp2OSQdsnbFWXtZPAw4J9kdFjNyncnGQEELAbEjkCBg0BeOE8YhuQ5iL+BtLh4pYiDpDY0yKp5MDnGN6pnAO0N/Jxq54fJLEYreMSZEWGfUIiFJ1YH95zHlVv4GWxIskqSyLI2plGnAO6KR5hSOp6VnNlxCO07TXrXTLElxBH3MjnSrYWEYDHb7pHuvtQFy4pfXS8RtoElQQyxyyMpjyw7ruhgHV97vD02qS4J2htbsyC3k1NE2iRSjoyt5FXUN9cdD5VCx30N1xWFreRZVt7acSuh1KrSPBoTUNtRCMcZ2A9RVav+ETRF+L8NGq4jnuFuIQdriITvkHH/ALigbHnsOeACBdLjtnYpCbh5JFiVzGzNBcDDg4KkGPI3299uddV7V2nfpa65BNIoZIzBOpKn726YAGN88uuKzrtNxSO47PT3CEhJbsuurY4N4Dv61ZPilCYltuKRDL2UoZsDOqF8JINvRs56DNAWW47SWyPNGzSaoEDygQzNpU5w2QhDA4PLPJvI4b2XbCzlKd20zCTPdt9muQrYVm8LmPSThSQAd8bZpnCC1hd3TZzcxyyjIwRH3ZESkHkRGFJH4i1RXw3d1suHM88fdNAUWLRhu8OCu+TnCq/lzoCZi7f8NbSRM4VpO7DtBcKmv8Bdowit6EipXiPHYIXEbs5crqCRxyytpH3isasQvTJ67VjVndFLJDMA3DzxOX7Xp2dT3qmNid/3WrGoAA7DB3q+cc4bLJevc2HEI4Jlt41ljkRZEdMu0bZyCo+bfegJ687X2USwu8jhZ8dyRDOdZPJQAhIb8pwfSvmftjZIQrSSAmQxr+4uMM4JBRT3eHbIIwM8j5VQL7jElxbcCnnSON24guQo0qQGkAdQeSsAGHvnrVl+IhVZuFDYf+oIcbD7smT+p/jQE1D2xsWljh71lklZkjV4po9TLzXLoAD789sZzUqnEIzM0AbMiorsuDsrFgpJxgElDtnO1V74k8Fin4fNk6HiBnikGAUkQZDA+Zxg+hrv8PnMllHdOdUtyommbzYqBgeSqAFA9PegLJRSUUAtFJS0AUUUUB8yIGBVgCCMEEZBB5gjqKaWnCLaIMIoIUDgK4SNF1AZwDgbgajsfM+dPaKAZXXCLaTR3kEL92CE1Ro2gHGQuR4QdI5eQ8q+YuCWi6StvbroJKYiQaSTqJXA8Jyc7dd6f0UAxl4Nas5ka3gZzzYxoSdsbkjJ229qWDhFsisiQQqrjDqsaAMPJgBhhv1p7RQEc/AbMgKba3KrkKDFGQATk4GNsnevlez1kFCC1tgoJIUQx4yQATjTjJAAJ9BUnRQDR+GQFlYwxFkXSjFFyq4I0g4yBgkYHnTZOzliGVhaWoZSCrCGMFSORB05BHpUpRQDK34RbIWKQQKWBDFY0GQeYOBuD5VzbgFmVVTa2xVc6V7qPAzzwMbZxvUjRQDXh/DYIFKwRRRKTkrGioCfMhQMnbnScR4ZBOoWeGKVRyEiK4H0YGndFAN7OxiiTu4o440/Aiqq/oBiksrCGEFYYo4wTkhEVATyz4RTmigGMnBrVlCNbwFQxYKY0IDNklgMYBOdz1rv9ii7vue7j7rTp7vSunTjGnTjGn0rvRQHOa3RlKMqshGCpAII8iDsRTCLs9ZK2tbW2DYI1CGMHBGCMhc4IOKk6KAYxcGtVV0W3gVXADqI0AYDOAwAwwGTz86+J+AWb6NdtbNoGE1RRnSNtlyPCNhsPKpGigGV5wm2lwZYIZCBga40bA8hkbD0pbzhNvLgywQyEDA1xo2B5DI2HpTyigONzaRyLokRHTbwsoYbctjtSWlnFEumKNI1znSihRnzwBzrvRQBRRRQBRRRQH//2Q=="/>
          <p:cNvPicPr/>
          <p:nvPr/>
        </p:nvPicPr>
        <p:blipFill>
          <a:blip r:embed="rId2"/>
          <a:stretch>
            <a:fillRect/>
          </a:stretch>
        </p:blipFill>
        <p:spPr>
          <a:xfrm>
            <a:off x="8007480" y="6012000"/>
            <a:ext cx="1063440" cy="823680"/>
          </a:xfrm>
          <a:prstGeom prst="rect">
            <a:avLst/>
          </a:prstGeom>
          <a:ln w="0">
            <a:noFill/>
          </a:ln>
        </p:spPr>
      </p:pic>
      <p:pic>
        <p:nvPicPr>
          <p:cNvPr id="35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924360" y="6022800"/>
            <a:ext cx="1152360" cy="797040"/>
          </a:xfrm>
          <a:prstGeom prst="rect">
            <a:avLst/>
          </a:prstGeom>
          <a:ln w="0">
            <a:noFill/>
          </a:ln>
        </p:spPr>
      </p:pic>
      <p:pic>
        <p:nvPicPr>
          <p:cNvPr id="36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34920" y="6013440"/>
            <a:ext cx="2016000" cy="824040"/>
          </a:xfrm>
          <a:prstGeom prst="rect">
            <a:avLst/>
          </a:prstGeom>
          <a:ln w="0">
            <a:noFill/>
          </a:ln>
        </p:spPr>
      </p:pic>
      <p:sp>
        <p:nvSpPr>
          <p:cNvPr id="37" name="Rectangle 8"/>
          <p:cNvSpPr/>
          <p:nvPr/>
        </p:nvSpPr>
        <p:spPr>
          <a:xfrm>
            <a:off x="-11160" y="5769000"/>
            <a:ext cx="9161640" cy="90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8" name="Rectangle 8"/>
          <p:cNvSpPr/>
          <p:nvPr/>
        </p:nvSpPr>
        <p:spPr>
          <a:xfrm>
            <a:off x="-6480" y="5842080"/>
            <a:ext cx="9161640" cy="90360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Rectangle 8"/>
          <p:cNvSpPr/>
          <p:nvPr/>
        </p:nvSpPr>
        <p:spPr>
          <a:xfrm>
            <a:off x="-6480" y="5931000"/>
            <a:ext cx="9161640" cy="90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Untertitel 2"/>
          <p:cNvSpPr/>
          <p:nvPr/>
        </p:nvSpPr>
        <p:spPr>
          <a:xfrm>
            <a:off x="1380960" y="421488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61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575C"/>
                </a:solidFill>
                <a:latin typeface="Arial" panose="020B0604020202020204"/>
              </a:rPr>
              <a:t>Click to edit the title text format</a:t>
            </a:r>
            <a:endParaRPr lang="en-US" sz="3000" b="1" strike="noStrike" spc="-1">
              <a:solidFill>
                <a:srgbClr val="00575C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46040" y="1009440"/>
            <a:ext cx="8229600" cy="4816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5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6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36576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900"/>
                </a:solidFill>
                <a:latin typeface="Gill Sans MT"/>
              </a:defRPr>
            </a:pPr>
            <a:r>
              <a:t>THE 10TH NATIONAL CONFERENCE ON COMMUNICATIONS (NCC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91640"/>
            <a:ext cx="8412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42E"/>
                </a:solidFill>
                <a:latin typeface="Gill Sans MT"/>
              </a:defRPr>
            </a:pPr>
            <a:r>
              <a:t>OptiscanAI: Large Vision Models for Multi-Disease Retinal Screening</a:t>
            </a:r>
          </a:p>
          <a:p>
            <a:pPr algn="ctr">
              <a:defRPr sz="1800" b="1">
                <a:solidFill>
                  <a:srgbClr val="184066"/>
                </a:solidFill>
                <a:latin typeface="Gill Sans MT"/>
              </a:defRPr>
            </a:pPr>
            <a:r>
              <a:t>A Benchmark and Deployment Study in Ugandan Healthcare  •  Paper 83</a:t>
            </a:r>
          </a:p>
          <a:p>
            <a:pPr algn="ctr">
              <a:defRPr sz="1400">
                <a:solidFill>
                  <a:srgbClr val="555E6D"/>
                </a:solidFill>
                <a:latin typeface="Gill Sans MT"/>
              </a:defRPr>
            </a:pPr>
            <a:r>
              <a:t>Lauben Mpairwe¹, Shadia Nankya¹, Rebecca Yapyeko¹, Marvin Ggaliwango²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FC2"/>
                </a:solidFill>
                <a:latin typeface="Gill Sans MT"/>
              </a:defRPr>
            </a:pPr>
            <a:r>
              <a:t>Presenter: Mpairwe Lauben</a:t>
            </a:r>
          </a:p>
          <a:p>
            <a:pPr algn="ctr">
              <a:defRPr sz="1500">
                <a:solidFill>
                  <a:srgbClr val="006FC2"/>
                </a:solidFill>
                <a:latin typeface="Gill Sans MT"/>
              </a:defRPr>
            </a:pPr>
            <a:r>
              <a:t>Dept. of Networks, College of Computing and Information Sciences (CoCIS)</a:t>
            </a:r>
            <a:br/>
            <a:r>
              <a:t>Makerere University, Kampala, Uganda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42E"/>
                </a:solidFill>
                <a:latin typeface="Gill Sans MT"/>
              </a:defRPr>
            </a:pPr>
            <a:r>
              <a:t>September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7900"/>
                </a:solidFill>
                <a:latin typeface="Gill Sans MT"/>
              </a:defRPr>
            </a:pPr>
            <a:r>
              <a:t>Three Core Realities in Retinal AI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43000"/>
            <a:ext cx="2514600" cy="3520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" y="1143000"/>
            <a:ext cx="73152" cy="35204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97864"/>
            <a:ext cx="2313432" cy="3410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FF7900"/>
                </a:solidFill>
                <a:latin typeface="Gill Sans MT"/>
              </a:defRPr>
            </a:pPr>
            <a:r>
              <a:t>01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The Clinical Tragedy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2.2 billion people suffer visual impairment globally. In Uganda, &lt;45 specialists serve 48 million citizens. The doctors are in Kampala; the blindness is in rural districts.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143000"/>
            <a:ext cx="2514600" cy="3520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10128" y="1143000"/>
            <a:ext cx="73152" cy="3520440"/>
          </a:xfrm>
          <a:prstGeom prst="rect">
            <a:avLst/>
          </a:prstGeom>
          <a:solidFill>
            <a:srgbClr val="18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197864"/>
            <a:ext cx="2313432" cy="3410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184066"/>
                </a:solidFill>
                <a:latin typeface="Gill Sans MT"/>
              </a:defRPr>
            </a:pPr>
            <a:r>
              <a:t>02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The Benchmark Illusion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A 93% PPV on an enriched international benchmark collapses to 16% in rural primary care. We cannot confuse academic leaderboards with clinical readiness.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143000"/>
            <a:ext cx="2514600" cy="3520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73152" cy="352044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197864"/>
            <a:ext cx="2313432" cy="3410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C5221F"/>
                </a:solidFill>
                <a:latin typeface="Gill Sans MT"/>
              </a:defRPr>
            </a:pPr>
            <a:r>
              <a:t>03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The Silent Defect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Severe probability over-confidence (ECE 0.209) silently disabled 5 whole disease channels. We confront this failure head-on and prove the isotonic remedy.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42E"/>
                </a:solidFill>
                <a:latin typeface="Gill Sans MT"/>
              </a:defRPr>
            </a:pPr>
            <a:r>
              <a:t>“Before deploying AI into human healthcare, we have a moral obligation to state where it breaks down — and engineer the remedy before it reaches the clinic.”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700" b="1">
                <a:solidFill>
                  <a:srgbClr val="FF7900"/>
                </a:solidFill>
                <a:latin typeface="Gill Sans MT"/>
              </a:defRPr>
            </a:pPr>
            <a:r>
              <a:t>The Crisis: Avoidable Blindness in Uganda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43000"/>
            <a:ext cx="388620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" y="1143000"/>
            <a:ext cx="73152" cy="1188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97864"/>
            <a:ext cx="3685032" cy="10789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FF7900"/>
                </a:solidFill>
                <a:latin typeface="Gill Sans MT"/>
              </a:defRPr>
            </a:pPr>
            <a:r>
              <a:t>2.2 Billion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Global Vision Impairment (WHO)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Over 50% is entirely preventable if diagnosed 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0016" y="1143000"/>
            <a:ext cx="388620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0016" y="1143000"/>
            <a:ext cx="73152" cy="118872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97864"/>
            <a:ext cx="3685032" cy="10789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C5221F"/>
                </a:solidFill>
                <a:latin typeface="Gill Sans MT"/>
              </a:defRPr>
            </a:pPr>
            <a:r>
              <a:t>&lt; 45 Specialists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Ophthalmologists in Uganda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Serving 48M citizens — heavily concentrated in Mulago.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560320"/>
            <a:ext cx="8046720" cy="265176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500" b="1">
                <a:solidFill>
                  <a:srgbClr val="1F242E"/>
                </a:solidFill>
                <a:latin typeface="Gill Sans MT"/>
              </a:rPr>
              <a:t>The Asymmetric Clinical Cost: </a:t>
            </a:r>
            <a:r>
              <a:rPr sz="1500">
                <a:solidFill>
                  <a:srgbClr val="555E6D"/>
                </a:solidFill>
                <a:latin typeface="Gill Sans MT"/>
              </a:rPr>
              <a:t>Diabetic retinopathy, glaucoma, and macular degeneration inflict irreversible blindness. Missing an insidious lesion strips individuals of agency, dignity, and livelihood.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500" b="1">
                <a:solidFill>
                  <a:srgbClr val="1F242E"/>
                </a:solidFill>
                <a:latin typeface="Gill Sans MT"/>
              </a:rPr>
              <a:t>The Frontline Bottleneck: </a:t>
            </a:r>
            <a:r>
              <a:rPr sz="1500">
                <a:solidFill>
                  <a:srgbClr val="555E6D"/>
                </a:solidFill>
                <a:latin typeface="Gill Sans MT"/>
              </a:rPr>
              <a:t>Primary nurses at Level III/IV health centres are frontline gatekeepers with zero ophthalmic diagnostic tools and minimal specialist training.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500" b="1">
                <a:solidFill>
                  <a:srgbClr val="1F242E"/>
                </a:solidFill>
                <a:latin typeface="Gill Sans MT"/>
              </a:rPr>
              <a:t>The Technological Dilemma: </a:t>
            </a:r>
            <a:r>
              <a:rPr sz="1500">
                <a:solidFill>
                  <a:srgbClr val="555E6D"/>
                </a:solidFill>
                <a:latin typeface="Gill Sans MT"/>
              </a:rPr>
              <a:t>Cloud-tethered 1 GB transformers fail when rural power drops and networks vanish. Screening requires an offline, highly specific rule-out sieve.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7900"/>
                </a:solidFill>
                <a:latin typeface="Gill Sans MT"/>
              </a:defRPr>
            </a:pPr>
            <a:r>
              <a:t>OptiscanAI: System Architecture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04</a:t>
            </a:r>
          </a:p>
        </p:txBody>
      </p:sp>
      <p:pic>
        <p:nvPicPr>
          <p:cNvPr id="4" name="Picture 3" descr="fig1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051560"/>
            <a:ext cx="8065008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" y="3611880"/>
            <a:ext cx="8065008" cy="18288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(1) Quality Gate: </a:t>
            </a:r>
            <a:r>
              <a:rPr sz="1300">
                <a:solidFill>
                  <a:srgbClr val="555E6D"/>
                </a:solidFill>
                <a:latin typeface="Gill Sans MT"/>
              </a:rPr>
              <a:t>Cascaded 4-tier intake filter (0.6s_stat + 0.4s_learned ≥ 0.70) rejects ungradable blurry photos.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(2–3) RETFound ViT-L + LoRA: </a:t>
            </a:r>
            <a:r>
              <a:rPr sz="1300">
                <a:solidFill>
                  <a:srgbClr val="555E6D"/>
                </a:solidFill>
                <a:latin typeface="Gill Sans MT"/>
              </a:rPr>
              <a:t>Pretrained on 1.6M retinal images; LoRA (r=16) adapts only 0.8% of weights (2.44M params).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(4–5) Calibration &amp; Knowledge Graph: </a:t>
            </a:r>
            <a:r>
              <a:rPr sz="1300">
                <a:solidFill>
                  <a:srgbClr val="555E6D"/>
                </a:solidFill>
                <a:latin typeface="Gill Sans MT"/>
              </a:rPr>
              <a:t>Isotonic recalibration + 54-edge clinical ontology encoding AAO &amp; Uganda MoH guidelines.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(6–7) Referral Triage &amp; Audit: </a:t>
            </a:r>
            <a:r>
              <a:rPr sz="1300">
                <a:solidFill>
                  <a:srgbClr val="555E6D"/>
                </a:solidFill>
                <a:latin typeface="Gill Sans MT"/>
              </a:rPr>
              <a:t>Referral prioritization (Urgent vs Routine) with immutable cryptographic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700" b="1">
                <a:solidFill>
                  <a:srgbClr val="FF7900"/>
                </a:solidFill>
                <a:latin typeface="Gill Sans MT"/>
              </a:defRPr>
            </a:pPr>
            <a:r>
              <a:t>Offline Edge Distillation for Rural Clinics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43000"/>
            <a:ext cx="2514600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" y="1143000"/>
            <a:ext cx="73152" cy="1234440"/>
          </a:xfrm>
          <a:prstGeom prst="rect">
            <a:avLst/>
          </a:prstGeom>
          <a:solidFill>
            <a:srgbClr val="05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97864"/>
            <a:ext cx="2313432" cy="1124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058248"/>
                </a:solidFill>
                <a:latin typeface="Gill Sans MT"/>
              </a:defRPr>
            </a:pPr>
            <a:r>
              <a:t>5.4 MB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Model Size (INT8 ONNX)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Compressed 74.7% from 20.8 MB FP32 student.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143000"/>
            <a:ext cx="2514600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10128" y="1143000"/>
            <a:ext cx="73152" cy="123444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197864"/>
            <a:ext cx="2313432" cy="1124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FF7900"/>
                </a:solidFill>
                <a:latin typeface="Gill Sans MT"/>
              </a:defRPr>
            </a:pPr>
            <a:r>
              <a:t>102 ms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Median CPU Latency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Real-time inference on low-cost edge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143000"/>
            <a:ext cx="2514600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73152" cy="1234440"/>
          </a:xfrm>
          <a:prstGeom prst="rect">
            <a:avLst/>
          </a:prstGeom>
          <a:solidFill>
            <a:srgbClr val="00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197864"/>
            <a:ext cx="2313432" cy="1124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006FC2"/>
                </a:solidFill>
                <a:latin typeface="Gill Sans MT"/>
              </a:defRPr>
            </a:pPr>
            <a:r>
              <a:t>99.6 %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Decision Concordance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Matches server FP32 decisions at τ = 0.50.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606040"/>
            <a:ext cx="8046720" cy="265176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450" b="1">
                <a:solidFill>
                  <a:srgbClr val="1F242E"/>
                </a:solidFill>
                <a:latin typeface="Gill Sans MT"/>
              </a:rPr>
              <a:t>The Reality of the Rural Clinic: </a:t>
            </a:r>
            <a:r>
              <a:rPr sz="1450">
                <a:solidFill>
                  <a:srgbClr val="555E6D"/>
                </a:solidFill>
                <a:latin typeface="Gill Sans MT"/>
              </a:rPr>
              <a:t>In Soroti, Gulu, or Karamoja, the electrical grid drops for days. Bandwidth to stream 15 MB uncompressed TIFF scans to cloud servers is pure fantasy.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450" b="1">
                <a:solidFill>
                  <a:srgbClr val="1F242E"/>
                </a:solidFill>
                <a:latin typeface="Gill Sans MT"/>
              </a:rPr>
              <a:t>Multi-Objective Knowledge Distillation: </a:t>
            </a:r>
            <a:r>
              <a:rPr sz="1450">
                <a:solidFill>
                  <a:srgbClr val="555E6D"/>
                </a:solidFill>
                <a:latin typeface="Gill Sans MT"/>
              </a:rPr>
              <a:t>A compact MobileNetV3-Large student (5.2M parameters) learns from the 305.7M-parameter RETFound ViT-L teacher via combined soft logits and feature alignment.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450" b="1">
                <a:solidFill>
                  <a:srgbClr val="1F242E"/>
                </a:solidFill>
                <a:latin typeface="Gill Sans MT"/>
              </a:rPr>
              <a:t>Zero-Network Autonomous Operation: </a:t>
            </a:r>
            <a:r>
              <a:rPr sz="1450">
                <a:solidFill>
                  <a:srgbClr val="555E6D"/>
                </a:solidFill>
                <a:latin typeface="Gill Sans MT"/>
              </a:rPr>
              <a:t>Triage executes 100% on-device. Encrypted audit records stage locally and sync opportunistically only when connectivity returns.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700" b="1">
                <a:solidFill>
                  <a:srgbClr val="FF7900"/>
                </a:solidFill>
                <a:latin typeface="Gill Sans MT"/>
              </a:defRPr>
            </a:pPr>
            <a:r>
              <a:t>Rigorous Empirical Setup on RFMiD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43000"/>
            <a:ext cx="1874519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" y="1143000"/>
            <a:ext cx="73152" cy="1188720"/>
          </a:xfrm>
          <a:prstGeom prst="rect">
            <a:avLst/>
          </a:prstGeom>
          <a:solidFill>
            <a:srgbClr val="18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97864"/>
            <a:ext cx="1673351" cy="10789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184066"/>
                </a:solidFill>
                <a:latin typeface="Gill Sans MT"/>
              </a:defRPr>
            </a:pPr>
            <a:r>
              <a:t>640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Held-Out Test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Evaluated strictly post-convergence.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96896" y="1143000"/>
            <a:ext cx="1874519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96896" y="1143000"/>
            <a:ext cx="73152" cy="11887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197864"/>
            <a:ext cx="1673351" cy="10789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FF7900"/>
                </a:solidFill>
                <a:latin typeface="Gill Sans MT"/>
              </a:defRPr>
            </a:pPr>
            <a:r>
              <a:t>24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Retained Classes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Excluded rare labels (n &lt; 10).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4296" y="1143000"/>
            <a:ext cx="1874519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54296" y="1143000"/>
            <a:ext cx="73152" cy="1188720"/>
          </a:xfrm>
          <a:prstGeom prst="rect">
            <a:avLst/>
          </a:prstGeom>
          <a:solidFill>
            <a:srgbClr val="00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197864"/>
            <a:ext cx="1673351" cy="10789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006FC2"/>
                </a:solidFill>
                <a:latin typeface="Gill Sans MT"/>
              </a:defRPr>
            </a:pPr>
            <a:r>
              <a:t>1,000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Bootstrap CIs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95% percentile confidence bounds.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11696" y="1143000"/>
            <a:ext cx="1874519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11696" y="1143000"/>
            <a:ext cx="73152" cy="1188720"/>
          </a:xfrm>
          <a:prstGeom prst="rect">
            <a:avLst/>
          </a:prstGeom>
          <a:solidFill>
            <a:srgbClr val="05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197864"/>
            <a:ext cx="1673351" cy="10789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058248"/>
                </a:solidFill>
                <a:latin typeface="Gill Sans MT"/>
              </a:defRPr>
            </a:pPr>
            <a:r>
              <a:t>CLAIM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Reporting Standard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Conforming to TRIPOD+AI 2024.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2560320"/>
            <a:ext cx="8046720" cy="265176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500" b="1">
                <a:solidFill>
                  <a:srgbClr val="1F242E"/>
                </a:solidFill>
                <a:latin typeface="Gill Sans MT"/>
              </a:rPr>
              <a:t>Strict Train / Val / Test Partition: </a:t>
            </a:r>
            <a:r>
              <a:rPr sz="1500">
                <a:solidFill>
                  <a:srgbClr val="555E6D"/>
                </a:solidFill>
                <a:latin typeface="Gill Sans MT"/>
              </a:rPr>
              <a:t>1,920 train, 640 validation, and 640 evaluation images. All threshold selections and calibrations were locked strictly on validation data.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500" b="1">
                <a:solidFill>
                  <a:srgbClr val="1F242E"/>
                </a:solidFill>
                <a:latin typeface="Gill Sans MT"/>
              </a:rPr>
              <a:t>Input Normalisation Integrity: </a:t>
            </a:r>
            <a:r>
              <a:rPr sz="1500">
                <a:solidFill>
                  <a:srgbClr val="555E6D"/>
                </a:solidFill>
                <a:latin typeface="Gill Sans MT"/>
              </a:rPr>
              <a:t>Retained ImageNet normalisation because the foundation backbone was pretrained in that feature space; switching costs 0.054 AUC.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500" b="1">
                <a:solidFill>
                  <a:srgbClr val="1F242E"/>
                </a:solidFill>
                <a:latin typeface="Gill Sans MT"/>
              </a:rPr>
              <a:t>No Post-Hoc Cherry-Picking: </a:t>
            </a:r>
            <a:r>
              <a:rPr sz="1500">
                <a:solidFill>
                  <a:srgbClr val="555E6D"/>
                </a:solidFill>
                <a:latin typeface="Gill Sans MT"/>
              </a:rPr>
              <a:t>We report exact per-disease sensitivity, specificity, PPV, and false-negative rates with 95% bootstrap intervals across all 24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7900"/>
                </a:solidFill>
                <a:latin typeface="Gill Sans MT"/>
              </a:defRPr>
            </a:pPr>
            <a:r>
              <a:t>Multi-Disease Performance on RFMiD Test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07</a:t>
            </a:r>
          </a:p>
        </p:txBody>
      </p:sp>
      <p:pic>
        <p:nvPicPr>
          <p:cNvPr id="4" name="Picture 3" descr="fig2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051560"/>
            <a:ext cx="8065008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" y="3703320"/>
            <a:ext cx="8065008" cy="178308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Macro Discrimination (0.872 AUC): </a:t>
            </a:r>
            <a:r>
              <a:rPr sz="1300">
                <a:solidFill>
                  <a:srgbClr val="555E6D"/>
                </a:solidFill>
                <a:latin typeface="Gill Sans MT"/>
              </a:rPr>
              <a:t>Macro AUC reaches 0.872 (95% CI: 0.846–0.896) and Macro AUPRC reaches 0.357 across 24 multi-disease retinal categories.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High-Prevalence Excellence: </a:t>
            </a:r>
            <a:r>
              <a:rPr sz="1300">
                <a:solidFill>
                  <a:srgbClr val="555E6D"/>
                </a:solidFill>
                <a:latin typeface="Gill Sans MT"/>
              </a:rPr>
              <a:t>Myopia (0.996 AUC), Media Haze (0.974), Age-Related Macular Degeneration (0.972), and Diabetic Retinopathy (0.967 AUC, 0.873 AUPRC).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The Statistical Boundary (Petersonian Honesty): </a:t>
            </a:r>
            <a:r>
              <a:rPr sz="1300">
                <a:solidFill>
                  <a:srgbClr val="555E6D"/>
                </a:solidFill>
                <a:latin typeface="Gill Sans MT"/>
              </a:rPr>
              <a:t>Rare conditions with &lt;20 test positives collapse: Optic Disc Pallor (0.663 AUC), Macular Hole (0.674). We refuse to claim clinical readiness where statistical power is absent.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7900"/>
                </a:solidFill>
                <a:latin typeface="Gill Sans MT"/>
              </a:defRPr>
            </a:pPr>
            <a:r>
              <a:t>The Silent Channel Defect &amp; Remedy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143000"/>
            <a:ext cx="2514600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" y="1143000"/>
            <a:ext cx="73152" cy="123444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97864"/>
            <a:ext cx="2313432" cy="1124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C5221F"/>
                </a:solidFill>
                <a:latin typeface="Gill Sans MT"/>
              </a:defRPr>
            </a:pPr>
            <a:r>
              <a:t>0.209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Raw ECE (Failure)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Mean prob 0.251 vs 0.042 base rate. Extreme over-confidence.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143000"/>
            <a:ext cx="2514600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10128" y="1143000"/>
            <a:ext cx="73152" cy="123444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197864"/>
            <a:ext cx="2313432" cy="1124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C5221F"/>
                </a:solidFill>
                <a:latin typeface="Gill Sans MT"/>
              </a:defRPr>
            </a:pPr>
            <a:r>
              <a:t>5 Channels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Silenced Entirely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Static thresholding set fallback τ=0.95: zero sensitivity.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143000"/>
            <a:ext cx="2514600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73152" cy="1234440"/>
          </a:xfrm>
          <a:prstGeom prst="rect">
            <a:avLst/>
          </a:prstGeom>
          <a:solidFill>
            <a:srgbClr val="05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197864"/>
            <a:ext cx="2313432" cy="11247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058248"/>
                </a:solidFill>
                <a:latin typeface="Gill Sans MT"/>
              </a:defRPr>
            </a:pPr>
            <a:r>
              <a:t>0.003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Recalibrated ECE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Platt scaling restores reliable probabilities, 0 silent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606040"/>
            <a:ext cx="8046720" cy="265176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450" b="1">
                <a:solidFill>
                  <a:srgbClr val="1F242E"/>
                </a:solidFill>
                <a:latin typeface="Gill Sans MT"/>
              </a:rPr>
              <a:t>The Hidden Bug Nobody Measures: </a:t>
            </a:r>
            <a:r>
              <a:rPr sz="1450">
                <a:solidFill>
                  <a:srgbClr val="555E6D"/>
                </a:solidFill>
                <a:latin typeface="Gill Sans MT"/>
              </a:rPr>
              <a:t>Asymmetric loss clipping (0.05) and label smoothing prevent the network from ever outputting confident zeros. Minimum probability over the entire test split was 0.064!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450" b="1">
                <a:solidFill>
                  <a:srgbClr val="1F242E"/>
                </a:solidFill>
                <a:latin typeface="Gill Sans MT"/>
              </a:rPr>
              <a:t>The Fatal Interaction: </a:t>
            </a:r>
            <a:r>
              <a:rPr sz="1450">
                <a:solidFill>
                  <a:srgbClr val="555E6D"/>
                </a:solidFill>
                <a:latin typeface="Gill Sans MT"/>
              </a:rPr>
              <a:t>Searching for precision ≥ 0.10 on rare classes forced thresholds to the 0.95 ceiling, permanently muting 5 diagnostic channels (AH, ODP, PT, EDN, MHL).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450" b="1">
                <a:solidFill>
                  <a:srgbClr val="1F242E"/>
                </a:solidFill>
                <a:latin typeface="Gill Sans MT"/>
              </a:rPr>
              <a:t>The Monotone Solution: </a:t>
            </a:r>
            <a:r>
              <a:rPr sz="1450">
                <a:solidFill>
                  <a:srgbClr val="555E6D"/>
                </a:solidFill>
                <a:latin typeface="Gill Sans MT"/>
              </a:rPr>
              <a:t>Per-class Platt recalibration resolves ECE to 0.003 while preserving AUC ranking. Adopting a sensitivity target ≥ 0.90 eliminates all silent channels and reduces misses by 59%.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550" b="1">
                <a:solidFill>
                  <a:srgbClr val="FF7900"/>
                </a:solidFill>
                <a:latin typeface="Gill Sans MT"/>
              </a:defRPr>
            </a:pPr>
            <a:r>
              <a:t>Ablation: Foundation vs. ImageNet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09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9496" y="1097280"/>
          <a:ext cx="806500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128"/>
                <a:gridCol w="1188720"/>
                <a:gridCol w="1188720"/>
                <a:gridCol w="1188720"/>
                <a:gridCol w="1188720"/>
              </a:tblGrid>
              <a:tr h="33963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Model Architecture &amp; Adaptation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Params (M)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Train. %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AUC-ROC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AUPRC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ResNet-50 (ImageNet Full FT)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23.56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100.0 %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0.336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EfficientNet-B3 (ImageNet FT)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10.73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100.0 %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0.819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0.377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ViT-B/16 (ImageNet Full FT)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85.82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100.0 %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0.472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RETFound ViT-L (Head Only)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2.44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0.8 %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0.877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0.360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RETFound ViT-L + LoRA (r=16)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4.01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1.3 %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0.882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0.392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OptiscanAI Deployed Checkpoint</a:t>
                      </a:r>
                    </a:p>
                  </a:txBody>
                  <a:tcPr marL="54864" marR="54864" marT="18288" marB="18288" anchor="ctr">
                    <a:solidFill>
                      <a:srgbClr val="E0E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2.44</a:t>
                      </a:r>
                    </a:p>
                  </a:txBody>
                  <a:tcPr marL="54864" marR="54864" marT="18288" marB="18288" anchor="ctr">
                    <a:solidFill>
                      <a:srgbClr val="E0E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0.8 %</a:t>
                      </a:r>
                    </a:p>
                  </a:txBody>
                  <a:tcPr marL="54864" marR="54864" marT="18288" marB="18288" anchor="ctr">
                    <a:solidFill>
                      <a:srgbClr val="E0E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0.872</a:t>
                      </a:r>
                    </a:p>
                  </a:txBody>
                  <a:tcPr marL="54864" marR="54864" marT="18288" marB="18288" anchor="ctr">
                    <a:solidFill>
                      <a:srgbClr val="E0E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0.357</a:t>
                      </a:r>
                    </a:p>
                  </a:txBody>
                  <a:tcPr marL="54864" marR="54864" marT="18288" marB="18288" anchor="ctr">
                    <a:solidFill>
                      <a:srgbClr val="E0ED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496" y="3657600"/>
            <a:ext cx="8065008" cy="18288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250" b="1">
                <a:solidFill>
                  <a:srgbClr val="1F242E"/>
                </a:solidFill>
                <a:latin typeface="Gill Sans MT"/>
              </a:rPr>
              <a:t>Pretraining Efficiency: </a:t>
            </a:r>
            <a:r>
              <a:rPr sz="1250">
                <a:solidFill>
                  <a:srgbClr val="555E6D"/>
                </a:solidFill>
                <a:latin typeface="Gill Sans MT"/>
              </a:rPr>
              <a:t>Freezing RETFound and tuning only 0.8% params achieves 0.877 AUC, beating fully trained ImageNet CNNs. LoRA adds +0.005 AUC and +0.032 AUPRC.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250" b="1">
                <a:solidFill>
                  <a:srgbClr val="1F242E"/>
                </a:solidFill>
                <a:latin typeface="Gill Sans MT"/>
              </a:rPr>
              <a:t>The Fine-Tuning Nuance: </a:t>
            </a:r>
            <a:r>
              <a:rPr sz="1250">
                <a:solidFill>
                  <a:srgbClr val="555E6D"/>
                </a:solidFill>
                <a:latin typeface="Gill Sans MT"/>
              </a:rPr>
              <a:t>ViT-B/16 full fine-tuning attains higher AUPRC (0.472 vs 0.392). Retinal foundation models give parameter efficiency, but full fine-tuning retrieves rare positives better.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250" b="1">
                <a:solidFill>
                  <a:srgbClr val="1F242E"/>
                </a:solidFill>
                <a:latin typeface="Gill Sans MT"/>
              </a:rPr>
              <a:t>Normalisation Sensitivity: </a:t>
            </a:r>
            <a:r>
              <a:rPr sz="1250">
                <a:solidFill>
                  <a:srgbClr val="555E6D"/>
                </a:solidFill>
                <a:latin typeface="Gill Sans MT"/>
              </a:rPr>
              <a:t>Substituting RFMiD channel statistics for ImageNet normalisation costs 0.054 AUC and 0.107 AUPRC. Preserving pretraining distribution alignment is critical.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7900"/>
                </a:solidFill>
                <a:latin typeface="Gill Sans MT"/>
              </a:defRPr>
            </a:pPr>
            <a:r>
              <a:t>Clinical Screening Gallery: Real Cases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10</a:t>
            </a:r>
          </a:p>
        </p:txBody>
      </p:sp>
      <p:pic>
        <p:nvPicPr>
          <p:cNvPr id="4" name="Picture 3" descr="fig3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051560"/>
            <a:ext cx="8065008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" y="3520440"/>
            <a:ext cx="8065008" cy="19202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Healthy Control Eye: </a:t>
            </a:r>
            <a:r>
              <a:rPr sz="1300">
                <a:solidFill>
                  <a:srgbClr val="555E6D"/>
                </a:solidFill>
                <a:latin typeface="Gill Sans MT"/>
              </a:rPr>
              <a:t>Disease Risk Negative → Routine follow-up. Prevents needless tertiary hospital visits.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Diabetic Retinopathy (DR): </a:t>
            </a:r>
            <a:r>
              <a:rPr sz="1300">
                <a:solidFill>
                  <a:srgbClr val="555E6D"/>
                </a:solidFill>
                <a:latin typeface="Gill Sans MT"/>
              </a:rPr>
              <a:t>Microaneurysms detected → Automated Urgent Referral for laser photocoagulation.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Optic Disc Cupping (ODC): </a:t>
            </a:r>
            <a:r>
              <a:rPr sz="1300">
                <a:solidFill>
                  <a:srgbClr val="555E6D"/>
                </a:solidFill>
                <a:latin typeface="Gill Sans MT"/>
              </a:rPr>
              <a:t>C/D ratio &gt; 0.6 detected → Urgent triage for intraocular pressure and visual field testing.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Macular Degeneration (ARMD): </a:t>
            </a:r>
            <a:r>
              <a:rPr sz="1300">
                <a:solidFill>
                  <a:srgbClr val="555E6D"/>
                </a:solidFill>
                <a:latin typeface="Gill Sans MT"/>
              </a:rPr>
              <a:t>Central drusen lesions detected → Urgent ophthalmology referral for anti-VEGF intervention.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7900"/>
                </a:solidFill>
                <a:latin typeface="Gill Sans MT"/>
              </a:defRPr>
            </a:pPr>
            <a:r>
              <a:t>Prevalence Shift: Benchmark vs. Clinic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9496" y="1097280"/>
          <a:ext cx="806500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128"/>
                <a:gridCol w="1188720"/>
                <a:gridCol w="118872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Screening Caseload / Setting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Prevalence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PPV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NPV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Gill Sans MT"/>
                        </a:defRPr>
                      </a:pPr>
                      <a:r>
                        <a:t>Referral %</a:t>
                      </a:r>
                    </a:p>
                  </a:txBody>
                  <a:tcPr marL="54864" marR="54864" marT="18288" marB="18288" anchor="ctr">
                    <a:solidFill>
                      <a:srgbClr val="18406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RFMiD Benchmark (Held-Out Test)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79.0 %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0.931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0.810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81.0 %</a:t>
                      </a:r>
                    </a:p>
                  </a:txBody>
                  <a:tcPr marL="54864" marR="54864" marT="18288" marB="18288" anchor="ctr">
                    <a:solidFill>
                      <a:srgbClr val="FEF3C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District Hospital Caseload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20.0 %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0.470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0.985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41.0 %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Rural Primary Care Clinic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10.0 %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0.283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0.993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34.0 %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Community Mobile Screening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5.0 %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0.158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0.997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E"/>
                          </a:solidFill>
                          <a:latin typeface="Gill Sans MT"/>
                        </a:defRPr>
                      </a:pPr>
                      <a:r>
                        <a:t>30.0 %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496" y="3337560"/>
            <a:ext cx="8065008" cy="21031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450" b="1">
                <a:solidFill>
                  <a:srgbClr val="1F242E"/>
                </a:solidFill>
                <a:latin typeface="Gill Sans MT"/>
              </a:rPr>
              <a:t>The Referral Bottleneck Tragedy: </a:t>
            </a:r>
            <a:r>
              <a:rPr sz="1450">
                <a:solidFill>
                  <a:srgbClr val="555E6D"/>
                </a:solidFill>
                <a:latin typeface="Gill Sans MT"/>
              </a:rPr>
              <a:t>At 5% community prevalence, PPV drops from 93.1% to 15.8%. Sizing referral clinics on benchmark numbers will overburden ophthalmologists by 3x–6x with non-pathology cases.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450" b="1">
                <a:solidFill>
                  <a:srgbClr val="1F242E"/>
                </a:solidFill>
                <a:latin typeface="Gill Sans MT"/>
              </a:rPr>
              <a:t>The True Role: A Safe Rule-Out Sieve: </a:t>
            </a:r>
            <a:r>
              <a:rPr sz="1450">
                <a:solidFill>
                  <a:srgbClr val="555E6D"/>
                </a:solidFill>
                <a:latin typeface="Gill Sans MT"/>
              </a:rPr>
              <a:t>Negative Predictive Value (NPV) exceeds 99.7% in low prevalence. OptiscanAI is not an autonomous doctor; it is a high-confidence sieve to protect specialists.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82880"/>
            <a:ext cx="768096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7900"/>
                </a:solidFill>
                <a:latin typeface="Gill Sans MT"/>
              </a:defRPr>
            </a:pPr>
            <a:r>
              <a:t>Limitations and Conclusion</a:t>
            </a:r>
          </a:p>
        </p:txBody>
      </p:sp>
      <p:sp>
        <p:nvSpPr>
          <p:cNvPr id="3" name="Oval 2"/>
          <p:cNvSpPr/>
          <p:nvPr/>
        </p:nvSpPr>
        <p:spPr>
          <a:xfrm>
            <a:off x="8366760" y="237744"/>
            <a:ext cx="512064" cy="438912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lIns="0" rIns="0"/>
          <a:lstStyle/>
          <a:p>
            <a:pPr algn="ctr">
              <a:defRPr sz="1300" b="1">
                <a:solidFill>
                  <a:srgbClr val="FFFFFF"/>
                </a:solidFill>
                <a:latin typeface="Gill Sans MT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462272" y="1051560"/>
            <a:ext cx="18288" cy="4343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0515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C5221F"/>
                </a:solidFill>
                <a:latin typeface="Gill Sans MT"/>
              </a:defRPr>
            </a:pPr>
            <a:r>
              <a:t>LIMITATIONS &amp; PRECONDITIONS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554480"/>
            <a:ext cx="3749039" cy="384048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Zero Ugandan Patient Images: </a:t>
            </a:r>
            <a:r>
              <a:rPr sz="1300">
                <a:solidFill>
                  <a:srgbClr val="555E6D"/>
                </a:solidFill>
                <a:latin typeface="Gill Sans MT"/>
              </a:rPr>
              <a:t>Evaluated on international benchmark (RFMiD). Multi-centre clinical trials in Ugandan district hospitals remain mandatory.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Handheld Optical Shift: </a:t>
            </a:r>
            <a:r>
              <a:rPr sz="1300">
                <a:solidFill>
                  <a:srgbClr val="555E6D"/>
                </a:solidFill>
                <a:latin typeface="Gill Sans MT"/>
              </a:rPr>
              <a:t>Validation on table-top fundus cameras cannot guarantee performance on low-cost smartphone adapters.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7900"/>
                </a:solidFill>
                <a:latin typeface="Gill Sans MT"/>
              </a:rPr>
              <a:t>• </a:t>
            </a:r>
            <a:r>
              <a:rPr sz="1300" b="1">
                <a:solidFill>
                  <a:srgbClr val="1F242E"/>
                </a:solidFill>
                <a:latin typeface="Gill Sans MT"/>
              </a:rPr>
              <a:t>Regulatory Preconditions: </a:t>
            </a:r>
            <a:r>
              <a:rPr sz="1300">
                <a:solidFill>
                  <a:srgbClr val="555E6D"/>
                </a:solidFill>
                <a:latin typeface="Gill Sans MT"/>
              </a:rPr>
              <a:t>Requires Uganda National Drug Authority (NDA) and Data Protection Act (2019) clearance before clinical trials.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0515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058248"/>
                </a:solidFill>
                <a:latin typeface="Gill Sans MT"/>
              </a:defRPr>
            </a:pPr>
            <a:r>
              <a:t>KEY SCIENTIFIC TAKEAWAYS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08760"/>
            <a:ext cx="3977639" cy="8229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508760"/>
            <a:ext cx="73152" cy="822960"/>
          </a:xfrm>
          <a:prstGeom prst="rect">
            <a:avLst/>
          </a:prstGeom>
          <a:solidFill>
            <a:srgbClr val="18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1563624"/>
            <a:ext cx="3776472" cy="71323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184066"/>
                </a:solidFill>
                <a:latin typeface="Gill Sans MT"/>
              </a:defRPr>
            </a:pPr>
            <a:r>
              <a:t>0.872 AUC / 0.952 Triage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Robust Ranking &amp; Referral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Evaluated strictly on 640 held-out test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468880"/>
            <a:ext cx="3977639" cy="8229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2468880"/>
            <a:ext cx="73152" cy="822960"/>
          </a:xfrm>
          <a:prstGeom prst="rect">
            <a:avLst/>
          </a:prstGeom>
          <a:solidFill>
            <a:srgbClr val="05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523744"/>
            <a:ext cx="3776472" cy="71323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058248"/>
                </a:solidFill>
                <a:latin typeface="Gill Sans MT"/>
              </a:defRPr>
            </a:pPr>
            <a:r>
              <a:t>0.003 Calibrated ECE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Silent Channels Resolved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Platt recalibration restores 5 disabled disease channels.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429000"/>
            <a:ext cx="3977639" cy="8229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3429000"/>
            <a:ext cx="73152" cy="82296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3483864"/>
            <a:ext cx="3776472" cy="71323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defRPr sz="2100" b="1">
                <a:solidFill>
                  <a:srgbClr val="FF7900"/>
                </a:solidFill>
                <a:latin typeface="Gill Sans MT"/>
              </a:defRPr>
            </a:pPr>
            <a:r>
              <a:t>5.4 MB / 102 ms</a:t>
            </a:r>
          </a:p>
          <a:p>
            <a:pPr>
              <a:defRPr sz="1250" b="1">
                <a:solidFill>
                  <a:srgbClr val="1F242E"/>
                </a:solidFill>
                <a:latin typeface="Gill Sans MT"/>
              </a:defRPr>
            </a:pPr>
            <a:r>
              <a:t>Offline Edge Distillation</a:t>
            </a:r>
          </a:p>
          <a:p>
            <a:pPr>
              <a:defRPr sz="1050">
                <a:solidFill>
                  <a:srgbClr val="555E6D"/>
                </a:solidFill>
                <a:latin typeface="Gill Sans MT"/>
              </a:defRPr>
            </a:pPr>
            <a:r>
              <a:t>Runs autonomously on mobile hardware in rural health centres.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389120"/>
            <a:ext cx="3977639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300" b="1">
                <a:solidFill>
                  <a:srgbClr val="1F242E"/>
                </a:solidFill>
                <a:latin typeface="Gill Sans MT"/>
              </a:defRPr>
            </a:pPr>
            <a:r>
              <a:t>▸ OptiscanAI establishes a disciplined scientific framework that separates benchmark excellence from clinical deployment reality.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1097280"/>
            <a:ext cx="8065008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7900"/>
                </a:solidFill>
                <a:latin typeface="Gill Sans M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" y="2103120"/>
            <a:ext cx="806500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242E"/>
                </a:solidFill>
                <a:latin typeface="Gill Sans MT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84066"/>
                </a:solidFill>
                <a:latin typeface="Gill Sans MT"/>
              </a:defRPr>
            </a:pPr>
            <a:r>
              <a:t>OptiscanAI: Large Vision Models for Multi-Disease Retinal Screening</a:t>
            </a:r>
          </a:p>
          <a:p>
            <a:pPr algn="ctr">
              <a:defRPr sz="1400" b="1">
                <a:solidFill>
                  <a:srgbClr val="FF7900"/>
                </a:solidFill>
                <a:latin typeface="Gill Sans MT"/>
              </a:defRPr>
            </a:pPr>
            <a:r>
              <a:t>Paper 83  •  The 10th National Conference on Communications (NCC 2026)</a:t>
            </a:r>
          </a:p>
          <a:p>
            <a:pPr algn="ctr">
              <a:defRPr sz="1400" b="1">
                <a:solidFill>
                  <a:srgbClr val="1F242E"/>
                </a:solidFill>
                <a:latin typeface="Gill Sans MT"/>
              </a:defRPr>
            </a:pPr>
            <a:r>
              <a:t>Presenter: Mpairwe Lauben (mpairwe_lauben@students.mak.ac.ug)</a:t>
            </a:r>
          </a:p>
          <a:p>
            <a:pPr algn="ctr">
              <a:defRPr sz="1300">
                <a:solidFill>
                  <a:srgbClr val="555E6D"/>
                </a:solidFill>
                <a:latin typeface="Gill Sans MT"/>
              </a:defRPr>
            </a:pPr>
            <a:r>
              <a:t>Department of Networks &amp; Department of Computer Science, Makerere University</a:t>
            </a:r>
          </a:p>
          <a:p>
            <a:pPr algn="ctr">
              <a:defRPr sz="1350" b="1">
                <a:solidFill>
                  <a:srgbClr val="006FC2"/>
                </a:solidFill>
                <a:latin typeface="Gill Sans MT"/>
              </a:defRPr>
            </a:pPr>
            <a:r>
              <a:t>Live Interactive Prototype: https://landwind22-retinal-screening.hf.space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3634</Words>
  <Application>WPS Presentation</Application>
  <PresentationFormat>On-screen Show (4:3)</PresentationFormat>
  <Paragraphs>168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MS PGothic</vt:lpstr>
      <vt:lpstr>Droid Sans Fallback</vt:lpstr>
      <vt:lpstr>Times New Roman</vt:lpstr>
      <vt:lpstr>Trebuchet MS</vt:lpstr>
      <vt:lpstr>Gill Sans MT</vt:lpstr>
      <vt:lpstr>FreeSans</vt:lpstr>
      <vt:lpstr>Microsoft YaHei</vt:lpstr>
      <vt:lpstr>Arial Unicode MS</vt:lpstr>
      <vt:lpstr>DejaVu Sans</vt:lpstr>
      <vt:lpstr>Gill Sans MT</vt:lpstr>
      <vt:lpstr>OpenSymbol</vt:lpstr>
      <vt:lpstr>Office</vt:lpstr>
      <vt:lpstr>Office</vt:lpstr>
      <vt:lpstr>THE 10TH NATIONAL CONFERENCE ON COMMUNICATIONS (NCC 2026)</vt:lpstr>
      <vt:lpstr>Outline</vt:lpstr>
      <vt:lpstr>Motivation and Research Gap</vt:lpstr>
      <vt:lpstr>System Architecture</vt:lpstr>
      <vt:lpstr>Hardware Prototype</vt:lpstr>
      <vt:lpstr>Study Area and Data Collection</vt:lpstr>
      <vt:lpstr>1D CNN Forecasting Model</vt:lpstr>
      <vt:lpstr>Results — Model Comparison</vt:lpstr>
      <vt:lpstr>Effect of Quantization</vt:lpstr>
      <vt:lpstr>Communication and Energy Efficiency</vt:lpstr>
      <vt:lpstr>Limitations and 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starde20</cp:lastModifiedBy>
  <cp:revision>10</cp:revision>
  <dcterms:created xsi:type="dcterms:W3CDTF">2026-09-17T08:22:56Z</dcterms:created>
  <dcterms:modified xsi:type="dcterms:W3CDTF">2026-09-17T08:22:56Z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>D36A874A227644C693ECC3ACA3566B7E_13</vt:lpwstr>
  </property>
</Properties>
</file>