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7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59" r:id="rId1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7315200" cy="960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17016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4142880" y="0"/>
            <a:ext cx="317052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6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257120" y="720360"/>
            <a:ext cx="4800600" cy="36003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move the slide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 panose="020F0502020204030204"/>
              </a:rPr>
              <a:t>Click to edit the notes format</a:t>
            </a: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120240"/>
            <a:ext cx="317016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14288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de-DE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marL="2159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6B09405-1A96-476D-B512-A6F1BF9DB981}" type="slidenum">
              <a:rPr lang="de-DE" sz="12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480" y="720720"/>
            <a:ext cx="4800600" cy="360036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" name="Slide Number Placeholder 3"/>
          <p:cNvSpPr/>
          <p:nvPr/>
        </p:nvSpPr>
        <p:spPr>
          <a:xfrm>
            <a:off x="414324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EC97BC-0A2B-4F74-BFA6-7DDF6D4C5011}" type="slidenum">
              <a:rPr lang="de-DE" sz="1200" b="0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480" y="720720"/>
            <a:ext cx="4800600" cy="360036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" name="Slide Number Placeholder 3"/>
          <p:cNvSpPr/>
          <p:nvPr/>
        </p:nvSpPr>
        <p:spPr>
          <a:xfrm>
            <a:off x="414324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EC97BC-0A2B-4F74-BFA6-7DDF6D4C5011}" type="slidenum">
              <a:rPr lang="de-DE" sz="1200" b="0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de-DE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Foliennummernplatzhalter 3"/>
          <p:cNvSpPr/>
          <p:nvPr/>
        </p:nvSpPr>
        <p:spPr>
          <a:xfrm>
            <a:off x="414324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F0C68A-6103-4661-8EEC-DD8F4E9EF165}" type="slidenum">
              <a:rPr lang="de-DE" sz="1200" b="0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de-DE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" name="Foliennummernplatzhalter 3"/>
          <p:cNvSpPr/>
          <p:nvPr/>
        </p:nvSpPr>
        <p:spPr>
          <a:xfrm>
            <a:off x="414324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DAB87A8-648E-4D27-A685-CF1A92D2C2EC}" type="slidenum">
              <a:rPr lang="de-DE" sz="1200" b="0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480" y="720720"/>
            <a:ext cx="4800600" cy="360036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31880" y="4560480"/>
            <a:ext cx="5851440" cy="43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" name="Slide Number Placeholder 3"/>
          <p:cNvSpPr/>
          <p:nvPr/>
        </p:nvSpPr>
        <p:spPr>
          <a:xfrm>
            <a:off x="4143240" y="9120240"/>
            <a:ext cx="3170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B915BA-9545-4F0B-B95B-0B38A1B31E05}" type="slidenum">
              <a:rPr lang="de-DE" sz="1200" b="0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1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edit the title text format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46040" y="1009440"/>
            <a:ext cx="8229600" cy="481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5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6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" name="Gruppieren 25"/>
          <p:cNvGrpSpPr/>
          <p:nvPr/>
        </p:nvGrpSpPr>
        <p:grpSpPr>
          <a:xfrm>
            <a:off x="0" y="0"/>
            <a:ext cx="457200" cy="5742000"/>
            <a:chOff x="0" y="0"/>
            <a:chExt cx="457200" cy="5742000"/>
          </a:xfrm>
        </p:grpSpPr>
        <p:sp>
          <p:nvSpPr>
            <p:cNvPr id="3" name="Rectangle 15"/>
            <p:cNvSpPr/>
            <p:nvPr/>
          </p:nvSpPr>
          <p:spPr>
            <a:xfrm>
              <a:off x="0" y="0"/>
              <a:ext cx="457200" cy="5005440"/>
            </a:xfrm>
            <a:prstGeom prst="rect">
              <a:avLst/>
            </a:prstGeom>
            <a:solidFill>
              <a:srgbClr val="FF7900">
                <a:alpha val="6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4" name="Rectangle 10"/>
            <p:cNvSpPr/>
            <p:nvPr/>
          </p:nvSpPr>
          <p:spPr>
            <a:xfrm>
              <a:off x="0" y="1839960"/>
              <a:ext cx="457200" cy="884160"/>
            </a:xfrm>
            <a:prstGeom prst="rect">
              <a:avLst/>
            </a:prstGeom>
            <a:solidFill>
              <a:srgbClr val="FF7900">
                <a:alpha val="9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Rectangle 13"/>
            <p:cNvSpPr/>
            <p:nvPr/>
          </p:nvSpPr>
          <p:spPr>
            <a:xfrm>
              <a:off x="0" y="2724120"/>
              <a:ext cx="457200" cy="301788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" name="Rectangle 14"/>
            <p:cNvSpPr/>
            <p:nvPr/>
          </p:nvSpPr>
          <p:spPr>
            <a:xfrm>
              <a:off x="0" y="1471680"/>
              <a:ext cx="457200" cy="353376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7" name="Rectangle 16"/>
            <p:cNvSpPr/>
            <p:nvPr/>
          </p:nvSpPr>
          <p:spPr>
            <a:xfrm>
              <a:off x="0" y="3017880"/>
              <a:ext cx="457200" cy="7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7720" rIns="90000" bIns="277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8" name="Rectangle 17"/>
            <p:cNvSpPr/>
            <p:nvPr/>
          </p:nvSpPr>
          <p:spPr>
            <a:xfrm>
              <a:off x="0" y="368280"/>
              <a:ext cx="457200" cy="7272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9" name="Rectangle 18"/>
            <p:cNvSpPr/>
            <p:nvPr/>
          </p:nvSpPr>
          <p:spPr>
            <a:xfrm>
              <a:off x="0" y="5669280"/>
              <a:ext cx="457200" cy="7272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0" name="Rectangle 22"/>
            <p:cNvSpPr/>
            <p:nvPr/>
          </p:nvSpPr>
          <p:spPr>
            <a:xfrm>
              <a:off x="0" y="0"/>
              <a:ext cx="457200" cy="4410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1" name="Rectangle 23"/>
            <p:cNvSpPr/>
            <p:nvPr/>
          </p:nvSpPr>
          <p:spPr>
            <a:xfrm>
              <a:off x="0" y="1177920"/>
              <a:ext cx="457200" cy="1476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" name="Rectangle 24"/>
            <p:cNvSpPr/>
            <p:nvPr/>
          </p:nvSpPr>
          <p:spPr>
            <a:xfrm>
              <a:off x="0" y="5080320"/>
              <a:ext cx="457200" cy="1458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13" name="Fußzeilenplatzhalter 4"/>
          <p:cNvSpPr/>
          <p:nvPr/>
        </p:nvSpPr>
        <p:spPr>
          <a:xfrm>
            <a:off x="5389560" y="6073920"/>
            <a:ext cx="23050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 Oral Session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000" b="0" i="1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Page</a:t>
            </a:r>
            <a:r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</a:t>
            </a:r>
            <a:fld id="{E28A92F2-378F-49A5-9319-665C1B5E2F2B}" type="slidenum"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fld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Fußzeilenplatzhalter 4"/>
          <p:cNvSpPr/>
          <p:nvPr/>
        </p:nvSpPr>
        <p:spPr>
          <a:xfrm>
            <a:off x="2386080" y="6021360"/>
            <a:ext cx="1538280" cy="72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https://ncc.co.ug/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5" name="Picture 23" descr="data:image/jpeg;base64,/9j/4AAQSkZJRgABAQAAAQABAAD/2wCEAAkGBxETEhUSEhMSFhUXFxsaFhcYFxYYIBsdIBkYHyAaICAbHSogGRslIhchITEjJSkrMS4wHh8zODMsOSgtLisBCgoKDg0OGhAQGyslICYtKy0rMisrMi4tNS0vKy0tLzUwNS0vLS0tLS0tLS0tLS0tLS8tLS0tLS0tLS0tLS0tLf/AABEIAM8A9AMBIgACEQEDEQH/xAAcAAABBQEBAQAAAAAAAAAAAAAAAQQFBgcDCAL/xABFEAACAQMCAwYDBQUHAwIHAQABAgMABBESIQUxQQYTIlFhcQcygRRCUmKRFSOhsfAkM3KCkqLBc7LRJUM0NURTk6PhFv/EABoBAQACAwEAAAAAAAAAAAAAAAADBAECBQb/xAAxEQACAQMDAQUHAwUAAAAAAAAAAQIDBBESITEFExRBUZEiQlJhcaHwMoHRBhUzseH/2gAMAwEAAhEDEQA/ANwooooAooooAooooAooooAorjc3UcYy7qo9Timlnx22lfu45VZjnAGenPpWuuOcZ3NlCTWUtiRooorY1CiiigCiiigCiiigCiiigCim99fRQrrlcIucZPn5VytOL28u0cqMfLP/AJrVzinhs2UJNZxsPaKKK2NQooooAooooAooooAooooAopaKASilooBlxfiKW8Mk8nyRrqb2ptacZV7qS22ysaSIR95WyCfoQP1FOuMWQmglhbcSRuh/zKR/zXn207VyxNbOW0zWmqB8/eUN4Vby0+JPUMN8jNAejaiO0fGltowebscIP+T6D/xX32d47FdxCWM4P30zup8j6eR61AdtOzl1czI8Rj0KmPExG+TnkD6VDXclB6OSxawpyqpVHhEcMTqXZmZjz3/hUh2M4ev2mWUfdUKOXMnJ/gP4mqzxXs9eRmC3+0RW73LmMSAs2nCMxwMDLnGBuNzVR7SdhL+wkaaymvGaIhi7eENnT4g+dLZJAKHJPLfeuXZWFSFTtaj/AGLd1cxinTpvKZ6IoqI4Px6KVUDNpkIGVIx4sbgdDv61MV2jmCUUtNuIXscMbSysFRRkk/y9SeQHWhlJt4R0uZ0jUu7KqqMlicACmfB+NW90paCQOAcEYII9wdwDjY9ayDtX2olvH3ysKnwR5/3N5t/L+Ji+GcRlt5BLC5Vh+hHkR1HpVV3SUsLg9DS/p+pKjqk8S8F/J6DoqB7Jdpo72PIwsq/3keeX5h5qfP6VP1ZTTWUcCpTlTk4TWGhKKWm95exxDMjhR0zzPsOZrJoR/auyEtrIvUDUPdTn/jFU2wtlKBjkeHY+eOtVb4iC/wCJ3/c273C2ccYP7tWOSTgsUUhnOcAZ5Dyycu7TsfdWP2aNbwyR3TaBDMCjI2gtkbtgYXdcDGRzrmdRspV0pQe6Ltrc6F2b4bLv2d7SDvBbyNkE4jY+fQH36VcKzD//ABV+HDDuvCwIw55g5/DWmlsLliAAMknYDzPtU9kqkYaZ+Bm+hRUk6TTzzgZ8c4mltbyTvjCKT7noPqcCvmz4sjydx/7ohSVx5ByQPUHKnY1k3xF7ZR3M8durf2dHDOBzlAPi9gRlAT+LPUYtPwkme5F3xCTdriUAHppQYAHoCSPpVwomgUUtFAJRS0UAlFLRQBRRRQBRRRQFa7f3EK2pWWd7cucRXA1gRyDdCzL8oJ232IyOtec+JySPcSPI6GYnEhBVkkxtqBXYggZ1DnmvSvbS2mktJEhhhnJHiil1AOvUKQRpfqD5+XOvMdyniZGTGliND5DJv8pJGcjl0oCxdhOKXENyiQSCN22VJCdLHomeWljtg8iRyrcOA9r4pX7idTb3I2Mb7aj+Qn5v6xnnXmZywxvtnk3T1DDfI5+degOCWy3lrH36iXC/Nr1q4xzSUDOf8QD7HOcZoA+M3C1ltIpmDFbedHk0kghCGUsMEEaSytz5KaofG1vIiDcTPc2mQ0YmLSxYwdpPxc8hmOc4+ui/2q2Qqf7XakYMUhXvQpG4U/LMvPb6DlUXYl4UZ7H+1WYBEls2TNFt8uDu2Bt+I/m51iSysElKahNSaT+TJnsPwmxlgjulsLeGQk8ox91iAykjODjI/mauNUPs1eI2o8PmfwDezlYFNuYViNcTDljJUbZXnVt4TxVJwQAySLtJE+AyH1wcEbbMCQehrKNJNNtpYH9Y38Q+05uZu6jP7mNsDyds4Ln0HIfU9avfxE40be1KocSS+BfMD7zfQbZ8yKxK520+hqrcVPcR3ek2uISuZLj9P18/2L3wXsA08YladVUqCAEJO4zjdhXOLsI7Ro/frl3KgaDjYkZJ1enlV97GnNnH/wBNf+wVxtP7iD/qt/3tUfZx0p4NZdVutbWvx8kZjOZeHXY0OpdOvINyypHka2jgvE0uYUmj5MOXUHqp9QaxTtvJm/mG/hOOv5fKrJ8LOM93M1sx8MuWT0cDcfVR/tpQnplpZPe0ZXVt2/vR5+a/4arTDinBra4wJ4Y5cctahse2fank0qqpZiFUDJJOAB5knkKrd9xWWaN3R2tbdf8A6gqhkf8A6auCEXpqcZO+ANmq8ecMq4rcgXTJw62S0nRnVe5DCQ7lf3mNgmfEQVxsNzUv2c4RNJxe0M88s89vG8s7s2QgKlVQKPChYtnA6JnepuyvWk7yPhkZOogzXs7EjqCdZHiIA5DcbcudOeDXGgPHw8LLI5zPezeFCwyMIOb43wo2HMkkknEU1yyWrUjPCjFLBcuM8Zt7WMyTyKi9Mnc+gHMmsp+Ivau7kgDAfZ7eRtKK/wDeS45sV56RjkcDcfNVyg4EobvpzJNNzMkm5zvhY41+UZ3xtisZ+I15LJfMWIBACgFxIyD8OlBoRupVScbZJOayRFdkUkEsxVT8zE+Jvcnl/XKtc+El8NUffXOSV0WlohzpT70zqmy5xsz9Mn7wrIQmN8ZP4nP8h0/hWufA+1ny0q26CNsh7l9Wp8co4l2AUHcnfcdegGw0UUUAUUUUAUUUUAUUlFALRSUUAMuRisW+J3w6KFryO5jK/eW6l0keSpK/P0Vz9a2muF7aRyo0UqK6MMMrAEEeoNAeRBjycH0Of+SDWvfB7ihWMotrNgfNNFIGB9ZIWkyD+ZF38qqXxS7G/Yp9UMXdQN8gWcPnl9x8OuM8hqHLcVA9k+KrbTrK8YkHLLs6lPzKYyDn9aA9E3WhTkNjVkndkI5fd0MN/PHuaZ8Qs2w91B4bqJSwxkCVBv3br1JHXA3x6U+4VdxXcCvEZmUjK6u/TJ93xkb8967Q4TxhdO+lvoTgjxYXc9T15b0BB8XihubeDi1q3dyYR+g71CQGhcdXxlQRvnA5U/up0cd8hAuI9lYc2woLIfxq2M49sYNYp2i4UtrxiQFpyjNrj7opHjVlip1DSoBJOw68quvDp+9WJ/kWKYhVDEg+B1bLHdyGfLHz09c5AY/ELtNHPcJl1UJEuFJA3bdiM815DPXFVK4vIWG0sef8QpPilbxgQOCNZBOk89D5YAflQgqPeofs9FFBaycQkiSZxKILeNxqQPpLtI6/e0rgAHbJOeVV5W6lLVk7NHrMqVBUdCwWuLta6xiNZrfSOX7xtvbxbU34d2mljyWuYnOTjW/y+2k7VC8O7UtdSpb36QywysE1LDFG8Oo4Dxsijdcg4bIIGKc8YQ8G026JC14wLyzuiyaF1MI1jDgquVGokgnxY6VjukcckL6lHP8AjXqOpuJxySGSSWEk8yHzv57mnFnxuOKRJUlj1IwYeNehzj68qhLe8/aUc0c8cQuYomminjjSMuE3aKQIArArnScAgqOhNQ3ZC3ikvbdZivdmQFs8mwCQn+YgL9ad1Wc5LMetuMHTVNYZ6duLuK6cFzmBSpVeQd+a6h1x82npsTzGI+ey/aFzHG74to07xo1OO+OwTluEUq5IGPmXzqMvICyxujtqE7yKSR4gY5QEO2M45DHNR5VmXbe971Ay/aEck4WMq0bNk52JEkbE5GAW3B9zZOGbJI8d5NNbL4bOzKpIieESS4z3e3JEGMgY3PpTpXGVTIXAAChtAVcnBHgzsMZ8Q9KYdiuGdzYQW5Opnj1ytjmX8TnPMnf5m5+nKpy2th85DqB8uDIc+pALZPr1oCP4/fCK2ZUiuJhg5EIEII3+aUlcKepU59684XkoaR2CMgLHCJqIXfkGJLN7knNaJ8Vu1EEpa3iUyMDhnaS4BQ/4G0qT7g1m/C+GzTyrFGJWYkeHVHHnflqfAH8aAnuxvY6TiMmiMwRqPmMrgtj8sYJZvrgetekOz/CBawrD3sspA3eRsk7dByUegAFRXYfsfbWMSlIFjmZR3razK2fLWVGR6AAelWegFopKKAWikooApaSigCiiigCiiigCiiigGHG+FRXMTRyRQybHSJUDqGxsSOf6EGvOPbbsjNbTsDHAxwGZLaKfQgPL5s79cZPSvTjuACScADJPpXnm+4vLdyF9w8kuVz0BZwq46jS6g5225VrKSjyTUaE6rxBFU4Rxy6ikUwnLEgIrgy7nlpQ5Gryrc+zyzPCkdww+141ujNFqx1ysSkRKeX3m6ZzWffFOSxtJVtIYY42I7yWSNFEgxqCIGABXJAY4O+BnnvXba9mggco5t4pFUPpOHfGo4LjxbljsDWxCWD4v8REsscNsQe4J7x0AC69IGhfVRnJztkDPPCfD2xv7qN7jQFt4VVUI8KkKwZlQE+YDO+TkIFGSdvv4T8CTiUrmZG+y26rhB4Q7k/KccxgZIHpnY4N8+IXaYRRNwzh8RluGiKmOFMiCIjBJCjCnTnA6begIHnPi9800hdiTsAoJzpUDYDyG9WriMOns/anHz3sp9wEK1AdorBYvs5XGJbWKT6kFW/3Iat/a2Ep2f4UvnJM3+pnYf91ZMGdI5UhhzBBH0Oau3xolLcXnHRUhUf8A4Y2/m1UjH9YNWT4iXHecQmfJOVi8+kMY/wCKxqWcGdL5H/wkh18Q0fit5x/+s1TEJGCNiOVX74Hf/N4s/gk/7KpPELQxyyQgElJGQDG5wxHLz2rJg1TsqL294dIYNbyQ/N4sOWAiZNJz86susbb4cbFgapXCuMytfJPLGPDJqkjRNOSBpchTtrxzGwOBtWiWfFxwjitxIIpDY4gguZEUlI5Fij32GCQTuOfiPXANo+JPZe3mtX4nZqDcIomVoyNMqjBJIAOo6MkMNzgAkjasGSZinhZFuUeHuGUaZAwXJPLOV8Bz19cFc1knb7jvEYpTbyLpjJLQsyojlc81kiOlh+nMZAqF4LxqWRZ44JQneqRLAw8D6gcnSdtXqMHlXLh/FLeC5X7TEHjDBWhkHeIqOMSOgOyMCoIIwaAjFt5bhslZW6Fykz49ygY4FegPhx2JS2QST29h3owY5YVctjHMmTk3quKpfbHhsdpNELZFSJotQVAFBbcajp+bbHP1960T4Y8YNxZ+I5aKRoycY2zqXb/CwH0rVSTeCWVCcYKbWz4ZbaKKK2IgooooAooooAooooBaKKKAKKKKAKKKKAhO2s5SxuNJ0s0ZRT5FvDn3Gc1gttNodWP3WVvPkx/XlWzfFJ8WW/IyLn6Bj9flzWXdjuCi7vY4WGYxqeXHLSp5Z8iSB7GqdbLqJHoOlyjTt6k5fmwvb7sk0i3PGJnx3k8S20YOcpqRNbHyYAkAeefSqp2ptZDZw3DeFGl7uFT98BGLSD8oOkZ65Plvofxs4mbi6tOEJqRWkjeVtvvEquB10gsffHlU320+GDXt1blJlitIYBFoGSUwT8i40jUCoLE/dGxq4efI3sdK/wBnHDODEaV/+L4iV8AkIGruwf718bDfAAX3rRezHZm3sYykKksxzLK51SSt1Z25sSST5DO1d+B8KhtIEtrdAsaDAHn5sfNidyetPsmgPPvxW7CXVvFAykTqJZlXu42DKsjGVVIGchSH39agO2XaLvLCxszbyxtagAtIpAfwDOxAxv6nIr0rxaBpImVMd4MNGTy1ruAfIEjB9Cao0nHw693d2upW2OV1L6jDc8dd+lYckuSKpVjTxqK9wHi0kkcevQAVGwRFHy8h4Tj/APlS19clBlCPqqb8/NK7WvFBysrLYbBtIUAdOQ/5pzJxq5Rf7RbZXrgZ/wDIP1rkS6dGUtWr7Fv+80vCLx9DKV7XfZOMfa5UD93GV0oFQtlNskD1546Cm/ZnhEt9xhZYo3EUlw84aRGC4BMmCRsd8DbzrTUueHtJ3kVgjS/iMaZGPUAnb2q39kTLKWnlQIF1RxKM8sjWTnrlQvppPnXUpYjFRXgVe8061RuB37NdmVt7eWCZxcd9LJJKzooDmQ7gruCNsb/wGwrk3Drjg5aS1R7nhzEmS1zqeDPNos/NH1KH36k1oQYUtSEh5Xn4PbvxZE4bMjxz5kg6aCVc9ww5ocrpGeQKmpDhvZccUvHgZzDKIZCMjlIjRgowO/3jnqPXFX7tj8IjJci7sJFicyo5Q+EIdQJkjYZ0nO+nHPOPKo34nTrwvjNnxGPJ7xT36jGWC6UZvLUVcfVBQEb2lmdY7a3mBWa3t+7lGQcMpYDHoQAw9GB61a/g5Npknjz86hgPVSVP8HFdvi1whZIor6MHPhV9uaNurHywdv8ANUN8KyReJ+ZH+vM7/wCmqcsxrL5noNUanTcLw/3nJs1FFFXDz4UUUUAUUUUAUUUUAUUUUAUUUUAUUlLQFR+J8BeyKqpZi4CgAk5KsBgDmd6b/DHsu9rE8s64mlxtndUHJT5EnJP0HSrrRWmhatROriSpdkuM5Ms+KXDUh4jw3iJAC98sUxJ2IBLoTnbbDfoPKtSc7VVfilwf7Vwy5jAyyr3iD8yeLH1AI+tSPY/iourGCfOS8Y1f4hs38Qa3ICWH8a+ZJVVlBJBbYHpnnj3O+PY0krNp8ABYdDtn09KbPJHcxshyD1U7MpB2PuCOdYbMpHCe47qdQfkl6/hcYH6MCPqPU1B9p7mS1lUxx94kxJK8tL7Zx6NkdOZP4qdT3BmjeCQfvY/l/PgZOPUj9c59mF5diaBVfdkODn7ynr7ggA/Q9arSrYz+fU2lRc444GR49dSeGG1YN5tnA/gP519nit5FnvYNewwUHn7ZH0phfccuohpBUpgASlckHbZt8exxvtnfm24d2nui+gBZPMsANI/ExXGB/H3rZVY85OTNThV7Nyln6bErJxm5kZI44u6MhxqYZwNhkDbJydue9W++uhBGkcQ8Z8Ma8/TJ64Hn1NVnhzIJzM5LY8ZJ5nAAUAdBlhhemfc1I8Nn1SPdTEAJsOu55KPPAP11ZrVVs7L8R1adBwXtPJPpphi8TbKPEx6+ZPqT/OnFs5KgkEZ3weY9/WoKyLXMveOMRRnwJ5t5nzI5/p60/wD2kZH7uDBx88nNV9B+Jv4demKmjNPf0Djgk6yn4u8PF3xHhdmM+My97g4/dExFuW/KNv6NaqKzns2PtfHr26zlLSNbaPy1Etrx6gqwP+KpDUvXE+GxzQPbsDodCmx5DGxHqOdZj2B4NcWvERHOhBCuFPRgAfEp5MPEPbODitaorSUFJp+RPTuJQhKC4YtFJS1uQBRRRQBRRRQBRSUtAFFJRQC0UlFALRSUUAtFJXO5uEjXU7BRsMnzPIepoD7fGDqxjG+eWPX0rHvgn2pgWSXhwbCF2ktdWxK/h36lAr+5etVW7gnDRkhgwIKMrLqBG4wwGRg1j/xA4faftC5jbEbtbQT20o1DE0RkXRlPENax6cjlpB2IFYUk1lMPbk1ziE8sR1hdcfULsy+vkw/Qj16RV4iTfv7Zv3qjJA2Yj28x+h5b7VXvh98QO+UR3HeFQhZbkrgEAZMcuNhMMc12bYgAnFSvFzaFtcMyB9TApnGWHMqeh39jkdTvDWTxtv8AngbwlHO7wM+IcQ16ZG8LjYsNgR0b8rD9P0xUWJmk5bDPzYweedh0/rlTXid0XkKZJ5F87b/1uc9akLVcAVy5yb3ZeiktkfSwrjBGfff+dfMNpEgwkaKOewxXakDA8j/X9Co8szhZGsoZDqHiGMYJ9uXrt1zTi2uxIqAuABnz8J6nHMnH67Usg2qClnMT61xywR5j+t63i2zEsF4ilknxBCCkQ5+ePNscyfIczUsLqC3AhTLtyCINTE9c9AffH8KrvDu+lURxHSm2ojwjfqx5sT5D02AqTuZ4bO1llgCyyqhIGQCx8Ix+UZddvUda6FBylv8Af+CrUwtj77VdofsNnJcy6FfGIkznLn5QT18zgbAGq58CJI34c0gYNI9xIZj11bYz7rg/Ws+7RpcXga74gJS6ARW8WMRtNLsNIBIWGPAOvJMhKjUdlrb+A8FgsoEVQq6Io43c4BYICAWPU+I/rVwgJmimMXFoWYIH3JwMqy5PkCwAJ26U9rEZKW6ZlprkWikorJgWikooBaKSigFopKKAKKKKAKKKKAKKKKAR3ABJIAAySdsDzrOL3j7XNysoz9miY6Bg+LIKmUj2Jx5DPU4q6dp+HtPayRKTkjOBtqwQdPs2MfWqtwezAAI5dK5PVK8oRUEtmdCypwalKXK4K3x7teTIFtz4UIYSD8Q0kHkcpgkY8+eOVVG6uGmkGSzyeIAZzgM+ojb7urfA64q89qOx5kDPa6VY7mMnSCfNT90+nI+lVrspZSQGRJomR9QOSOa4xgHkQCOh61HTuKcKOafh4HM7jcXFzio8LwxwcbLgN++QkciRv82cKDsdyM78/fepa07JOhDNG7lcYHt051cF71oSImAcFSM8jhhlT5ZGRnpnNfHD4btXTvnDL3YDEaQC41gtjmARpON8E+m9Z3tScc5S+RYfS6UHjLZW0trw51Wj55ghkJJ9fFUZ9m4wGJW3IBxgaozj1+b+sVb7OLiGkiRgW7s4IKbPhNz6Z1Dr9On1dx3+jEZAfW5BYpjHdnQD6a8E9cZ51lVmn7v3No2cVw5FetuGX2nXKJnf/wC2CoA5+uOvnScPgvxnvLVwc+HS0Z2znfxVaLmK81uVYaNa4Uac6e63xnYHvPPpn0rnbQ32mYSOuTH+6K6dnwfMbAnH0rTtm1l6TLs45zmRWeK2nFOcSFgfunSpH+7Br44fZX5yJrVvIEMn8fF/W30sU9vxHL6JFxtozp/Db5zy6ib9Rvyw7vIbsvmNyEEceFJTUXEh19Mbpge/lvWXXeEvZErOMuXIgo4r54jC0dxEm+AHQjkRjY8t8++D0FVzifZriRJYCWX3OM+LPnjO2foK0CWG61llYlP3Xhyn4m7wbj8OnG/nXAQ32o5YFNQxgrnT49XPG/y49j9d4XVRcSRo7Cm9m5FAhhuICjSd8jIcqHBKq2AqnfK5UAY8sDyFTtr2tuAoilbvVBBDH5gRybPXcktqzkbbVM8akyTn61U+z/Zy5nLHuzEhc4Z9QwpJwAuQdht0FWKN7ri9exVu+m1rfTKhJvPgW284qlzAUQkSalORkadJDBwehyBgZyD7Zq19ju0P2hDHLgXEY8Y5ah0ce/UdD7iomw4LFDF3aD/Exxlj5n/gdKTs9wnN4sg27pWLEfmGAv15/wCUelQWNxivopr2WdeVNSt81P1IvNFFFegOaFFFFAFFFFAFLSUtAJRS0UAlFLRQCUUUtAJUFxPh7ITLEpZTu8Y5g9XQdc9V68xvkNO0VFWoxqx0yNoTcXlFXilVhlSCPT+XofSqx2qVlw6DLA46nY8zgc8bH6VoN5wmKQ6t0f8AGhwT7jk/+YGoe/7MyvymQ/4ozn9VbH8K4lTpdWEsw3R0aF3BP2timcL41EI/HcaWzuMhf5D+dX3g1jHJDHIS5JUajrbBI2JG/LIOKrNv8L0L6prhiM5Koun/AHEn+VXyytUijWKNQqIoVVHQDlV61sVDLms58yK6uIyxoY3/AGVH+b/UaX9lR/m/1Gn1FXO70vhXoVO0l5jD9lR/m/1Gj9lR/m/1Gn9FO70vhXoO0l5jH9lR/m/1Gk/ZUf5v9Rp9S07vS+Feg7SXmMDwmL8/+pqqXaG7ignMZmKLpXZnOSdyTvvjBUe+avlVrtR2Nt70iRi0coGnWuNwM4DA7EDJ8j61DcWcJwcYpJktCtpnmfBnjXhlmCITJGTgnHIe4A8sb+dXqyXCimvC+wTQ7CdSPMxnP6a/+asEHAhgCSRmH4V8AP6eL6aq5T6bWlLGyRfq3lPSknkj4laRikYBI+Zvup7+Z/KNz6Dep+xs1iXSuT1ZjzY9Sf62GB0rrDEqAKoCqOQAwK6V1rWzhQW278zm1armJRS0VbIhKKWigEopaKASiiloAopKKAWikooBaKSigFopKKAWkoooBaKSigFopKKAWikooBaKSigFopKKAWikooBaKSigFopKKAWikooBaKSigFopKKAWikooBJASCAcHGxxnB88dazLsp27uzxR7C97vu3aZbaRU0azFLIhzuRk9223mB5itONY52q4SZ+HSXluR9osOIXkyEbnSLuRmH6Yf/L60BaPiz2xn4fAptVVpT4nLDKpGGVckZG5d1A/zeRq1cAmka1ikndWdo1dmC6AMqDjGTgDPnWU9uZXm4FccQnXRLeG3KJnOmJZFMajzzlpP8/pV3vrxjw+1giGuS5jijChgpKaA0pBOwPdhgD5laAsXDeMQXEAuYH7yFgSrKrHIBIOFxqJyCMYzmmNl2uspYJblJSYYc945jlUDHMDUgLHphcnOB1qqfDe4NpeXfC5E7oZ+020ZZWxG58SArthW5DnzqpdmuJS20Ud3IqzcPjvLgSoqktC5k8FwRk94F5DbbPU4IA1i87W2kRiWRpVaUExKbe51NjOQAI86ts4543xg1yuO29ikfeySSoned1lre5Uh9KtpKmPUCQ4xtvnbNQXbe5WS84OYpU8c0jI4w4x3J357g586ZfEGbFiqyzJJInEYg7KMAZkDqCPMRuvU+9AXTh3ae1naVI3cvCMyRtFMjgdDodA7A9MA5ppbdt7CTSUklYM4jDC2udOssEClu70qdRA3IwTUF2Ouv/VL5LwKt9he7K7I9sPkKAknOd2yTufTZn8OpH+zCTv41h+3zakK7sGkdVAOeZdkI2oCyy9v+HKZA0sg7pgsp+z3OIyTgBz3eE9yRT7ifai0gMQlkb99jutMUsgfIyApjQgkjfHPFZZxq4kB40Ygrwi6i+2Iv94YDGA5Q5wp2OSQdsnbFWXtZPAw4J9kdFjNyncnGQEELAbEjkCBg0BeOE8YhuQ5iL+BtLh4pYiDpDY0yKp5MDnGN6pnAO0N/Jxq54fJLEYreMSZEWGfUIiFJ1YH95zHlVv4GWxIskqSyLI2plGnAO6KR5hSOp6VnNlxCO07TXrXTLElxBH3MjnSrYWEYDHb7pHuvtQFy4pfXS8RtoElQQyxyyMpjyw7ruhgHV97vD02qS4J2htbsyC3k1NE2iRSjoyt5FXUN9cdD5VCx30N1xWFreRZVt7acSuh1KrSPBoTUNtRCMcZ2A9RVav+ETRF+L8NGq4jnuFuIQdriITvkHH/ALigbHnsOeACBdLjtnYpCbh5JFiVzGzNBcDDg4KkGPI3299uddV7V2nfpa65BNIoZIzBOpKn726YAGN88uuKzrtNxSO47PT3CEhJbsuurY4N4Dv61ZPilCYltuKRDL2UoZsDOqF8JINvRs56DNAWW47SWyPNGzSaoEDygQzNpU5w2QhDA4PLPJvI4b2XbCzlKd20zCTPdt9muQrYVm8LmPSThSQAd8bZpnCC1hd3TZzcxyyjIwRH3ZESkHkRGFJH4i1RXw3d1suHM88fdNAUWLRhu8OCu+TnCq/lzoCZi7f8NbSRM4VpO7DtBcKmv8Bdowit6EipXiPHYIXEbs5crqCRxyytpH3isasQvTJ67VjVndFLJDMA3DzxOX7Xp2dT3qmNid/3WrGoAA7DB3q+cc4bLJevc2HEI4Jlt41ljkRZEdMu0bZyCo+bfegJ687X2USwu8jhZ8dyRDOdZPJQAhIb8pwfSvmftjZIQrSSAmQxr+4uMM4JBRT3eHbIIwM8j5VQL7jElxbcCnnSON24guQo0qQGkAdQeSsAGHvnrVl+IhVZuFDYf+oIcbD7smT+p/jQE1D2xsWljh71lklZkjV4po9TLzXLoAD789sZzUqnEIzM0AbMiorsuDsrFgpJxgElDtnO1V74k8Fin4fNk6HiBnikGAUkQZDA+Zxg+hrv8PnMllHdOdUtyommbzYqBgeSqAFA9PegLJRSUUAtFJS0AUUUUB8yIGBVgCCMEEZBB5gjqKaWnCLaIMIoIUDgK4SNF1AZwDgbgajsfM+dPaKAZXXCLaTR3kEL92CE1Ro2gHGQuR4QdI5eQ8q+YuCWi6StvbroJKYiQaSTqJXA8Jyc7dd6f0UAxl4Nas5ka3gZzzYxoSdsbkjJ229qWDhFsisiQQqrjDqsaAMPJgBhhv1p7RQEc/AbMgKba3KrkKDFGQATk4GNsnevlez1kFCC1tgoJIUQx4yQATjTjJAAJ9BUnRQDR+GQFlYwxFkXSjFFyq4I0g4yBgkYHnTZOzliGVhaWoZSCrCGMFSORB05BHpUpRQDK34RbIWKQQKWBDFY0GQeYOBuD5VzbgFmVVTa2xVc6V7qPAzzwMbZxvUjRQDXh/DYIFKwRRRKTkrGioCfMhQMnbnScR4ZBOoWeGKVRyEiK4H0YGndFAN7OxiiTu4o440/Aiqq/oBiksrCGEFYYo4wTkhEVATyz4RTmigGMnBrVlCNbwFQxYKY0IDNklgMYBOdz1rv9ii7vue7j7rTp7vSunTjGnTjGn0rvRQHOa3RlKMqshGCpAII8iDsRTCLs9ZK2tbW2DYI1CGMHBGCMhc4IOKk6KAYxcGtVV0W3gVXADqI0AYDOAwAwwGTz86+J+AWb6NdtbNoGE1RRnSNtlyPCNhsPKpGigGV5wm2lwZYIZCBga40bA8hkbD0pbzhNvLgywQyEDA1xo2B5DI2HpTyigONzaRyLokRHTbwsoYbctjtSWlnFEumKNI1znSihRnzwBzrvRQBRRRQBRRRQH//2Q=="/>
          <p:cNvPicPr/>
          <p:nvPr/>
        </p:nvPicPr>
        <p:blipFill>
          <a:blip r:embed="rId2"/>
          <a:stretch>
            <a:fillRect/>
          </a:stretch>
        </p:blipFill>
        <p:spPr>
          <a:xfrm>
            <a:off x="8007480" y="6012000"/>
            <a:ext cx="1063440" cy="823680"/>
          </a:xfrm>
          <a:prstGeom prst="rect">
            <a:avLst/>
          </a:prstGeom>
          <a:ln w="0">
            <a:noFill/>
          </a:ln>
        </p:spPr>
      </p:pic>
      <p:pic>
        <p:nvPicPr>
          <p:cNvPr id="16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924360" y="6022800"/>
            <a:ext cx="1152360" cy="79704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34920" y="6013440"/>
            <a:ext cx="2016000" cy="82404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8"/>
          <p:cNvSpPr/>
          <p:nvPr/>
        </p:nvSpPr>
        <p:spPr>
          <a:xfrm>
            <a:off x="-11160" y="5769000"/>
            <a:ext cx="9161640" cy="90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" name="Rectangle 8"/>
          <p:cNvSpPr/>
          <p:nvPr/>
        </p:nvSpPr>
        <p:spPr>
          <a:xfrm>
            <a:off x="-6480" y="5842080"/>
            <a:ext cx="9161640" cy="9036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Rectangle 8"/>
          <p:cNvSpPr/>
          <p:nvPr/>
        </p:nvSpPr>
        <p:spPr>
          <a:xfrm>
            <a:off x="-6480" y="5931000"/>
            <a:ext cx="9161640" cy="90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5"/>
          <p:cNvGrpSpPr/>
          <p:nvPr/>
        </p:nvGrpSpPr>
        <p:grpSpPr>
          <a:xfrm>
            <a:off x="0" y="0"/>
            <a:ext cx="457200" cy="5742000"/>
            <a:chOff x="0" y="0"/>
            <a:chExt cx="457200" cy="5742000"/>
          </a:xfrm>
        </p:grpSpPr>
        <p:sp>
          <p:nvSpPr>
            <p:cNvPr id="22" name="Rectangle 15"/>
            <p:cNvSpPr/>
            <p:nvPr/>
          </p:nvSpPr>
          <p:spPr>
            <a:xfrm>
              <a:off x="0" y="0"/>
              <a:ext cx="457200" cy="5005440"/>
            </a:xfrm>
            <a:prstGeom prst="rect">
              <a:avLst/>
            </a:prstGeom>
            <a:solidFill>
              <a:srgbClr val="FF7900">
                <a:alpha val="6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3" name="Rectangle 10"/>
            <p:cNvSpPr/>
            <p:nvPr/>
          </p:nvSpPr>
          <p:spPr>
            <a:xfrm>
              <a:off x="0" y="1839960"/>
              <a:ext cx="457200" cy="884160"/>
            </a:xfrm>
            <a:prstGeom prst="rect">
              <a:avLst/>
            </a:prstGeom>
            <a:solidFill>
              <a:srgbClr val="FF7900">
                <a:alpha val="9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4" name="Rectangle 13"/>
            <p:cNvSpPr/>
            <p:nvPr/>
          </p:nvSpPr>
          <p:spPr>
            <a:xfrm>
              <a:off x="0" y="2724120"/>
              <a:ext cx="457200" cy="301788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5" name="Rectangle 14"/>
            <p:cNvSpPr/>
            <p:nvPr/>
          </p:nvSpPr>
          <p:spPr>
            <a:xfrm>
              <a:off x="0" y="1471680"/>
              <a:ext cx="457200" cy="353376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6" name="Rectangle 16"/>
            <p:cNvSpPr/>
            <p:nvPr/>
          </p:nvSpPr>
          <p:spPr>
            <a:xfrm>
              <a:off x="0" y="3017880"/>
              <a:ext cx="457200" cy="7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7720" rIns="90000" bIns="277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7" name="Rectangle 17"/>
            <p:cNvSpPr/>
            <p:nvPr/>
          </p:nvSpPr>
          <p:spPr>
            <a:xfrm>
              <a:off x="0" y="368280"/>
              <a:ext cx="457200" cy="7272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8" name="Rectangle 18"/>
            <p:cNvSpPr/>
            <p:nvPr/>
          </p:nvSpPr>
          <p:spPr>
            <a:xfrm>
              <a:off x="0" y="5669280"/>
              <a:ext cx="457200" cy="7272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25920" rIns="90000" bIns="2592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2"/>
            <p:cNvSpPr/>
            <p:nvPr/>
          </p:nvSpPr>
          <p:spPr>
            <a:xfrm>
              <a:off x="0" y="0"/>
              <a:ext cx="457200" cy="4410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0" name="Rectangle 23"/>
            <p:cNvSpPr/>
            <p:nvPr/>
          </p:nvSpPr>
          <p:spPr>
            <a:xfrm>
              <a:off x="0" y="1177920"/>
              <a:ext cx="457200" cy="1476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1" name="Rectangle 24"/>
            <p:cNvSpPr/>
            <p:nvPr/>
          </p:nvSpPr>
          <p:spPr>
            <a:xfrm>
              <a:off x="0" y="5080320"/>
              <a:ext cx="457200" cy="1458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32" name="Fußzeilenplatzhalter 4"/>
          <p:cNvSpPr/>
          <p:nvPr/>
        </p:nvSpPr>
        <p:spPr>
          <a:xfrm>
            <a:off x="5389560" y="6073920"/>
            <a:ext cx="23050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 Oral Session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000" b="0" i="1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Page</a:t>
            </a:r>
            <a:r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</a:t>
            </a:r>
            <a:fld id="{45245F8C-643A-4F9E-9AC2-6CA5AFB6ED02}" type="slidenum">
              <a:rPr lang="de-DE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fld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Fußzeilenplatzhalter 4"/>
          <p:cNvSpPr/>
          <p:nvPr/>
        </p:nvSpPr>
        <p:spPr>
          <a:xfrm>
            <a:off x="2386080" y="6021360"/>
            <a:ext cx="1538280" cy="72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NCC 2026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https://ncc.co.ug/</a:t>
            </a:r>
            <a:endParaRPr lang="en-US" sz="1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34" name="Picture 23" descr="data:image/jpeg;base64,/9j/4AAQSkZJRgABAQAAAQABAAD/2wCEAAkGBxETEhUSEhMSFhUXFxsaFhcYFxYYIBsdIBkYHyAaICAbHSogGRslIhchITEjJSkrMS4wHh8zODMsOSgtLisBCgoKDg0OGhAQGyslICYtKy0rMisrMi4tNS0vKy0tLzUwNS0vLS0tLS0tLS0tLS0tLS8tLS0tLS0tLS0tLS0tLf/AABEIAM8A9AMBIgACEQEDEQH/xAAcAAABBQEBAQAAAAAAAAAAAAAAAQQFBgcDCAL/xABFEAACAQMCAwYDBQUHAwIHAQABAgMABBESIQUxQQYTIlFhcQcygRRCUmKRFSOhsfAkM3KCkqLBc7LRJUM0NURTk6PhFv/EABoBAQACAwEAAAAAAAAAAAAAAAADBAECBQb/xAAxEQACAQMDAQUHAwUAAAAAAAAAAQIDBBESITEFExRBUZEiQlJhcaHwMoHRBhUzseH/2gAMAwEAAhEDEQA/ANwooooAooooAooooAooooAorjc3UcYy7qo9Timlnx22lfu45VZjnAGenPpWuuOcZ3NlCTWUtiRooorY1CiiigCiiigCiiigCiiigCim99fRQrrlcIucZPn5VytOL28u0cqMfLP/AJrVzinhs2UJNZxsPaKKK2NQooooAooooAooooAooooAopaKASilooBlxfiKW8Mk8nyRrqb2ptacZV7qS22ysaSIR95WyCfoQP1FOuMWQmglhbcSRuh/zKR/zXn207VyxNbOW0zWmqB8/eUN4Vby0+JPUMN8jNAejaiO0fGltowebscIP+T6D/xX32d47FdxCWM4P30zup8j6eR61AdtOzl1czI8Rj0KmPExG+TnkD6VDXclB6OSxawpyqpVHhEcMTqXZmZjz3/hUh2M4ev2mWUfdUKOXMnJ/gP4mqzxXs9eRmC3+0RW73LmMSAs2nCMxwMDLnGBuNzVR7SdhL+wkaaymvGaIhi7eENnT4g+dLZJAKHJPLfeuXZWFSFTtaj/AGLd1cxinTpvKZ6IoqI4Px6KVUDNpkIGVIx4sbgdDv61MV2jmCUUtNuIXscMbSysFRRkk/y9SeQHWhlJt4R0uZ0jUu7KqqMlicACmfB+NW90paCQOAcEYII9wdwDjY9ayDtX2olvH3ysKnwR5/3N5t/L+Ji+GcRlt5BLC5Vh+hHkR1HpVV3SUsLg9DS/p+pKjqk8S8F/J6DoqB7Jdpo72PIwsq/3keeX5h5qfP6VP1ZTTWUcCpTlTk4TWGhKKWm95exxDMjhR0zzPsOZrJoR/auyEtrIvUDUPdTn/jFU2wtlKBjkeHY+eOtVb4iC/wCJ3/c273C2ccYP7tWOSTgsUUhnOcAZ5Dyycu7TsfdWP2aNbwyR3TaBDMCjI2gtkbtgYXdcDGRzrmdRspV0pQe6Ltrc6F2b4bLv2d7SDvBbyNkE4jY+fQH36VcKzD//ABV+HDDuvCwIw55g5/DWmlsLliAAMknYDzPtU9kqkYaZ+Bm+hRUk6TTzzgZ8c4mltbyTvjCKT7noPqcCvmz4sjydx/7ohSVx5ByQPUHKnY1k3xF7ZR3M8durf2dHDOBzlAPi9gRlAT+LPUYtPwkme5F3xCTdriUAHppQYAHoCSPpVwomgUUtFAJRS0UAlFLRQBRRRQBRRRQFa7f3EK2pWWd7cucRXA1gRyDdCzL8oJ232IyOtec+JySPcSPI6GYnEhBVkkxtqBXYggZ1DnmvSvbS2mktJEhhhnJHiil1AOvUKQRpfqD5+XOvMdyniZGTGliND5DJv8pJGcjl0oCxdhOKXENyiQSCN22VJCdLHomeWljtg8iRyrcOA9r4pX7idTb3I2Mb7aj+Qn5v6xnnXmZywxvtnk3T1DDfI5+degOCWy3lrH36iXC/Nr1q4xzSUDOf8QD7HOcZoA+M3C1ltIpmDFbedHk0kghCGUsMEEaSytz5KaofG1vIiDcTPc2mQ0YmLSxYwdpPxc8hmOc4+ui/2q2Qqf7XakYMUhXvQpG4U/LMvPb6DlUXYl4UZ7H+1WYBEls2TNFt8uDu2Bt+I/m51iSysElKahNSaT+TJnsPwmxlgjulsLeGQk8ox91iAykjODjI/mauNUPs1eI2o8PmfwDezlYFNuYViNcTDljJUbZXnVt4TxVJwQAySLtJE+AyH1wcEbbMCQehrKNJNNtpYH9Y38Q+05uZu6jP7mNsDyds4Ln0HIfU9avfxE40be1KocSS+BfMD7zfQbZ8yKxK520+hqrcVPcR3ek2uISuZLj9P18/2L3wXsA08YladVUqCAEJO4zjdhXOLsI7Ro/frl3KgaDjYkZJ1enlV97GnNnH/wBNf+wVxtP7iD/qt/3tUfZx0p4NZdVutbWvx8kZjOZeHXY0OpdOvINyypHka2jgvE0uYUmj5MOXUHqp9QaxTtvJm/mG/hOOv5fKrJ8LOM93M1sx8MuWT0cDcfVR/tpQnplpZPe0ZXVt2/vR5+a/4arTDinBra4wJ4Y5cctahse2fank0qqpZiFUDJJOAB5knkKrd9xWWaN3R2tbdf8A6gqhkf8A6auCEXpqcZO+ANmq8ecMq4rcgXTJw62S0nRnVe5DCQ7lf3mNgmfEQVxsNzUv2c4RNJxe0M88s89vG8s7s2QgKlVQKPChYtnA6JnepuyvWk7yPhkZOogzXs7EjqCdZHiIA5DcbcudOeDXGgPHw8LLI5zPezeFCwyMIOb43wo2HMkkknEU1yyWrUjPCjFLBcuM8Zt7WMyTyKi9Mnc+gHMmsp+Ivau7kgDAfZ7eRtKK/wDeS45sV56RjkcDcfNVyg4EobvpzJNNzMkm5zvhY41+UZ3xtisZ+I15LJfMWIBACgFxIyD8OlBoRupVScbZJOayRFdkUkEsxVT8zE+Jvcnl/XKtc+El8NUffXOSV0WlohzpT70zqmy5xsz9Mn7wrIQmN8ZP4nP8h0/hWufA+1ny0q26CNsh7l9Wp8co4l2AUHcnfcdegGw0UUUAUUUUAUUUUAUUlFALRSUUAMuRisW+J3w6KFryO5jK/eW6l0keSpK/P0Vz9a2muF7aRyo0UqK6MMMrAEEeoNAeRBjycH0Of+SDWvfB7ihWMotrNgfNNFIGB9ZIWkyD+ZF38qqXxS7G/Yp9UMXdQN8gWcPnl9x8OuM8hqHLcVA9k+KrbTrK8YkHLLs6lPzKYyDn9aA9E3WhTkNjVkndkI5fd0MN/PHuaZ8Qs2w91B4bqJSwxkCVBv3br1JHXA3x6U+4VdxXcCvEZmUjK6u/TJ93xkb8967Q4TxhdO+lvoTgjxYXc9T15b0BB8XihubeDi1q3dyYR+g71CQGhcdXxlQRvnA5U/up0cd8hAuI9lYc2woLIfxq2M49sYNYp2i4UtrxiQFpyjNrj7opHjVlip1DSoBJOw68quvDp+9WJ/kWKYhVDEg+B1bLHdyGfLHz09c5AY/ELtNHPcJl1UJEuFJA3bdiM815DPXFVK4vIWG0sef8QpPilbxgQOCNZBOk89D5YAflQgqPeofs9FFBaycQkiSZxKILeNxqQPpLtI6/e0rgAHbJOeVV5W6lLVk7NHrMqVBUdCwWuLta6xiNZrfSOX7xtvbxbU34d2mljyWuYnOTjW/y+2k7VC8O7UtdSpb36QywysE1LDFG8Oo4Dxsijdcg4bIIGKc8YQ8G026JC14wLyzuiyaF1MI1jDgquVGokgnxY6VjukcckL6lHP8AjXqOpuJxySGSSWEk8yHzv57mnFnxuOKRJUlj1IwYeNehzj68qhLe8/aUc0c8cQuYomminjjSMuE3aKQIArArnScAgqOhNQ3ZC3ikvbdZivdmQFs8mwCQn+YgL9ad1Wc5LMetuMHTVNYZ6duLuK6cFzmBSpVeQd+a6h1x82npsTzGI+ey/aFzHG74to07xo1OO+OwTluEUq5IGPmXzqMvICyxujtqE7yKSR4gY5QEO2M45DHNR5VmXbe971Ay/aEck4WMq0bNk52JEkbE5GAW3B9zZOGbJI8d5NNbL4bOzKpIieESS4z3e3JEGMgY3PpTpXGVTIXAAChtAVcnBHgzsMZ8Q9KYdiuGdzYQW5Opnj1ytjmX8TnPMnf5m5+nKpy2th85DqB8uDIc+pALZPr1oCP4/fCK2ZUiuJhg5EIEII3+aUlcKepU59684XkoaR2CMgLHCJqIXfkGJLN7knNaJ8Vu1EEpa3iUyMDhnaS4BQ/4G0qT7g1m/C+GzTyrFGJWYkeHVHHnflqfAH8aAnuxvY6TiMmiMwRqPmMrgtj8sYJZvrgetekOz/CBawrD3sspA3eRsk7dByUegAFRXYfsfbWMSlIFjmZR3razK2fLWVGR6AAelWegFopKKAWikooApaSigCiiigCiiigCiiigGHG+FRXMTRyRQybHSJUDqGxsSOf6EGvOPbbsjNbTsDHAxwGZLaKfQgPL5s79cZPSvTjuACScADJPpXnm+4vLdyF9w8kuVz0BZwq46jS6g5225VrKSjyTUaE6rxBFU4Rxy6ikUwnLEgIrgy7nlpQ5Gryrc+zyzPCkdww+141ujNFqx1ysSkRKeX3m6ZzWffFOSxtJVtIYY42I7yWSNFEgxqCIGABXJAY4O+BnnvXba9mggco5t4pFUPpOHfGo4LjxbljsDWxCWD4v8REsscNsQe4J7x0AC69IGhfVRnJztkDPPCfD2xv7qN7jQFt4VVUI8KkKwZlQE+YDO+TkIFGSdvv4T8CTiUrmZG+y26rhB4Q7k/KccxgZIHpnY4N8+IXaYRRNwzh8RluGiKmOFMiCIjBJCjCnTnA6begIHnPi9800hdiTsAoJzpUDYDyG9WriMOns/anHz3sp9wEK1AdorBYvs5XGJbWKT6kFW/3Iat/a2Ep2f4UvnJM3+pnYf91ZMGdI5UhhzBBH0Oau3xolLcXnHRUhUf8A4Y2/m1UjH9YNWT4iXHecQmfJOVi8+kMY/wCKxqWcGdL5H/wkh18Q0fit5x/+s1TEJGCNiOVX74Hf/N4s/gk/7KpPELQxyyQgElJGQDG5wxHLz2rJg1TsqL294dIYNbyQ/N4sOWAiZNJz86susbb4cbFgapXCuMytfJPLGPDJqkjRNOSBpchTtrxzGwOBtWiWfFxwjitxIIpDY4gguZEUlI5Fij32GCQTuOfiPXANo+JPZe3mtX4nZqDcIomVoyNMqjBJIAOo6MkMNzgAkjasGSZinhZFuUeHuGUaZAwXJPLOV8Bz19cFc1knb7jvEYpTbyLpjJLQsyojlc81kiOlh+nMZAqF4LxqWRZ44JQneqRLAw8D6gcnSdtXqMHlXLh/FLeC5X7TEHjDBWhkHeIqOMSOgOyMCoIIwaAjFt5bhslZW6Fykz49ygY4FegPhx2JS2QST29h3owY5YVctjHMmTk3quKpfbHhsdpNELZFSJotQVAFBbcajp+bbHP1960T4Y8YNxZ+I5aKRoycY2zqXb/CwH0rVSTeCWVCcYKbWz4ZbaKKK2IgooooAooooAooooBaKKKAKKKKAKKKKAhO2s5SxuNJ0s0ZRT5FvDn3Gc1gttNodWP3WVvPkx/XlWzfFJ8WW/IyLn6Bj9flzWXdjuCi7vY4WGYxqeXHLSp5Z8iSB7GqdbLqJHoOlyjTt6k5fmwvb7sk0i3PGJnx3k8S20YOcpqRNbHyYAkAeefSqp2ptZDZw3DeFGl7uFT98BGLSD8oOkZ65Plvofxs4mbi6tOEJqRWkjeVtvvEquB10gsffHlU320+GDXt1blJlitIYBFoGSUwT8i40jUCoLE/dGxq4efI3sdK/wBnHDODEaV/+L4iV8AkIGruwf718bDfAAX3rRezHZm3sYykKksxzLK51SSt1Z25sSST5DO1d+B8KhtIEtrdAsaDAHn5sfNidyetPsmgPPvxW7CXVvFAykTqJZlXu42DKsjGVVIGchSH39agO2XaLvLCxszbyxtagAtIpAfwDOxAxv6nIr0rxaBpImVMd4MNGTy1ruAfIEjB9Cao0nHw693d2upW2OV1L6jDc8dd+lYckuSKpVjTxqK9wHi0kkcevQAVGwRFHy8h4Tj/APlS19clBlCPqqb8/NK7WvFBysrLYbBtIUAdOQ/5pzJxq5Rf7RbZXrgZ/wDIP1rkS6dGUtWr7Fv+80vCLx9DKV7XfZOMfa5UD93GV0oFQtlNskD1546Cm/ZnhEt9xhZYo3EUlw84aRGC4BMmCRsd8DbzrTUueHtJ3kVgjS/iMaZGPUAnb2q39kTLKWnlQIF1RxKM8sjWTnrlQvppPnXUpYjFRXgVe8061RuB37NdmVt7eWCZxcd9LJJKzooDmQ7gruCNsb/wGwrk3Drjg5aS1R7nhzEmS1zqeDPNos/NH1KH36k1oQYUtSEh5Xn4PbvxZE4bMjxz5kg6aCVc9ww5ocrpGeQKmpDhvZccUvHgZzDKIZCMjlIjRgowO/3jnqPXFX7tj8IjJci7sJFicyo5Q+EIdQJkjYZ0nO+nHPOPKo34nTrwvjNnxGPJ7xT36jGWC6UZvLUVcfVBQEb2lmdY7a3mBWa3t+7lGQcMpYDHoQAw9GB61a/g5Npknjz86hgPVSVP8HFdvi1whZIor6MHPhV9uaNurHywdv8ANUN8KyReJ+ZH+vM7/wCmqcsxrL5noNUanTcLw/3nJs1FFFXDz4UUUUAUUUUAUUUUAUUUUAUUUUAUUlLQFR+J8BeyKqpZi4CgAk5KsBgDmd6b/DHsu9rE8s64mlxtndUHJT5EnJP0HSrrRWmhatROriSpdkuM5Ms+KXDUh4jw3iJAC98sUxJ2IBLoTnbbDfoPKtSc7VVfilwf7Vwy5jAyyr3iD8yeLH1AI+tSPY/iourGCfOS8Y1f4hs38Qa3ICWH8a+ZJVVlBJBbYHpnnj3O+PY0krNp8ABYdDtn09KbPJHcxshyD1U7MpB2PuCOdYbMpHCe47qdQfkl6/hcYH6MCPqPU1B9p7mS1lUxx94kxJK8tL7Zx6NkdOZP4qdT3BmjeCQfvY/l/PgZOPUj9c59mF5diaBVfdkODn7ynr7ggA/Q9arSrYz+fU2lRc444GR49dSeGG1YN5tnA/gP519nit5FnvYNewwUHn7ZH0phfccuohpBUpgASlckHbZt8exxvtnfm24d2nui+gBZPMsANI/ExXGB/H3rZVY85OTNThV7Nyln6bErJxm5kZI44u6MhxqYZwNhkDbJydue9W++uhBGkcQ8Z8Ma8/TJ64Hn1NVnhzIJzM5LY8ZJ5nAAUAdBlhhemfc1I8Nn1SPdTEAJsOu55KPPAP11ZrVVs7L8R1adBwXtPJPpphi8TbKPEx6+ZPqT/OnFs5KgkEZ3weY9/WoKyLXMveOMRRnwJ5t5nzI5/p60/wD2kZH7uDBx88nNV9B+Jv4demKmjNPf0Djgk6yn4u8PF3xHhdmM+My97g4/dExFuW/KNv6NaqKzns2PtfHr26zlLSNbaPy1Etrx6gqwP+KpDUvXE+GxzQPbsDodCmx5DGxHqOdZj2B4NcWvERHOhBCuFPRgAfEp5MPEPbODitaorSUFJp+RPTuJQhKC4YtFJS1uQBRRRQBRRRQBRSUtAFFJRQC0UlFALRSUUAtFJXO5uEjXU7BRsMnzPIepoD7fGDqxjG+eWPX0rHvgn2pgWSXhwbCF2ktdWxK/h36lAr+5etVW7gnDRkhgwIKMrLqBG4wwGRg1j/xA4faftC5jbEbtbQT20o1DE0RkXRlPENax6cjlpB2IFYUk1lMPbk1ziE8sR1hdcfULsy+vkw/Qj16RV4iTfv7Zv3qjJA2Yj28x+h5b7VXvh98QO+UR3HeFQhZbkrgEAZMcuNhMMc12bYgAnFSvFzaFtcMyB9TApnGWHMqeh39jkdTvDWTxtv8AngbwlHO7wM+IcQ16ZG8LjYsNgR0b8rD9P0xUWJmk5bDPzYweedh0/rlTXid0XkKZJ5F87b/1uc9akLVcAVy5yb3ZeiktkfSwrjBGfff+dfMNpEgwkaKOewxXakDA8j/X9Co8szhZGsoZDqHiGMYJ9uXrt1zTi2uxIqAuABnz8J6nHMnH67Usg2qClnMT61xywR5j+t63i2zEsF4ilknxBCCkQ5+ePNscyfIczUsLqC3AhTLtyCINTE9c9AffH8KrvDu+lURxHSm2ojwjfqx5sT5D02AqTuZ4bO1llgCyyqhIGQCx8Ix+UZddvUda6FBylv8Af+CrUwtj77VdofsNnJcy6FfGIkznLn5QT18zgbAGq58CJI34c0gYNI9xIZj11bYz7rg/Ws+7RpcXga74gJS6ARW8WMRtNLsNIBIWGPAOvJMhKjUdlrb+A8FgsoEVQq6Io43c4BYICAWPU+I/rVwgJmimMXFoWYIH3JwMqy5PkCwAJ26U9rEZKW6ZlprkWikorJgWikooBaKSigFopKKAKKKKAKKKKAKKKKAR3ABJIAAySdsDzrOL3j7XNysoz9miY6Bg+LIKmUj2Jx5DPU4q6dp+HtPayRKTkjOBtqwQdPs2MfWqtwezAAI5dK5PVK8oRUEtmdCypwalKXK4K3x7teTIFtz4UIYSD8Q0kHkcpgkY8+eOVVG6uGmkGSzyeIAZzgM+ojb7urfA64q89qOx5kDPa6VY7mMnSCfNT90+nI+lVrspZSQGRJomR9QOSOa4xgHkQCOh61HTuKcKOafh4HM7jcXFzio8LwxwcbLgN++QkciRv82cKDsdyM78/fepa07JOhDNG7lcYHt051cF71oSImAcFSM8jhhlT5ZGRnpnNfHD4btXTvnDL3YDEaQC41gtjmARpON8E+m9Z3tScc5S+RYfS6UHjLZW0trw51Wj55ghkJJ9fFUZ9m4wGJW3IBxgaozj1+b+sVb7OLiGkiRgW7s4IKbPhNz6Z1Dr9On1dx3+jEZAfW5BYpjHdnQD6a8E9cZ51lVmn7v3No2cVw5FetuGX2nXKJnf/wC2CoA5+uOvnScPgvxnvLVwc+HS0Z2znfxVaLmK81uVYaNa4Uac6e63xnYHvPPpn0rnbQ32mYSOuTH+6K6dnwfMbAnH0rTtm1l6TLs45zmRWeK2nFOcSFgfunSpH+7Br44fZX5yJrVvIEMn8fF/W30sU9vxHL6JFxtozp/Db5zy6ib9Rvyw7vIbsvmNyEEceFJTUXEh19Mbpge/lvWXXeEvZErOMuXIgo4r54jC0dxEm+AHQjkRjY8t8++D0FVzifZriRJYCWX3OM+LPnjO2foK0CWG61llYlP3Xhyn4m7wbj8OnG/nXAQ32o5YFNQxgrnT49XPG/y49j9d4XVRcSRo7Cm9m5FAhhuICjSd8jIcqHBKq2AqnfK5UAY8sDyFTtr2tuAoilbvVBBDH5gRybPXcktqzkbbVM8akyTn61U+z/Zy5nLHuzEhc4Z9QwpJwAuQdht0FWKN7ri9exVu+m1rfTKhJvPgW284qlzAUQkSalORkadJDBwehyBgZyD7Zq19ju0P2hDHLgXEY8Y5ah0ce/UdD7iomw4LFDF3aD/Exxlj5n/gdKTs9wnN4sg27pWLEfmGAv15/wCUelQWNxivopr2WdeVNSt81P1IvNFFFegOaFFFFAFFFFAFLSUtAJRS0UAlFLRQCUUUtAJUFxPh7ITLEpZTu8Y5g9XQdc9V68xvkNO0VFWoxqx0yNoTcXlFXilVhlSCPT+XofSqx2qVlw6DLA46nY8zgc8bH6VoN5wmKQ6t0f8AGhwT7jk/+YGoe/7MyvymQ/4ozn9VbH8K4lTpdWEsw3R0aF3BP2timcL41EI/HcaWzuMhf5D+dX3g1jHJDHIS5JUajrbBI2JG/LIOKrNv8L0L6prhiM5Koun/AHEn+VXyytUijWKNQqIoVVHQDlV61sVDLms58yK6uIyxoY3/AGVH+b/UaX9lR/m/1Gn1FXO70vhXoVO0l5jD9lR/m/1Gj9lR/m/1Gn9FO70vhXoO0l5jH9lR/m/1Gk/ZUf5v9Rp9S07vS+Feg7SXmMDwmL8/+pqqXaG7ignMZmKLpXZnOSdyTvvjBUe+avlVrtR2Nt70iRi0coGnWuNwM4DA7EDJ8j61DcWcJwcYpJktCtpnmfBnjXhlmCITJGTgnHIe4A8sb+dXqyXCimvC+wTQ7CdSPMxnP6a/+asEHAhgCSRmH4V8AP6eL6aq5T6bWlLGyRfq3lPSknkj4laRikYBI+Zvup7+Z/KNz6Dep+xs1iXSuT1ZjzY9Sf62GB0rrDEqAKoCqOQAwK6V1rWzhQW278zm1armJRS0VbIhKKWigEopaKASiiloAopKKAWikooBaKSigFopKKAWkoooBaKSigFopKKAWikooBaKSigFopKKAWikooBaKSigFopKKAWikooBaKSigFopKKAWikooBJASCAcHGxxnB88dazLsp27uzxR7C97vu3aZbaRU0azFLIhzuRk9223mB5itONY52q4SZ+HSXluR9osOIXkyEbnSLuRmH6Yf/L60BaPiz2xn4fAptVVpT4nLDKpGGVckZG5d1A/zeRq1cAmka1ikndWdo1dmC6AMqDjGTgDPnWU9uZXm4FccQnXRLeG3KJnOmJZFMajzzlpP8/pV3vrxjw+1giGuS5jijChgpKaA0pBOwPdhgD5laAsXDeMQXEAuYH7yFgSrKrHIBIOFxqJyCMYzmmNl2uspYJblJSYYc945jlUDHMDUgLHphcnOB1qqfDe4NpeXfC5E7oZ+020ZZWxG58SArthW5DnzqpdmuJS20Ud3IqzcPjvLgSoqktC5k8FwRk94F5DbbPU4IA1i87W2kRiWRpVaUExKbe51NjOQAI86ts4543xg1yuO29ikfeySSoned1lre5Uh9KtpKmPUCQ4xtvnbNQXbe5WS84OYpU8c0jI4w4x3J357g586ZfEGbFiqyzJJInEYg7KMAZkDqCPMRuvU+9AXTh3ae1naVI3cvCMyRtFMjgdDodA7A9MA5ppbdt7CTSUklYM4jDC2udOssEClu70qdRA3IwTUF2Ouv/VL5LwKt9he7K7I9sPkKAknOd2yTufTZn8OpH+zCTv41h+3zakK7sGkdVAOeZdkI2oCyy9v+HKZA0sg7pgsp+z3OIyTgBz3eE9yRT7ifai0gMQlkb99jutMUsgfIyApjQgkjfHPFZZxq4kB40Ygrwi6i+2Iv94YDGA5Q5wp2OSQdsnbFWXtZPAw4J9kdFjNyncnGQEELAbEjkCBg0BeOE8YhuQ5iL+BtLh4pYiDpDY0yKp5MDnGN6pnAO0N/Jxq54fJLEYreMSZEWGfUIiFJ1YH95zHlVv4GWxIskqSyLI2plGnAO6KR5hSOp6VnNlxCO07TXrXTLElxBH3MjnSrYWEYDHb7pHuvtQFy4pfXS8RtoElQQyxyyMpjyw7ruhgHV97vD02qS4J2htbsyC3k1NE2iRSjoyt5FXUN9cdD5VCx30N1xWFreRZVt7acSuh1KrSPBoTUNtRCMcZ2A9RVav+ETRF+L8NGq4jnuFuIQdriITvkHH/ALigbHnsOeACBdLjtnYpCbh5JFiVzGzNBcDDg4KkGPI3299uddV7V2nfpa65BNIoZIzBOpKn726YAGN88uuKzrtNxSO47PT3CEhJbsuurY4N4Dv61ZPilCYltuKRDL2UoZsDOqF8JINvRs56DNAWW47SWyPNGzSaoEDygQzNpU5w2QhDA4PLPJvI4b2XbCzlKd20zCTPdt9muQrYVm8LmPSThSQAd8bZpnCC1hd3TZzcxyyjIwRH3ZESkHkRGFJH4i1RXw3d1suHM88fdNAUWLRhu8OCu+TnCq/lzoCZi7f8NbSRM4VpO7DtBcKmv8Bdowit6EipXiPHYIXEbs5crqCRxyytpH3isasQvTJ67VjVndFLJDMA3DzxOX7Xp2dT3qmNid/3WrGoAA7DB3q+cc4bLJevc2HEI4Jlt41ljkRZEdMu0bZyCo+bfegJ687X2USwu8jhZ8dyRDOdZPJQAhIb8pwfSvmftjZIQrSSAmQxr+4uMM4JBRT3eHbIIwM8j5VQL7jElxbcCnnSON24guQo0qQGkAdQeSsAGHvnrVl+IhVZuFDYf+oIcbD7smT+p/jQE1D2xsWljh71lklZkjV4po9TLzXLoAD789sZzUqnEIzM0AbMiorsuDsrFgpJxgElDtnO1V74k8Fin4fNk6HiBnikGAUkQZDA+Zxg+hrv8PnMllHdOdUtyommbzYqBgeSqAFA9PegLJRSUUAtFJS0AUUUUB8yIGBVgCCMEEZBB5gjqKaWnCLaIMIoIUDgK4SNF1AZwDgbgajsfM+dPaKAZXXCLaTR3kEL92CE1Ro2gHGQuR4QdI5eQ8q+YuCWi6StvbroJKYiQaSTqJXA8Jyc7dd6f0UAxl4Nas5ka3gZzzYxoSdsbkjJ229qWDhFsisiQQqrjDqsaAMPJgBhhv1p7RQEc/AbMgKba3KrkKDFGQATk4GNsnevlez1kFCC1tgoJIUQx4yQATjTjJAAJ9BUnRQDR+GQFlYwxFkXSjFFyq4I0g4yBgkYHnTZOzliGVhaWoZSCrCGMFSORB05BHpUpRQDK34RbIWKQQKWBDFY0GQeYOBuD5VzbgFmVVTa2xVc6V7qPAzzwMbZxvUjRQDXh/DYIFKwRRRKTkrGioCfMhQMnbnScR4ZBOoWeGKVRyEiK4H0YGndFAN7OxiiTu4o440/Aiqq/oBiksrCGEFYYo4wTkhEVATyz4RTmigGMnBrVlCNbwFQxYKY0IDNklgMYBOdz1rv9ii7vue7j7rTp7vSunTjGnTjGn0rvRQHOa3RlKMqshGCpAII8iDsRTCLs9ZK2tbW2DYI1CGMHBGCMhc4IOKk6KAYxcGtVV0W3gVXADqI0AYDOAwAwwGTz86+J+AWb6NdtbNoGE1RRnSNtlyPCNhsPKpGigGV5wm2lwZYIZCBga40bA8hkbD0pbzhNvLgywQyEDA1xo2B5DI2HpTyigONzaRyLokRHTbwsoYbctjtSWlnFEumKNI1znSihRnzwBzrvRQBRRRQBRRRQH//2Q=="/>
          <p:cNvPicPr/>
          <p:nvPr/>
        </p:nvPicPr>
        <p:blipFill>
          <a:blip r:embed="rId2"/>
          <a:stretch>
            <a:fillRect/>
          </a:stretch>
        </p:blipFill>
        <p:spPr>
          <a:xfrm>
            <a:off x="8007480" y="6012000"/>
            <a:ext cx="1063440" cy="82368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924360" y="6022800"/>
            <a:ext cx="1152360" cy="79704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34920" y="6013440"/>
            <a:ext cx="2016000" cy="824040"/>
          </a:xfrm>
          <a:prstGeom prst="rect">
            <a:avLst/>
          </a:prstGeom>
          <a:ln w="0">
            <a:noFill/>
          </a:ln>
        </p:spPr>
      </p:pic>
      <p:sp>
        <p:nvSpPr>
          <p:cNvPr id="37" name="Rectangle 8"/>
          <p:cNvSpPr/>
          <p:nvPr/>
        </p:nvSpPr>
        <p:spPr>
          <a:xfrm>
            <a:off x="-11160" y="5769000"/>
            <a:ext cx="9161640" cy="90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8" name="Rectangle 8"/>
          <p:cNvSpPr/>
          <p:nvPr/>
        </p:nvSpPr>
        <p:spPr>
          <a:xfrm>
            <a:off x="-6480" y="5842080"/>
            <a:ext cx="9161640" cy="9036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-6480" y="5931000"/>
            <a:ext cx="9161640" cy="903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3560" rIns="90000" bIns="4356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Untertitel 2"/>
          <p:cNvSpPr/>
          <p:nvPr/>
        </p:nvSpPr>
        <p:spPr>
          <a:xfrm>
            <a:off x="1380960" y="421488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1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575C"/>
                </a:solidFill>
                <a:latin typeface="Arial" panose="020B0604020202020204"/>
              </a:rPr>
              <a:t>Click to edit the title text format</a:t>
            </a:r>
            <a:endParaRPr lang="en-US" sz="30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46040" y="1009440"/>
            <a:ext cx="8229600" cy="481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5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6" indent="-228600">
              <a:spcBef>
                <a:spcPts val="60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33300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FF7900"/>
                </a:solidFill>
                <a:latin typeface="Gill Sans MT" panose="020B0502020104020203" charset="0"/>
                <a:cs typeface="Gill Sans MT" panose="020B0502020104020203" charset="0"/>
              </a:rPr>
              <a:t>THE 10TH NATIONAL CONFERENCE ON COMMUNICATIONS (NCC 2026)</a:t>
            </a:r>
            <a:endParaRPr lang="en-US" sz="3200" b="1" strike="noStrike" spc="-1" dirty="0">
              <a:solidFill>
                <a:srgbClr val="FF79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64490" y="1950085"/>
            <a:ext cx="8778875" cy="16497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2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indent="0" algn="ctr">
              <a:lnSpc>
                <a:spcPct val="90000"/>
              </a:lnSpc>
              <a:spcBef>
                <a:spcPts val="6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200" b="1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A 1D CNN Edge Forecasting Approach for Spatiotemporal Environmental Monitoring via Mobile Wireless Sensor Networks</a:t>
            </a:r>
            <a:endParaRPr lang="en-US" sz="2400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indent="0" algn="ctr">
              <a:lnSpc>
                <a:spcPct val="90000"/>
              </a:lnSpc>
              <a:spcBef>
                <a:spcPts val="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indent="0" algn="ctr">
              <a:lnSpc>
                <a:spcPct val="90000"/>
              </a:lnSpc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600" b="1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Owori Charles, Nakanyike Belinda, Excellence Favor, Stanley Mugisha</a:t>
            </a:r>
            <a:endParaRPr lang="en-US" sz="2000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2" name="Untertitel 2"/>
          <p:cNvSpPr/>
          <p:nvPr/>
        </p:nvSpPr>
        <p:spPr>
          <a:xfrm>
            <a:off x="1380960" y="421488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1604880" y="3700000"/>
            <a:ext cx="6400800" cy="93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6FC2"/>
                </a:solidFill>
                <a:latin typeface="Gill Sans MT" panose="020B0502020104020203" charset="0"/>
                <a:cs typeface="Gill Sans MT" panose="020B0502020104020203" charset="0"/>
              </a:rPr>
              <a:t>Presenter: Nakanyike Belinda</a:t>
            </a:r>
            <a:endParaRPr lang="en-US" sz="2000" b="0" strike="noStrike" spc="-1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indent="0" algn="ctr">
              <a:lnSpc>
                <a:spcPct val="100000"/>
              </a:lnSpc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6FC2"/>
                </a:solidFill>
                <a:latin typeface="Gill Sans MT" panose="020B0502020104020203" charset="0"/>
                <a:cs typeface="Gill Sans MT" panose="020B0502020104020203" charset="0"/>
              </a:rPr>
              <a:t>Dept. of Electronics and Computer Engineering, Soroti University</a:t>
            </a:r>
            <a:endParaRPr lang="en-US" sz="2000" b="0" strike="noStrike" spc="-1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1380960" y="4750000"/>
            <a:ext cx="6400800" cy="28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886"/>
          </a:bodyPr>
          <a:lstStyle/>
          <a:p>
            <a:pPr indent="0" algn="ctr">
              <a:lnSpc>
                <a:spcPct val="100000"/>
              </a:lnSpc>
              <a:spcBef>
                <a:spcPts val="4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1800" b="1" strike="noStrike" spc="-1">
                <a:solidFill>
                  <a:srgbClr val="0D0D0D"/>
                </a:solidFill>
                <a:latin typeface="Gill Sans MT" panose="020B0502020104020203" charset="0"/>
                <a:cs typeface="Gill Sans MT" panose="020B0502020104020203" charset="0"/>
              </a:rPr>
              <a:t>September 24, 2026</a:t>
            </a:r>
            <a:endParaRPr lang="de-DE" sz="1800" b="1" strike="noStrike" spc="-1">
              <a:solidFill>
                <a:srgbClr val="0D0D0D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332740"/>
            <a:ext cx="7772400" cy="116459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FF7900"/>
                </a:solidFill>
                <a:latin typeface="Gill Sans MT" panose="020B0502020104020203" charset="0"/>
                <a:cs typeface="Gill Sans MT" panose="020B0502020104020203" charset="0"/>
              </a:rPr>
              <a:t>Outline</a:t>
            </a:r>
            <a:endParaRPr lang="en-US" sz="3200" b="1" strike="noStrike" spc="-1" dirty="0">
              <a:solidFill>
                <a:srgbClr val="FF79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67995" y="1496695"/>
            <a:ext cx="8675370" cy="420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Motivation and Research gap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System Architecture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Hardware Prototype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Study Area and Data Collection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1D CNN Forecasting Model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Results-Model Comparison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Communication and Energy Efficiency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571500" indent="-342900" algn="l">
              <a:lnSpc>
                <a:spcPct val="90000"/>
              </a:lnSpc>
              <a:spcBef>
                <a:spcPts val="2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Gill Sans MT" panose="020B0502020104020203" charset="0"/>
                <a:cs typeface="Gill Sans MT" panose="020B0502020104020203" charset="0"/>
              </a:rPr>
              <a:t>Limitations and Conclusion</a:t>
            </a:r>
            <a:endParaRPr lang="en-US" b="0" strike="noStrike" spc="-1" dirty="0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2" name="Untertitel 2"/>
          <p:cNvSpPr/>
          <p:nvPr/>
        </p:nvSpPr>
        <p:spPr>
          <a:xfrm>
            <a:off x="1380960" y="421488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9640" y="274320"/>
            <a:ext cx="8461440" cy="85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Motivation and Research Gap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02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39280" y="1341000"/>
            <a:ext cx="4191540" cy="120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 dirty="0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~4.2M</a:t>
            </a:r>
            <a:endParaRPr sz="2000" b="1" dirty="0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lang="en-US"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D</a:t>
            </a:r>
            <a:r>
              <a:rPr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eaths</a:t>
            </a:r>
            <a:r>
              <a:rPr lang="en-US"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 per </a:t>
            </a:r>
            <a:r>
              <a:rPr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yr linked to air pollution worldwide</a:t>
            </a:r>
            <a:endParaRPr sz="2000" dirty="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9280" y="1341000"/>
            <a:ext cx="55000" cy="120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880820" y="1341000"/>
            <a:ext cx="4191540" cy="120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 dirty="0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0</a:t>
            </a:r>
            <a:endParaRPr sz="2000" b="1" dirty="0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lang="en-US"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C</a:t>
            </a:r>
            <a:r>
              <a:rPr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ontinuous reference monitors in Soroti before this work</a:t>
            </a:r>
            <a:endParaRPr sz="2000" dirty="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80820" y="1341000"/>
            <a:ext cx="55000" cy="120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630" y="2673798"/>
            <a:ext cx="7195020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Fixed monitoring stations are accurate but geographically sparse 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,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they miss local spatiotemporal variability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Secondary cities such as Soroti remain comparatively under-monitored 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as compared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Kampala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Gap: few systems integrate mobile sensing + GNSS mapping + edge forecasting in one low-cost node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indent="0" algn="just">
              <a:spcAft>
                <a:spcPts val="1000"/>
              </a:spcAft>
              <a:buFont typeface="Arial" panose="020B0604020202020204" pitchFamily="34" charset="0"/>
              <a:buNone/>
            </a:pP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System Architecture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03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pic>
        <p:nvPicPr>
          <p:cNvPr id="59" name="Picture 58" descr="page3_img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0840" y="1111040"/>
            <a:ext cx="4962840" cy="330856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572000" y="4564730"/>
            <a:ext cx="41605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Fig. 1: System architecture of the mobile sensor node</a:t>
            </a:r>
            <a:endParaRPr sz="2000" i="1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9640" y="1602859"/>
            <a:ext cx="3927945" cy="2809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ESP32-S3 controller + PMSA003I (PM), MQ-7 (CO), NEO-M9N GNSS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 err="1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WiFi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2.4 GHz / MQTT; local microSD logging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 err="1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FreeRTOS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: sensing, edge inference and com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munication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run as independent tasks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Hardware Prototype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04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pic>
        <p:nvPicPr>
          <p:cNvPr id="59" name="Picture 58" descr="hardware_phot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280" y="1341000"/>
            <a:ext cx="2788920" cy="327395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39280" y="4674950"/>
            <a:ext cx="27889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Fig. 2: Assembled mobile sensor node hardware</a:t>
            </a:r>
            <a:endParaRPr sz="2000" i="1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28200" y="1341000"/>
            <a:ext cx="5444160" cy="250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Breadboard prototype: ESP32-S3 + PMSA003I PM sensor + NEO-M9N GNSS module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+CO sensor + </a:t>
            </a:r>
            <a:r>
              <a:rPr lang="en-US" sz="2000" dirty="0" err="1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sd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module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Deployed in a ventilated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enclosure for in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vehicle mounting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Powered by 2×18650 Li-Ion cells through a voltag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e 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regulation circuit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628200" y="3950000"/>
            <a:ext cx="2647080" cy="11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USD 50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Total component cost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28200" y="3950000"/>
            <a:ext cx="55000" cy="11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Study Area and Data Collection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05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39280" y="1341000"/>
            <a:ext cx="2020770" cy="14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~5 km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Monitored route into Soroti CBD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39280" y="1341000"/>
            <a:ext cx="55000" cy="14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710050" y="1341000"/>
            <a:ext cx="2020770" cy="14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~11,500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Sensor observations recorded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710050" y="1341000"/>
            <a:ext cx="55000" cy="14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880820" y="1341000"/>
            <a:ext cx="2020770" cy="14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 dirty="0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4 trips</a:t>
            </a:r>
            <a:endParaRPr sz="2000" b="1" dirty="0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Over 12 h (06:00–18:00)</a:t>
            </a:r>
            <a:endParaRPr sz="2000" dirty="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80820" y="1341000"/>
            <a:ext cx="55000" cy="14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051590" y="1341000"/>
            <a:ext cx="2020770" cy="14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20 km/h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Average transit speed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051590" y="1341000"/>
            <a:ext cx="55000" cy="14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2590" y="2899410"/>
            <a:ext cx="4276725" cy="26403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Centered on Soroti University (1.714°N, 33.611°E); route elevation 1,097–1,105 m, passing schools, a hospital and a major intersection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Platform: a university van (Nissan); dry day, 28°C, 55% RH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0610" y="2899410"/>
            <a:ext cx="4191635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1D CNN Forecasting Model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06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pic>
        <p:nvPicPr>
          <p:cNvPr id="59" name="Picture 58" descr="page4_img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280" y="1043132"/>
            <a:ext cx="3229510" cy="38478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39280" y="4941000"/>
            <a:ext cx="29795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Fig. 3: Architecture of the proposed 1D CNN</a:t>
            </a:r>
            <a:endParaRPr sz="2000" i="1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034155" y="1341120"/>
            <a:ext cx="5038090" cy="188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Input: 16 timesteps × 3 channels (PM2.5, gas, GPS speed)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Conv1D(32)→Pool→Conv1D(64)→</a:t>
            </a:r>
            <a:r>
              <a:rPr sz="2000" dirty="0" err="1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GlobalAvgPool→Dense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(32)→Dense(1)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Baselines: Linear Regression and LSTM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006155" y="4118525"/>
            <a:ext cx="1762856" cy="1191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 dirty="0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8,472</a:t>
            </a:r>
            <a:endParaRPr sz="2000" b="1" dirty="0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 dirty="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Model parameters</a:t>
            </a:r>
            <a:endParaRPr sz="2000" dirty="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978655" y="4150000"/>
            <a:ext cx="55000" cy="1191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807828" y="4118525"/>
            <a:ext cx="1557856" cy="1191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16 steps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Input window (≈ 10 s)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5" name="Rectangle 64"/>
          <p:cNvSpPr/>
          <p:nvPr/>
        </p:nvSpPr>
        <p:spPr>
          <a:xfrm flipH="1">
            <a:off x="5807828" y="4150000"/>
            <a:ext cx="45719" cy="1191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404502" y="4150000"/>
            <a:ext cx="1557856" cy="1191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t + 5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Forecast horizon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404502" y="4150000"/>
            <a:ext cx="45719" cy="1191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Results — Model Comparison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07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pic>
        <p:nvPicPr>
          <p:cNvPr id="59" name="Picture 58" descr="model_comparison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280" y="1341000"/>
            <a:ext cx="8533080" cy="313952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39280" y="4750000"/>
            <a:ext cx="8533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LSTM has the lowest MAE, but its latency is ~3.7× the quantized CNN  the 1D CNN is chosen for the edge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/>
              </a:rPr>
              <a:t>Effect of Quantization</a:t>
            </a:r>
            <a:endParaRPr lang="en-US" sz="3200" b="1" strike="noStrike" spc="-1">
              <a:solidFill>
                <a:srgbClr val="00575C"/>
              </a:solidFill>
              <a:latin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/>
              </a:rPr>
              <a:t>08</a:t>
            </a:r>
            <a:endParaRPr sz="1500" b="1">
              <a:solidFill>
                <a:srgbClr val="FFFFFF"/>
              </a:solidFill>
              <a:latin typeface="Gill Sans MT" panose="020B05020201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39280" y="1341000"/>
            <a:ext cx="4116540" cy="25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20000" rtlCol="0" anchor="ctr"/>
          <a:lstStyle/>
          <a:p>
            <a:pPr algn="l"/>
            <a:r>
              <a:rPr sz="2000" b="1">
                <a:solidFill>
                  <a:srgbClr val="333333"/>
                </a:solidFill>
                <a:latin typeface="Gill Sans MT" panose="020B0502020104020203"/>
              </a:rPr>
              <a:t>Float32 CNN</a:t>
            </a:r>
            <a:endParaRPr sz="2000" b="1">
              <a:solidFill>
                <a:srgbClr val="333333"/>
              </a:solidFill>
              <a:latin typeface="Gill Sans MT" panose="020B0502020104020203"/>
            </a:endParaRPr>
          </a:p>
          <a:p>
            <a:pPr>
              <a:spcBef>
                <a:spcPts val="2200"/>
              </a:spcBef>
            </a:pPr>
            <a:r>
              <a:rPr sz="2000" b="1">
                <a:solidFill>
                  <a:srgbClr val="595959"/>
                </a:solidFill>
                <a:latin typeface="Gill Sans MT" panose="020B0502020104020203"/>
              </a:rPr>
              <a:t>1.12 µg/m³</a:t>
            </a:r>
            <a:endParaRPr sz="2000" b="1">
              <a:solidFill>
                <a:srgbClr val="595959"/>
              </a:solidFill>
              <a:latin typeface="Gill Sans MT" panose="020B0502020104020203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595959"/>
                </a:solidFill>
                <a:latin typeface="Gill Sans MT" panose="020B0502020104020203"/>
              </a:rPr>
              <a:t>MAE</a:t>
            </a:r>
            <a:endParaRPr sz="2000">
              <a:solidFill>
                <a:srgbClr val="595959"/>
              </a:solidFill>
              <a:latin typeface="Gill Sans MT" panose="020B0502020104020203"/>
            </a:endParaRPr>
          </a:p>
          <a:p>
            <a:pPr>
              <a:spcBef>
                <a:spcPts val="2200"/>
              </a:spcBef>
            </a:pPr>
            <a:r>
              <a:rPr sz="2000" b="1">
                <a:solidFill>
                  <a:srgbClr val="595959"/>
                </a:solidFill>
                <a:latin typeface="Gill Sans MT" panose="020B0502020104020203"/>
              </a:rPr>
              <a:t>6.1 ms</a:t>
            </a:r>
            <a:endParaRPr sz="2000" b="1">
              <a:solidFill>
                <a:srgbClr val="595959"/>
              </a:solidFill>
              <a:latin typeface="Gill Sans MT" panose="020B0502020104020203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595959"/>
                </a:solidFill>
                <a:latin typeface="Gill Sans MT" panose="020B0502020104020203"/>
              </a:rPr>
              <a:t>Inference latency</a:t>
            </a:r>
            <a:endParaRPr sz="2000">
              <a:solidFill>
                <a:srgbClr val="595959"/>
              </a:solidFill>
              <a:latin typeface="Gill Sans MT" panose="020B0502020104020203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955820" y="1341000"/>
            <a:ext cx="4116540" cy="2500000"/>
          </a:xfrm>
          <a:prstGeom prst="roundRect">
            <a:avLst>
              <a:gd name="adj" fmla="val 6000"/>
            </a:avLst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22000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Gill Sans MT" panose="020B0502020104020203"/>
              </a:rPr>
              <a:t>Quantized int8 CNN (selected)</a:t>
            </a:r>
            <a:endParaRPr sz="2000" b="1">
              <a:solidFill>
                <a:srgbClr val="FFFFFF"/>
              </a:solidFill>
              <a:latin typeface="Gill Sans MT" panose="020B0502020104020203"/>
            </a:endParaRPr>
          </a:p>
          <a:p>
            <a:pPr>
              <a:spcBef>
                <a:spcPts val="2200"/>
              </a:spcBef>
            </a:pPr>
            <a:r>
              <a:rPr sz="2000" b="1">
                <a:solidFill>
                  <a:srgbClr val="FFFFFF"/>
                </a:solidFill>
                <a:latin typeface="Gill Sans MT" panose="020B0502020104020203"/>
              </a:rPr>
              <a:t>1.18 µg/m³</a:t>
            </a:r>
            <a:endParaRPr sz="2000" b="1">
              <a:solidFill>
                <a:srgbClr val="FFFFFF"/>
              </a:solidFill>
              <a:latin typeface="Gill Sans MT" panose="020B0502020104020203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FE8CC"/>
                </a:solidFill>
                <a:latin typeface="Gill Sans MT" panose="020B0502020104020203"/>
              </a:rPr>
              <a:t>MAE</a:t>
            </a:r>
            <a:endParaRPr sz="2000">
              <a:solidFill>
                <a:srgbClr val="FFE8CC"/>
              </a:solidFill>
              <a:latin typeface="Gill Sans MT" panose="020B0502020104020203"/>
            </a:endParaRPr>
          </a:p>
          <a:p>
            <a:pPr>
              <a:spcBef>
                <a:spcPts val="2200"/>
              </a:spcBef>
            </a:pPr>
            <a:r>
              <a:rPr sz="2000" b="1">
                <a:solidFill>
                  <a:srgbClr val="FFFFFF"/>
                </a:solidFill>
                <a:latin typeface="Gill Sans MT" panose="020B0502020104020203"/>
              </a:rPr>
              <a:t>4.2 ms</a:t>
            </a:r>
            <a:endParaRPr sz="2000" b="1">
              <a:solidFill>
                <a:srgbClr val="FFFFFF"/>
              </a:solidFill>
              <a:latin typeface="Gill Sans MT" panose="020B0502020104020203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FE8CC"/>
                </a:solidFill>
                <a:latin typeface="Gill Sans MT" panose="020B0502020104020203"/>
              </a:rPr>
              <a:t>Inference latency</a:t>
            </a:r>
            <a:endParaRPr sz="2000">
              <a:solidFill>
                <a:srgbClr val="FFE8CC"/>
              </a:solidFill>
              <a:latin typeface="Gill Sans MT" panose="020B0502020104020203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9280" y="4050000"/>
            <a:ext cx="8533080" cy="1450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Gill Sans MT" panose="020B0502020104020203"/>
              </a:rPr>
              <a:t>•  Only +0.06 µg/m³ MAE for a 31% latency cut  selected as the operational edge model</a:t>
            </a:r>
            <a:endParaRPr sz="2000">
              <a:solidFill>
                <a:srgbClr val="333333"/>
              </a:solidFill>
              <a:latin typeface="Gill Sans MT" panose="020B0502020104020203"/>
            </a:endParaRP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Gill Sans MT" panose="020B0502020104020203"/>
              </a:rPr>
              <a:t>•  Quantized model footprint: ≈ 24 KB flash / 6 KB RAM fits the ESP32-S3's constrained memory</a:t>
            </a:r>
            <a:endParaRPr sz="2000">
              <a:solidFill>
                <a:srgbClr val="333333"/>
              </a:solidFill>
              <a:latin typeface="Gill Sans MT" panose="020B05020201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Communication and Energy Efficiency</a:t>
            </a:r>
            <a:endParaRPr lang="en-US" sz="32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09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39280" y="1341000"/>
            <a:ext cx="2744360" cy="15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≈ 80%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Cut in cloud-transmitted data (threshold alerts only)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39280" y="1341000"/>
            <a:ext cx="55000" cy="15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433640" y="1341000"/>
            <a:ext cx="2744360" cy="15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35 mA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Average current with adaptive buffering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433640" y="1341000"/>
            <a:ext cx="55000" cy="15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328000" y="1341000"/>
            <a:ext cx="2744360" cy="155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sz="20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≈ 48 h</a:t>
            </a:r>
            <a:endParaRPr sz="20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 sz="2000"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Estimated runtime on the 2-cell battery</a:t>
            </a:r>
            <a:endParaRPr sz="2000"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328000" y="1341000"/>
            <a:ext cx="55000" cy="155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43205" y="3429000"/>
            <a:ext cx="76257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Alerts sent only when predicted PM2.5 &gt; 15 µg/m³  the complete raw stream still logs to SD card locally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80% figure is a transmission reduction, not a reduction in data sensed or stored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Battery figure is a reported prototype configuration, not a universal estimate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39640" y="201600"/>
            <a:ext cx="8461440" cy="85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 dirty="0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Limitations and Conclusion</a:t>
            </a:r>
            <a:endParaRPr lang="en-US" sz="3200" b="1" strike="noStrike" spc="-1" dirty="0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454000" y="260000"/>
            <a:ext cx="430000" cy="430000"/>
          </a:xfrm>
          <a:prstGeom prst="ellipse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ill Sans MT" panose="020B0502020104020203" charset="0"/>
                <a:cs typeface="Gill Sans MT" panose="020B0502020104020203" charset="0"/>
              </a:rPr>
              <a:t>10</a:t>
            </a:r>
            <a:endParaRPr sz="1500" b="1">
              <a:solidFill>
                <a:srgbClr val="FFFFF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848485" y="1341000"/>
            <a:ext cx="14000" cy="4150000"/>
          </a:xfrm>
          <a:prstGeom prst="rect">
            <a:avLst/>
          </a:prstGeom>
          <a:solidFill>
            <a:srgbClr val="E5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9115" y="1052830"/>
            <a:ext cx="2946400" cy="6483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LIMITATIONS</a:t>
            </a:r>
            <a:endParaRPr sz="32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9115" y="1771015"/>
            <a:ext cx="3924935" cy="3520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Single day, one node  no day-to-day or seasonal variability captured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Reference monitor fixed at the campus gate 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that is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not continuously co-located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No wind or rainfall data included in the forecasting model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Altitude</a:t>
            </a:r>
            <a:r>
              <a:rPr lang="en-US"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 </a:t>
            </a:r>
            <a:r>
              <a:rPr sz="2000" dirty="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pollution link is contextual, not proven causal</a:t>
            </a:r>
            <a:endParaRPr sz="2000" dirty="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89855" y="977900"/>
            <a:ext cx="3882390" cy="7232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00"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KEY TAKEAWAYS</a:t>
            </a:r>
            <a:endParaRPr sz="3200"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189808" y="1771000"/>
            <a:ext cx="3882552" cy="68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1.18 µg/m³</a:t>
            </a:r>
            <a:endParaRPr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Edge-model MAE at 4.2 ms inference</a:t>
            </a:r>
            <a:endParaRPr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189808" y="1771000"/>
            <a:ext cx="55000" cy="68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5189808" y="2561000"/>
            <a:ext cx="3882552" cy="68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~80%</a:t>
            </a:r>
            <a:endParaRPr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Cloud-data reduction, raw data retained locally</a:t>
            </a:r>
            <a:endParaRPr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189808" y="2561000"/>
            <a:ext cx="55000" cy="68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189808" y="3351000"/>
            <a:ext cx="3882552" cy="680000"/>
          </a:xfrm>
          <a:prstGeom prst="roundRect">
            <a:avLst>
              <a:gd name="adj" fmla="val 10000"/>
            </a:avLst>
          </a:prstGeom>
          <a:solidFill>
            <a:srgbClr val="FC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20000" bIns="70000" rtlCol="0" anchor="ctr"/>
          <a:lstStyle/>
          <a:p>
            <a:pPr algn="l"/>
            <a:r>
              <a:rPr b="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USD 50</a:t>
            </a:r>
            <a:endParaRPr b="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  <a:p>
            <a:pPr algn="l"/>
            <a:r>
              <a:rPr>
                <a:solidFill>
                  <a:srgbClr val="595959"/>
                </a:solidFill>
                <a:latin typeface="Gill Sans MT" panose="020B0502020104020203" charset="0"/>
                <a:cs typeface="Gill Sans MT" panose="020B0502020104020203" charset="0"/>
              </a:rPr>
              <a:t>Low-cost prototype hardware cost</a:t>
            </a:r>
            <a:endParaRPr>
              <a:solidFill>
                <a:srgbClr val="595959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189808" y="3351000"/>
            <a:ext cx="55000" cy="6800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89808" y="4271000"/>
            <a:ext cx="3882552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▸  A prototype demonstrating feasibility for secondary-city air-quality monitoring</a:t>
            </a:r>
            <a:endParaRPr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11505" y="590550"/>
            <a:ext cx="8229600" cy="145605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strike="noStrike" spc="-1">
                <a:solidFill>
                  <a:srgbClr val="FF8A1F"/>
                </a:solidFill>
                <a:latin typeface="Gill Sans MT" panose="020B0502020104020203" charset="0"/>
                <a:cs typeface="Gill Sans MT" panose="020B0502020104020203" charset="0"/>
              </a:rPr>
              <a:t>THANK YOU</a:t>
            </a:r>
            <a:endParaRPr lang="en-US" sz="4800" b="1" strike="noStrike" spc="-1">
              <a:solidFill>
                <a:srgbClr val="FF8A1F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9115" y="2442845"/>
            <a:ext cx="7999730" cy="1456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>
                <a:solidFill>
                  <a:srgbClr val="333333"/>
                </a:solidFill>
                <a:latin typeface="Gill Sans MT" panose="020B0502020104020203" charset="0"/>
                <a:cs typeface="Gill Sans MT" panose="020B0502020104020203" charset="0"/>
              </a:rPr>
              <a:t>Questions?</a:t>
            </a:r>
            <a:endParaRPr sz="4000">
              <a:solidFill>
                <a:srgbClr val="333333"/>
              </a:solidFill>
              <a:latin typeface="Gill Sans MT" panose="020B0502020104020203" charset="0"/>
              <a:cs typeface="Gill Sans MT" panose="020B05020201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3634</Words>
  <Application>WPS Presentation</Application>
  <PresentationFormat>On-screen Show (4:3)</PresentationFormat>
  <Paragraphs>168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MS PGothic</vt:lpstr>
      <vt:lpstr>Droid Sans Fallback</vt:lpstr>
      <vt:lpstr>Times New Roman</vt:lpstr>
      <vt:lpstr>Trebuchet MS</vt:lpstr>
      <vt:lpstr>Gill Sans MT</vt:lpstr>
      <vt:lpstr>FreeSans</vt:lpstr>
      <vt:lpstr>Microsoft YaHei</vt:lpstr>
      <vt:lpstr>Arial Unicode MS</vt:lpstr>
      <vt:lpstr>DejaVu Sans</vt:lpstr>
      <vt:lpstr>Gill Sans MT</vt:lpstr>
      <vt:lpstr>OpenSymbol</vt:lpstr>
      <vt:lpstr>Office</vt:lpstr>
      <vt:lpstr>Office</vt:lpstr>
      <vt:lpstr>THE 10TH NATIONAL CONFERENCE ON COMMUNICATIONS (NCC 2026)</vt:lpstr>
      <vt:lpstr>Outline</vt:lpstr>
      <vt:lpstr>Motivation and Research Gap</vt:lpstr>
      <vt:lpstr>System Architecture</vt:lpstr>
      <vt:lpstr>Hardware Prototype</vt:lpstr>
      <vt:lpstr>Study Area and Data Collection</vt:lpstr>
      <vt:lpstr>1D CNN Forecasting Model</vt:lpstr>
      <vt:lpstr>Results — Model Comparison</vt:lpstr>
      <vt:lpstr>Effect of Quantization</vt:lpstr>
      <vt:lpstr>Communication and Energy Efficiency</vt:lpstr>
      <vt:lpstr>Limitations and 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starde20</cp:lastModifiedBy>
  <cp:revision>10</cp:revision>
  <dcterms:created xsi:type="dcterms:W3CDTF">2026-09-17T08:22:56Z</dcterms:created>
  <dcterms:modified xsi:type="dcterms:W3CDTF">2026-09-17T08:22:56Z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>D36A874A227644C693ECC3ACA3566B7E_13</vt:lpwstr>
  </property>
</Properties>
</file>